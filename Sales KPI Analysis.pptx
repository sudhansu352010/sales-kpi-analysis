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drawings/drawing1.xml" ContentType="application/vnd.openxmlformats-officedocument.drawingml.chartshapes+xml"/>
  <Override PartName="/ppt/charts/chart2.xml" ContentType="application/vnd.openxmlformats-officedocument.drawingml.chart+xml"/>
  <Override PartName="/ppt/drawings/drawing2.xml" ContentType="application/vnd.openxmlformats-officedocument.drawingml.chartshapes+xml"/>
  <Override PartName="/ppt/charts/chart3.xml" ContentType="application/vnd.openxmlformats-officedocument.drawingml.chart+xml"/>
  <Override PartName="/ppt/drawings/drawing3.xml" ContentType="application/vnd.openxmlformats-officedocument.drawingml.chartshapes+xml"/>
  <Override PartName="/ppt/charts/chart4.xml" ContentType="application/vnd.openxmlformats-officedocument.drawingml.chart+xml"/>
  <Override PartName="/ppt/drawings/drawing4.xml" ContentType="application/vnd.openxmlformats-officedocument.drawingml.chartshapes+xml"/>
  <Override PartName="/ppt/charts/chart5.xml" ContentType="application/vnd.openxmlformats-officedocument.drawingml.chart+xml"/>
  <Override PartName="/ppt/drawings/drawing5.xml" ContentType="application/vnd.openxmlformats-officedocument.drawingml.chartshapes+xml"/>
  <Override PartName="/ppt/charts/chart6.xml" ContentType="application/vnd.openxmlformats-officedocument.drawingml.chart+xml"/>
  <Override PartName="/ppt/drawings/drawing6.xml" ContentType="application/vnd.openxmlformats-officedocument.drawingml.chartshapes+xml"/>
  <Override PartName="/ppt/charts/chart7.xml" ContentType="application/vnd.openxmlformats-officedocument.drawingml.chart+xml"/>
  <Override PartName="/ppt/drawings/drawing7.xml" ContentType="application/vnd.openxmlformats-officedocument.drawingml.chartshap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8"/>
  </p:notesMasterIdLst>
  <p:sldIdLst>
    <p:sldId id="256" r:id="rId2"/>
    <p:sldId id="273" r:id="rId3"/>
    <p:sldId id="278" r:id="rId4"/>
    <p:sldId id="279" r:id="rId5"/>
    <p:sldId id="280" r:id="rId6"/>
    <p:sldId id="281" r:id="rId7"/>
    <p:sldId id="282" r:id="rId8"/>
    <p:sldId id="283" r:id="rId9"/>
    <p:sldId id="284" r:id="rId10"/>
    <p:sldId id="285" r:id="rId11"/>
    <p:sldId id="292" r:id="rId12"/>
    <p:sldId id="294" r:id="rId13"/>
    <p:sldId id="293" r:id="rId14"/>
    <p:sldId id="295" r:id="rId15"/>
    <p:sldId id="296" r:id="rId16"/>
    <p:sldId id="297" r:id="rId17"/>
    <p:sldId id="298" r:id="rId18"/>
    <p:sldId id="300" r:id="rId19"/>
    <p:sldId id="299" r:id="rId20"/>
    <p:sldId id="288" r:id="rId21"/>
    <p:sldId id="289" r:id="rId22"/>
    <p:sldId id="290" r:id="rId23"/>
    <p:sldId id="291" r:id="rId24"/>
    <p:sldId id="287" r:id="rId25"/>
    <p:sldId id="286" r:id="rId26"/>
    <p:sldId id="270"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81" d="100"/>
          <a:sy n="81" d="100"/>
        </p:scale>
        <p:origin x="-288"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chartUserShapes" Target="../drawings/drawing1.xml"/><Relationship Id="rId2" Type="http://schemas.openxmlformats.org/officeDocument/2006/relationships/oleObject" Target="file:///C:\Users\dellpc\Downloads\DA%20Test%20Data.xlsx" TargetMode="External"/><Relationship Id="rId1" Type="http://schemas.openxmlformats.org/officeDocument/2006/relationships/image" Target="../media/image2.jpeg"/></Relationships>
</file>

<file path=ppt/charts/_rels/chart2.xml.rels><?xml version="1.0" encoding="UTF-8" standalone="yes"?>
<Relationships xmlns="http://schemas.openxmlformats.org/package/2006/relationships"><Relationship Id="rId3" Type="http://schemas.openxmlformats.org/officeDocument/2006/relationships/chartUserShapes" Target="../drawings/drawing2.xml"/><Relationship Id="rId2" Type="http://schemas.openxmlformats.org/officeDocument/2006/relationships/oleObject" Target="file:///C:\Users\dellpc\Downloads\DA%20Test%20Data.xlsx" TargetMode="External"/><Relationship Id="rId1" Type="http://schemas.openxmlformats.org/officeDocument/2006/relationships/image" Target="../media/image2.jpeg"/></Relationships>
</file>

<file path=ppt/charts/_rels/chart3.xml.rels><?xml version="1.0" encoding="UTF-8" standalone="yes"?>
<Relationships xmlns="http://schemas.openxmlformats.org/package/2006/relationships"><Relationship Id="rId3" Type="http://schemas.openxmlformats.org/officeDocument/2006/relationships/chartUserShapes" Target="../drawings/drawing3.xml"/><Relationship Id="rId2" Type="http://schemas.openxmlformats.org/officeDocument/2006/relationships/oleObject" Target="file:///C:\Users\dellpc\Downloads\DA%20Test%20Data.xlsx" TargetMode="External"/><Relationship Id="rId1" Type="http://schemas.openxmlformats.org/officeDocument/2006/relationships/image" Target="../media/image2.jpeg"/></Relationships>
</file>

<file path=ppt/charts/_rels/chart4.xml.rels><?xml version="1.0" encoding="UTF-8" standalone="yes"?>
<Relationships xmlns="http://schemas.openxmlformats.org/package/2006/relationships"><Relationship Id="rId3" Type="http://schemas.openxmlformats.org/officeDocument/2006/relationships/chartUserShapes" Target="../drawings/drawing4.xml"/><Relationship Id="rId2" Type="http://schemas.openxmlformats.org/officeDocument/2006/relationships/oleObject" Target="file:///C:\Users\dellpc\Downloads\DA%20Test%20Data.xlsx" TargetMode="External"/><Relationship Id="rId1" Type="http://schemas.openxmlformats.org/officeDocument/2006/relationships/image" Target="../media/image2.jpeg"/></Relationships>
</file>

<file path=ppt/charts/_rels/chart5.xml.rels><?xml version="1.0" encoding="UTF-8" standalone="yes"?>
<Relationships xmlns="http://schemas.openxmlformats.org/package/2006/relationships"><Relationship Id="rId3" Type="http://schemas.openxmlformats.org/officeDocument/2006/relationships/chartUserShapes" Target="../drawings/drawing5.xml"/><Relationship Id="rId2" Type="http://schemas.openxmlformats.org/officeDocument/2006/relationships/oleObject" Target="file:///C:\Users\dellpc\Downloads\DA%20Test%20Data.xlsx" TargetMode="External"/><Relationship Id="rId1" Type="http://schemas.openxmlformats.org/officeDocument/2006/relationships/image" Target="../media/image4.jpeg"/></Relationships>
</file>

<file path=ppt/charts/_rels/chart6.xml.rels><?xml version="1.0" encoding="UTF-8" standalone="yes"?>
<Relationships xmlns="http://schemas.openxmlformats.org/package/2006/relationships"><Relationship Id="rId3" Type="http://schemas.openxmlformats.org/officeDocument/2006/relationships/chartUserShapes" Target="../drawings/drawing6.xml"/><Relationship Id="rId2" Type="http://schemas.openxmlformats.org/officeDocument/2006/relationships/oleObject" Target="file:///C:\Users\dellpc\Downloads\DA%20Test%20Data.xlsx" TargetMode="External"/><Relationship Id="rId1" Type="http://schemas.openxmlformats.org/officeDocument/2006/relationships/image" Target="../media/image2.jpeg"/></Relationships>
</file>

<file path=ppt/charts/_rels/chart7.xml.rels><?xml version="1.0" encoding="UTF-8" standalone="yes"?>
<Relationships xmlns="http://schemas.openxmlformats.org/package/2006/relationships"><Relationship Id="rId3" Type="http://schemas.openxmlformats.org/officeDocument/2006/relationships/chartUserShapes" Target="../drawings/drawing7.xml"/><Relationship Id="rId2" Type="http://schemas.openxmlformats.org/officeDocument/2006/relationships/oleObject" Target="file:///C:\Users\dellpc\Pictures\Github\Sales%20KPI%20Dashboard\DA%20Test%20Data.xlsx" TargetMode="External"/><Relationship Id="rId1" Type="http://schemas.openxmlformats.org/officeDocument/2006/relationships/image" Target="../media/image4.jpeg"/></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[DA Test Data.xlsx]Mam item pivot!PivotTable8</c:name>
    <c:fmtId val="-1"/>
  </c:pivotSource>
  <c:chart>
    <c:title>
      <c:tx>
        <c:rich>
          <a:bodyPr/>
          <a:lstStyle/>
          <a:p>
            <a:pPr>
              <a:defRPr/>
            </a:pPr>
            <a:r>
              <a:rPr lang="en-US"/>
              <a:t>Top 10  Items that generate maximum and Minimum Revenue(Yearwise)</a:t>
            </a:r>
          </a:p>
        </c:rich>
      </c:tx>
      <c:layout>
        <c:manualLayout>
          <c:xMode val="edge"/>
          <c:yMode val="edge"/>
          <c:x val="0.11285442059468592"/>
          <c:y val="1.0556329391557177E-2"/>
        </c:manualLayout>
      </c:layout>
      <c:overlay val="0"/>
    </c:title>
    <c:autoTitleDeleted val="0"/>
    <c:pivotFmts>
      <c:pivotFmt>
        <c:idx val="0"/>
        <c:marker>
          <c:symbol val="none"/>
        </c:marker>
        <c:dLbl>
          <c:idx val="0"/>
          <c:delete val="1"/>
        </c:dLbl>
      </c:pivotFmt>
      <c:pivotFmt>
        <c:idx val="1"/>
        <c:marker>
          <c:symbol val="none"/>
        </c:marker>
        <c:dLbl>
          <c:idx val="0"/>
          <c:delete val="1"/>
        </c:dLbl>
      </c:pivotFmt>
      <c:pivotFmt>
        <c:idx val="2"/>
        <c:marker>
          <c:symbol val="none"/>
        </c:marker>
        <c:dLbl>
          <c:idx val="0"/>
          <c:delete val="1"/>
        </c:dLbl>
      </c:pivotFmt>
      <c:pivotFmt>
        <c:idx val="3"/>
        <c:marker>
          <c:symbol val="none"/>
        </c:marker>
        <c:dLbl>
          <c:idx val="0"/>
          <c:delete val="1"/>
        </c:dLbl>
      </c:pivotFmt>
      <c:pivotFmt>
        <c:idx val="4"/>
        <c:marker>
          <c:symbol val="none"/>
        </c:marker>
        <c:dLbl>
          <c:idx val="0"/>
          <c:delete val="1"/>
        </c:dLbl>
      </c:pivotFmt>
      <c:pivotFmt>
        <c:idx val="5"/>
        <c:marker>
          <c:symbol val="none"/>
        </c:marker>
        <c:dLbl>
          <c:idx val="0"/>
          <c:delete val="1"/>
        </c:dLbl>
      </c:pivotFmt>
      <c:pivotFmt>
        <c:idx val="6"/>
        <c:marker>
          <c:symbol val="none"/>
        </c:marker>
        <c:dLbl>
          <c:idx val="0"/>
          <c:delete val="1"/>
        </c:dLbl>
      </c:pivotFmt>
      <c:pivotFmt>
        <c:idx val="7"/>
        <c:marker>
          <c:symbol val="none"/>
        </c:marker>
        <c:dLbl>
          <c:idx val="0"/>
          <c:delete val="1"/>
        </c:dLbl>
      </c:pivotFmt>
      <c:pivotFmt>
        <c:idx val="8"/>
        <c:marker>
          <c:symbol val="none"/>
        </c:marker>
        <c:dLbl>
          <c:idx val="0"/>
          <c:delete val="1"/>
        </c:dLbl>
      </c:pivotFmt>
      <c:pivotFmt>
        <c:idx val="9"/>
        <c:marker>
          <c:symbol val="none"/>
        </c:marker>
        <c:dLbl>
          <c:idx val="0"/>
          <c:delete val="1"/>
        </c:dLbl>
      </c:pivotFmt>
      <c:pivotFmt>
        <c:idx val="10"/>
        <c:marker>
          <c:symbol val="none"/>
        </c:marker>
      </c:pivotFmt>
      <c:pivotFmt>
        <c:idx val="11"/>
        <c:marker>
          <c:symbol val="none"/>
        </c:marker>
      </c:pivotFmt>
      <c:pivotFmt>
        <c:idx val="12"/>
        <c:marker>
          <c:symbol val="none"/>
        </c:marker>
      </c:pivotFmt>
      <c:pivotFmt>
        <c:idx val="13"/>
        <c:marker>
          <c:symbol val="none"/>
        </c:marker>
      </c:pivotFmt>
      <c:pivotFmt>
        <c:idx val="14"/>
        <c:marker>
          <c:symbol val="none"/>
        </c:marker>
      </c:pivotFmt>
      <c:pivotFmt>
        <c:idx val="15"/>
        <c:marker>
          <c:symbol val="none"/>
        </c:marker>
      </c:pivotFmt>
      <c:pivotFmt>
        <c:idx val="16"/>
        <c:marker>
          <c:symbol val="none"/>
        </c:marker>
      </c:pivotFmt>
      <c:pivotFmt>
        <c:idx val="17"/>
        <c:marker>
          <c:symbol val="none"/>
        </c:marker>
      </c:pivotFmt>
      <c:pivotFmt>
        <c:idx val="18"/>
        <c:marker>
          <c:symbol val="none"/>
        </c:marker>
      </c:pivotFmt>
      <c:pivotFmt>
        <c:idx val="19"/>
        <c:marker>
          <c:symbol val="none"/>
        </c:marker>
      </c:pivotFmt>
      <c:pivotFmt>
        <c:idx val="20"/>
        <c:marker>
          <c:symbol val="none"/>
        </c:marker>
      </c:pivotFmt>
      <c:pivotFmt>
        <c:idx val="21"/>
        <c:marker>
          <c:symbol val="none"/>
        </c:marker>
      </c:pivotFmt>
      <c:pivotFmt>
        <c:idx val="22"/>
        <c:marker>
          <c:symbol val="none"/>
        </c:marker>
      </c:pivotFmt>
      <c:pivotFmt>
        <c:idx val="23"/>
        <c:marker>
          <c:symbol val="none"/>
        </c:marker>
      </c:pivotFmt>
      <c:pivotFmt>
        <c:idx val="24"/>
        <c:marker>
          <c:symbol val="none"/>
        </c:marker>
      </c:pivotFmt>
      <c:pivotFmt>
        <c:idx val="25"/>
        <c:marker>
          <c:symbol val="none"/>
        </c:marker>
      </c:pivotFmt>
      <c:pivotFmt>
        <c:idx val="26"/>
        <c:marker>
          <c:symbol val="none"/>
        </c:marker>
      </c:pivotFmt>
      <c:pivotFmt>
        <c:idx val="27"/>
        <c:marker>
          <c:symbol val="none"/>
        </c:marker>
      </c:pivotFmt>
      <c:pivotFmt>
        <c:idx val="28"/>
        <c:marker>
          <c:symbol val="none"/>
        </c:marker>
      </c:pivotFmt>
      <c:pivotFmt>
        <c:idx val="29"/>
        <c:marker>
          <c:symbol val="none"/>
        </c:marker>
      </c:pivotFmt>
      <c:pivotFmt>
        <c:idx val="30"/>
        <c:marker>
          <c:symbol val="none"/>
        </c:marker>
      </c:pivotFmt>
      <c:pivotFmt>
        <c:idx val="31"/>
        <c:marker>
          <c:symbol val="none"/>
        </c:marker>
      </c:pivotFmt>
      <c:pivotFmt>
        <c:idx val="32"/>
        <c:marker>
          <c:symbol val="none"/>
        </c:marker>
      </c:pivotFmt>
      <c:pivotFmt>
        <c:idx val="33"/>
        <c:marker>
          <c:symbol val="none"/>
        </c:marker>
      </c:pivotFmt>
      <c:pivotFmt>
        <c:idx val="34"/>
        <c:marker>
          <c:symbol val="none"/>
        </c:marker>
      </c:pivotFmt>
      <c:pivotFmt>
        <c:idx val="35"/>
        <c:marker>
          <c:symbol val="none"/>
        </c:marker>
      </c:pivotFmt>
      <c:pivotFmt>
        <c:idx val="36"/>
        <c:marker>
          <c:symbol val="none"/>
        </c:marker>
      </c:pivotFmt>
      <c:pivotFmt>
        <c:idx val="37"/>
        <c:marker>
          <c:symbol val="none"/>
        </c:marker>
      </c:pivotFmt>
      <c:pivotFmt>
        <c:idx val="38"/>
        <c:marker>
          <c:symbol val="none"/>
        </c:marker>
      </c:pivotFmt>
      <c:pivotFmt>
        <c:idx val="39"/>
        <c:marker>
          <c:symbol val="none"/>
        </c:marker>
      </c:pivotFmt>
      <c:pivotFmt>
        <c:idx val="40"/>
        <c:marker>
          <c:symbol val="none"/>
        </c:marker>
      </c:pivotFmt>
      <c:pivotFmt>
        <c:idx val="41"/>
        <c:marker>
          <c:symbol val="none"/>
        </c:marker>
      </c:pivotFmt>
      <c:pivotFmt>
        <c:idx val="42"/>
        <c:marker>
          <c:symbol val="none"/>
        </c:marker>
      </c:pivotFmt>
      <c:pivotFmt>
        <c:idx val="43"/>
        <c:marker>
          <c:symbol val="none"/>
        </c:marker>
      </c:pivotFmt>
      <c:pivotFmt>
        <c:idx val="44"/>
        <c:marker>
          <c:symbol val="none"/>
        </c:marker>
      </c:pivotFmt>
      <c:pivotFmt>
        <c:idx val="45"/>
        <c:marker>
          <c:symbol val="none"/>
        </c:marker>
      </c:pivotFmt>
      <c:pivotFmt>
        <c:idx val="46"/>
        <c:marker>
          <c:symbol val="none"/>
        </c:marker>
      </c:pivotFmt>
      <c:pivotFmt>
        <c:idx val="47"/>
        <c:marker>
          <c:symbol val="none"/>
        </c:marker>
      </c:pivotFmt>
      <c:pivotFmt>
        <c:idx val="48"/>
        <c:marker>
          <c:symbol val="none"/>
        </c:marker>
      </c:pivotFmt>
      <c:pivotFmt>
        <c:idx val="49"/>
        <c:marker>
          <c:symbol val="none"/>
        </c:marker>
      </c:pivotFmt>
      <c:pivotFmt>
        <c:idx val="50"/>
        <c:marker>
          <c:symbol val="none"/>
        </c:marker>
      </c:pivotFmt>
      <c:pivotFmt>
        <c:idx val="51"/>
        <c:marker>
          <c:symbol val="none"/>
        </c:marker>
      </c:pivotFmt>
      <c:pivotFmt>
        <c:idx val="52"/>
        <c:marker>
          <c:symbol val="none"/>
        </c:marker>
      </c:pivotFmt>
      <c:pivotFmt>
        <c:idx val="53"/>
        <c:marker>
          <c:symbol val="none"/>
        </c:marker>
      </c:pivotFmt>
      <c:pivotFmt>
        <c:idx val="54"/>
        <c:marker>
          <c:symbol val="none"/>
        </c:marker>
      </c:pivotFmt>
      <c:pivotFmt>
        <c:idx val="55"/>
        <c:marker>
          <c:symbol val="none"/>
        </c:marker>
      </c:pivotFmt>
      <c:pivotFmt>
        <c:idx val="56"/>
        <c:marker>
          <c:symbol val="none"/>
        </c:marker>
      </c:pivotFmt>
      <c:pivotFmt>
        <c:idx val="57"/>
        <c:marker>
          <c:symbol val="none"/>
        </c:marker>
      </c:pivotFmt>
      <c:pivotFmt>
        <c:idx val="58"/>
        <c:marker>
          <c:symbol val="none"/>
        </c:marker>
      </c:pivotFmt>
      <c:pivotFmt>
        <c:idx val="59"/>
        <c:marker>
          <c:symbol val="none"/>
        </c:marker>
      </c:pivotFmt>
      <c:pivotFmt>
        <c:idx val="60"/>
        <c:marker>
          <c:symbol val="none"/>
        </c:marker>
      </c:pivotFmt>
      <c:pivotFmt>
        <c:idx val="61"/>
        <c:marker>
          <c:symbol val="none"/>
        </c:marker>
      </c:pivotFmt>
      <c:pivotFmt>
        <c:idx val="62"/>
        <c:marker>
          <c:symbol val="none"/>
        </c:marker>
      </c:pivotFmt>
      <c:pivotFmt>
        <c:idx val="63"/>
        <c:marker>
          <c:symbol val="none"/>
        </c:marker>
      </c:pivotFmt>
      <c:pivotFmt>
        <c:idx val="64"/>
        <c:marker>
          <c:symbol val="none"/>
        </c:marker>
      </c:pivotFmt>
      <c:pivotFmt>
        <c:idx val="65"/>
        <c:marker>
          <c:symbol val="none"/>
        </c:marker>
      </c:pivotFmt>
      <c:pivotFmt>
        <c:idx val="66"/>
        <c:marker>
          <c:symbol val="none"/>
        </c:marker>
      </c:pivotFmt>
      <c:pivotFmt>
        <c:idx val="67"/>
        <c:marker>
          <c:symbol val="none"/>
        </c:marker>
      </c:pivotFmt>
      <c:pivotFmt>
        <c:idx val="68"/>
        <c:marker>
          <c:symbol val="none"/>
        </c:marker>
      </c:pivotFmt>
      <c:pivotFmt>
        <c:idx val="69"/>
        <c:marker>
          <c:symbol val="none"/>
        </c:marker>
      </c:pivotFmt>
      <c:pivotFmt>
        <c:idx val="70"/>
        <c:marker>
          <c:symbol val="none"/>
        </c:marker>
      </c:pivotFmt>
      <c:pivotFmt>
        <c:idx val="71"/>
        <c:marker>
          <c:symbol val="none"/>
        </c:marker>
      </c:pivotFmt>
      <c:pivotFmt>
        <c:idx val="72"/>
        <c:marker>
          <c:symbol val="none"/>
        </c:marker>
      </c:pivotFmt>
      <c:pivotFmt>
        <c:idx val="73"/>
        <c:marker>
          <c:symbol val="none"/>
        </c:marker>
      </c:pivotFmt>
      <c:pivotFmt>
        <c:idx val="74"/>
        <c:marker>
          <c:symbol val="none"/>
        </c:marker>
      </c:pivotFmt>
      <c:pivotFmt>
        <c:idx val="75"/>
        <c:marker>
          <c:symbol val="none"/>
        </c:marker>
      </c:pivotFmt>
      <c:pivotFmt>
        <c:idx val="76"/>
        <c:marker>
          <c:symbol val="none"/>
        </c:marker>
      </c:pivotFmt>
      <c:pivotFmt>
        <c:idx val="77"/>
        <c:marker>
          <c:symbol val="none"/>
        </c:marker>
      </c:pivotFmt>
      <c:pivotFmt>
        <c:idx val="78"/>
        <c:marker>
          <c:symbol val="none"/>
        </c:marker>
      </c:pivotFmt>
      <c:pivotFmt>
        <c:idx val="79"/>
        <c:marker>
          <c:symbol val="none"/>
        </c:marker>
      </c:pivotFmt>
      <c:pivotFmt>
        <c:idx val="80"/>
        <c:marker>
          <c:symbol val="none"/>
        </c:marker>
      </c:pivotFmt>
      <c:pivotFmt>
        <c:idx val="81"/>
        <c:marker>
          <c:symbol val="none"/>
        </c:marker>
      </c:pivotFmt>
      <c:pivotFmt>
        <c:idx val="82"/>
        <c:marker>
          <c:symbol val="none"/>
        </c:marker>
      </c:pivotFmt>
      <c:pivotFmt>
        <c:idx val="83"/>
        <c:marker>
          <c:symbol val="none"/>
        </c:marker>
      </c:pivotFmt>
    </c:pivotFmts>
    <c:plotArea>
      <c:layout>
        <c:manualLayout>
          <c:layoutTarget val="inner"/>
          <c:xMode val="edge"/>
          <c:yMode val="edge"/>
          <c:x val="0.10277053258967629"/>
          <c:y val="0.15025699912510934"/>
          <c:w val="0.55174335629921256"/>
          <c:h val="0.74682174103237098"/>
        </c:manualLayout>
      </c:layout>
      <c:barChart>
        <c:barDir val="col"/>
        <c:grouping val="clustered"/>
        <c:varyColors val="0"/>
        <c:ser>
          <c:idx val="5"/>
          <c:order val="5"/>
          <c:tx>
            <c:strRef>
              <c:f>'Mam item pivot'!$G$3:$G$5</c:f>
              <c:strCache>
                <c:ptCount val="1"/>
                <c:pt idx="0">
                  <c:v>FR House Wire - 90 mtrs - Min of OrderValue</c:v>
                </c:pt>
              </c:strCache>
            </c:strRef>
          </c:tx>
          <c:invertIfNegative val="0"/>
          <c:cat>
            <c:strRef>
              <c:f>'Mam item pivot'!$A$6:$A$10</c:f>
              <c:strCache>
                <c:ptCount val="4"/>
                <c:pt idx="0">
                  <c:v>2019</c:v>
                </c:pt>
                <c:pt idx="1">
                  <c:v>2020</c:v>
                </c:pt>
                <c:pt idx="2">
                  <c:v>2021</c:v>
                </c:pt>
                <c:pt idx="3">
                  <c:v>2022</c:v>
                </c:pt>
              </c:strCache>
            </c:strRef>
          </c:cat>
          <c:val>
            <c:numRef>
              <c:f>'Mam item pivot'!$G$6:$G$10</c:f>
              <c:numCache>
                <c:formatCode>General</c:formatCode>
                <c:ptCount val="4"/>
                <c:pt idx="0">
                  <c:v>61</c:v>
                </c:pt>
                <c:pt idx="1">
                  <c:v>68</c:v>
                </c:pt>
                <c:pt idx="2">
                  <c:v>96</c:v>
                </c:pt>
                <c:pt idx="3">
                  <c:v>95</c:v>
                </c:pt>
              </c:numCache>
            </c:numRef>
          </c:val>
        </c:ser>
        <c:ser>
          <c:idx val="0"/>
          <c:order val="0"/>
          <c:tx>
            <c:strRef>
              <c:f>'Mam item pivot'!$B$3:$B$5</c:f>
              <c:strCache>
                <c:ptCount val="1"/>
                <c:pt idx="0">
                  <c:v>Box Casing - Max of OrderValue</c:v>
                </c:pt>
              </c:strCache>
            </c:strRef>
          </c:tx>
          <c:invertIfNegative val="0"/>
          <c:cat>
            <c:strRef>
              <c:f>'Mam item pivot'!$A$6:$A$10</c:f>
              <c:strCache>
                <c:ptCount val="4"/>
                <c:pt idx="0">
                  <c:v>2019</c:v>
                </c:pt>
                <c:pt idx="1">
                  <c:v>2020</c:v>
                </c:pt>
                <c:pt idx="2">
                  <c:v>2021</c:v>
                </c:pt>
                <c:pt idx="3">
                  <c:v>2022</c:v>
                </c:pt>
              </c:strCache>
            </c:strRef>
          </c:cat>
          <c:val>
            <c:numRef>
              <c:f>'Mam item pivot'!$B$6:$B$10</c:f>
              <c:numCache>
                <c:formatCode>General</c:formatCode>
                <c:ptCount val="4"/>
                <c:pt idx="0">
                  <c:v>67447</c:v>
                </c:pt>
                <c:pt idx="1">
                  <c:v>52828</c:v>
                </c:pt>
                <c:pt idx="2">
                  <c:v>216952</c:v>
                </c:pt>
                <c:pt idx="3">
                  <c:v>259197</c:v>
                </c:pt>
              </c:numCache>
            </c:numRef>
          </c:val>
        </c:ser>
        <c:ser>
          <c:idx val="1"/>
          <c:order val="1"/>
          <c:tx>
            <c:strRef>
              <c:f>'Mam item pivot'!$C$3:$C$5</c:f>
              <c:strCache>
                <c:ptCount val="1"/>
                <c:pt idx="0">
                  <c:v>Box Casing - Min of OrderValue</c:v>
                </c:pt>
              </c:strCache>
            </c:strRef>
          </c:tx>
          <c:invertIfNegative val="0"/>
          <c:cat>
            <c:strRef>
              <c:f>'Mam item pivot'!$A$6:$A$10</c:f>
              <c:strCache>
                <c:ptCount val="4"/>
                <c:pt idx="0">
                  <c:v>2019</c:v>
                </c:pt>
                <c:pt idx="1">
                  <c:v>2020</c:v>
                </c:pt>
                <c:pt idx="2">
                  <c:v>2021</c:v>
                </c:pt>
                <c:pt idx="3">
                  <c:v>2022</c:v>
                </c:pt>
              </c:strCache>
            </c:strRef>
          </c:cat>
          <c:val>
            <c:numRef>
              <c:f>'Mam item pivot'!$C$6:$C$10</c:f>
              <c:numCache>
                <c:formatCode>General</c:formatCode>
                <c:ptCount val="4"/>
                <c:pt idx="0">
                  <c:v>462</c:v>
                </c:pt>
                <c:pt idx="1">
                  <c:v>432</c:v>
                </c:pt>
                <c:pt idx="2">
                  <c:v>604</c:v>
                </c:pt>
                <c:pt idx="3">
                  <c:v>417</c:v>
                </c:pt>
              </c:numCache>
            </c:numRef>
          </c:val>
        </c:ser>
        <c:ser>
          <c:idx val="2"/>
          <c:order val="2"/>
          <c:tx>
            <c:strRef>
              <c:f>'Mam item pivot'!$D$3:$D$5</c:f>
              <c:strCache>
                <c:ptCount val="1"/>
                <c:pt idx="0">
                  <c:v>FR House Wire - 180 mtrs - Max of OrderValue</c:v>
                </c:pt>
              </c:strCache>
            </c:strRef>
          </c:tx>
          <c:invertIfNegative val="0"/>
          <c:cat>
            <c:strRef>
              <c:f>'Mam item pivot'!$A$6:$A$10</c:f>
              <c:strCache>
                <c:ptCount val="4"/>
                <c:pt idx="0">
                  <c:v>2019</c:v>
                </c:pt>
                <c:pt idx="1">
                  <c:v>2020</c:v>
                </c:pt>
                <c:pt idx="2">
                  <c:v>2021</c:v>
                </c:pt>
                <c:pt idx="3">
                  <c:v>2022</c:v>
                </c:pt>
              </c:strCache>
            </c:strRef>
          </c:cat>
          <c:val>
            <c:numRef>
              <c:f>'Mam item pivot'!$D$6:$D$10</c:f>
              <c:numCache>
                <c:formatCode>General</c:formatCode>
                <c:ptCount val="4"/>
                <c:pt idx="0">
                  <c:v>175178</c:v>
                </c:pt>
                <c:pt idx="1">
                  <c:v>48547</c:v>
                </c:pt>
                <c:pt idx="2">
                  <c:v>30888</c:v>
                </c:pt>
                <c:pt idx="3">
                  <c:v>73970</c:v>
                </c:pt>
              </c:numCache>
            </c:numRef>
          </c:val>
        </c:ser>
        <c:ser>
          <c:idx val="3"/>
          <c:order val="3"/>
          <c:tx>
            <c:strRef>
              <c:f>'Mam item pivot'!$E$3:$E$5</c:f>
              <c:strCache>
                <c:ptCount val="1"/>
                <c:pt idx="0">
                  <c:v>FR House Wire - 180 mtrs - Min of OrderValue</c:v>
                </c:pt>
              </c:strCache>
            </c:strRef>
          </c:tx>
          <c:invertIfNegative val="0"/>
          <c:cat>
            <c:strRef>
              <c:f>'Mam item pivot'!$A$6:$A$10</c:f>
              <c:strCache>
                <c:ptCount val="4"/>
                <c:pt idx="0">
                  <c:v>2019</c:v>
                </c:pt>
                <c:pt idx="1">
                  <c:v>2020</c:v>
                </c:pt>
                <c:pt idx="2">
                  <c:v>2021</c:v>
                </c:pt>
                <c:pt idx="3">
                  <c:v>2022</c:v>
                </c:pt>
              </c:strCache>
            </c:strRef>
          </c:cat>
          <c:val>
            <c:numRef>
              <c:f>'Mam item pivot'!$E$6:$E$10</c:f>
              <c:numCache>
                <c:formatCode>General</c:formatCode>
                <c:ptCount val="4"/>
                <c:pt idx="0">
                  <c:v>142</c:v>
                </c:pt>
                <c:pt idx="1">
                  <c:v>189</c:v>
                </c:pt>
                <c:pt idx="2">
                  <c:v>225</c:v>
                </c:pt>
                <c:pt idx="3">
                  <c:v>186</c:v>
                </c:pt>
              </c:numCache>
            </c:numRef>
          </c:val>
        </c:ser>
        <c:ser>
          <c:idx val="4"/>
          <c:order val="4"/>
          <c:tx>
            <c:strRef>
              <c:f>'Mam item pivot'!$F$3:$F$5</c:f>
              <c:strCache>
                <c:ptCount val="1"/>
                <c:pt idx="0">
                  <c:v>FR House Wire - 90 mtrs - Max of OrderValue</c:v>
                </c:pt>
              </c:strCache>
            </c:strRef>
          </c:tx>
          <c:invertIfNegative val="0"/>
          <c:cat>
            <c:strRef>
              <c:f>'Mam item pivot'!$A$6:$A$10</c:f>
              <c:strCache>
                <c:ptCount val="4"/>
                <c:pt idx="0">
                  <c:v>2019</c:v>
                </c:pt>
                <c:pt idx="1">
                  <c:v>2020</c:v>
                </c:pt>
                <c:pt idx="2">
                  <c:v>2021</c:v>
                </c:pt>
                <c:pt idx="3">
                  <c:v>2022</c:v>
                </c:pt>
              </c:strCache>
            </c:strRef>
          </c:cat>
          <c:val>
            <c:numRef>
              <c:f>'Mam item pivot'!$F$6:$F$10</c:f>
              <c:numCache>
                <c:formatCode>General</c:formatCode>
                <c:ptCount val="4"/>
                <c:pt idx="0">
                  <c:v>142949</c:v>
                </c:pt>
                <c:pt idx="1">
                  <c:v>127493</c:v>
                </c:pt>
                <c:pt idx="2">
                  <c:v>179094</c:v>
                </c:pt>
                <c:pt idx="3">
                  <c:v>201468</c:v>
                </c:pt>
              </c:numCache>
            </c:numRef>
          </c:val>
        </c:ser>
        <c:ser>
          <c:idx val="6"/>
          <c:order val="6"/>
          <c:tx>
            <c:strRef>
              <c:f>'Mam item pivot'!$H$3:$H$5</c:f>
              <c:strCache>
                <c:ptCount val="1"/>
                <c:pt idx="0">
                  <c:v>FRLSH House Wire - Max of OrderValue</c:v>
                </c:pt>
              </c:strCache>
            </c:strRef>
          </c:tx>
          <c:invertIfNegative val="0"/>
          <c:cat>
            <c:strRef>
              <c:f>'Mam item pivot'!$A$6:$A$10</c:f>
              <c:strCache>
                <c:ptCount val="4"/>
                <c:pt idx="0">
                  <c:v>2019</c:v>
                </c:pt>
                <c:pt idx="1">
                  <c:v>2020</c:v>
                </c:pt>
                <c:pt idx="2">
                  <c:v>2021</c:v>
                </c:pt>
                <c:pt idx="3">
                  <c:v>2022</c:v>
                </c:pt>
              </c:strCache>
            </c:strRef>
          </c:cat>
          <c:val>
            <c:numRef>
              <c:f>'Mam item pivot'!$H$6:$H$10</c:f>
              <c:numCache>
                <c:formatCode>General</c:formatCode>
                <c:ptCount val="4"/>
                <c:pt idx="0">
                  <c:v>12929</c:v>
                </c:pt>
                <c:pt idx="1">
                  <c:v>281622</c:v>
                </c:pt>
                <c:pt idx="2">
                  <c:v>196046</c:v>
                </c:pt>
                <c:pt idx="3">
                  <c:v>12512</c:v>
                </c:pt>
              </c:numCache>
            </c:numRef>
          </c:val>
        </c:ser>
        <c:ser>
          <c:idx val="7"/>
          <c:order val="7"/>
          <c:tx>
            <c:strRef>
              <c:f>'Mam item pivot'!$I$3:$I$5</c:f>
              <c:strCache>
                <c:ptCount val="1"/>
                <c:pt idx="0">
                  <c:v>FRLSH House Wire - Min of OrderValue</c:v>
                </c:pt>
              </c:strCache>
            </c:strRef>
          </c:tx>
          <c:invertIfNegative val="0"/>
          <c:cat>
            <c:strRef>
              <c:f>'Mam item pivot'!$A$6:$A$10</c:f>
              <c:strCache>
                <c:ptCount val="4"/>
                <c:pt idx="0">
                  <c:v>2019</c:v>
                </c:pt>
                <c:pt idx="1">
                  <c:v>2020</c:v>
                </c:pt>
                <c:pt idx="2">
                  <c:v>2021</c:v>
                </c:pt>
                <c:pt idx="3">
                  <c:v>2022</c:v>
                </c:pt>
              </c:strCache>
            </c:strRef>
          </c:cat>
          <c:val>
            <c:numRef>
              <c:f>'Mam item pivot'!$I$6:$I$10</c:f>
              <c:numCache>
                <c:formatCode>General</c:formatCode>
                <c:ptCount val="4"/>
                <c:pt idx="0">
                  <c:v>249</c:v>
                </c:pt>
                <c:pt idx="1">
                  <c:v>579</c:v>
                </c:pt>
                <c:pt idx="2">
                  <c:v>316</c:v>
                </c:pt>
                <c:pt idx="3">
                  <c:v>3671</c:v>
                </c:pt>
              </c:numCache>
            </c:numRef>
          </c:val>
        </c:ser>
        <c:ser>
          <c:idx val="8"/>
          <c:order val="8"/>
          <c:tx>
            <c:strRef>
              <c:f>'Mam item pivot'!$J$3:$J$5</c:f>
              <c:strCache>
                <c:ptCount val="1"/>
                <c:pt idx="0">
                  <c:v>Galaxy Casing - Max of OrderValue</c:v>
                </c:pt>
              </c:strCache>
            </c:strRef>
          </c:tx>
          <c:invertIfNegative val="0"/>
          <c:cat>
            <c:strRef>
              <c:f>'Mam item pivot'!$A$6:$A$10</c:f>
              <c:strCache>
                <c:ptCount val="4"/>
                <c:pt idx="0">
                  <c:v>2019</c:v>
                </c:pt>
                <c:pt idx="1">
                  <c:v>2020</c:v>
                </c:pt>
                <c:pt idx="2">
                  <c:v>2021</c:v>
                </c:pt>
                <c:pt idx="3">
                  <c:v>2022</c:v>
                </c:pt>
              </c:strCache>
            </c:strRef>
          </c:cat>
          <c:val>
            <c:numRef>
              <c:f>'Mam item pivot'!$J$6:$J$10</c:f>
              <c:numCache>
                <c:formatCode>General</c:formatCode>
                <c:ptCount val="4"/>
                <c:pt idx="0">
                  <c:v>122401</c:v>
                </c:pt>
                <c:pt idx="1">
                  <c:v>118746</c:v>
                </c:pt>
                <c:pt idx="2">
                  <c:v>121172</c:v>
                </c:pt>
                <c:pt idx="3">
                  <c:v>251835</c:v>
                </c:pt>
              </c:numCache>
            </c:numRef>
          </c:val>
        </c:ser>
        <c:ser>
          <c:idx val="9"/>
          <c:order val="9"/>
          <c:tx>
            <c:strRef>
              <c:f>'Mam item pivot'!$K$3:$K$5</c:f>
              <c:strCache>
                <c:ptCount val="1"/>
                <c:pt idx="0">
                  <c:v>Galaxy Casing - Min of OrderValue</c:v>
                </c:pt>
              </c:strCache>
            </c:strRef>
          </c:tx>
          <c:invertIfNegative val="0"/>
          <c:cat>
            <c:strRef>
              <c:f>'Mam item pivot'!$A$6:$A$10</c:f>
              <c:strCache>
                <c:ptCount val="4"/>
                <c:pt idx="0">
                  <c:v>2019</c:v>
                </c:pt>
                <c:pt idx="1">
                  <c:v>2020</c:v>
                </c:pt>
                <c:pt idx="2">
                  <c:v>2021</c:v>
                </c:pt>
                <c:pt idx="3">
                  <c:v>2022</c:v>
                </c:pt>
              </c:strCache>
            </c:strRef>
          </c:cat>
          <c:val>
            <c:numRef>
              <c:f>'Mam item pivot'!$K$6:$K$10</c:f>
              <c:numCache>
                <c:formatCode>General</c:formatCode>
                <c:ptCount val="4"/>
                <c:pt idx="0">
                  <c:v>34</c:v>
                </c:pt>
                <c:pt idx="1">
                  <c:v>263</c:v>
                </c:pt>
                <c:pt idx="2">
                  <c:v>116</c:v>
                </c:pt>
                <c:pt idx="3">
                  <c:v>219</c:v>
                </c:pt>
              </c:numCache>
            </c:numRef>
          </c:val>
        </c:ser>
        <c:ser>
          <c:idx val="10"/>
          <c:order val="10"/>
          <c:tx>
            <c:strRef>
              <c:f>'Mam item pivot'!$L$3:$L$5</c:f>
              <c:strCache>
                <c:ptCount val="1"/>
                <c:pt idx="0">
                  <c:v>HMS Pipe - Max of OrderValue</c:v>
                </c:pt>
              </c:strCache>
            </c:strRef>
          </c:tx>
          <c:invertIfNegative val="0"/>
          <c:cat>
            <c:strRef>
              <c:f>'Mam item pivot'!$A$6:$A$10</c:f>
              <c:strCache>
                <c:ptCount val="4"/>
                <c:pt idx="0">
                  <c:v>2019</c:v>
                </c:pt>
                <c:pt idx="1">
                  <c:v>2020</c:v>
                </c:pt>
                <c:pt idx="2">
                  <c:v>2021</c:v>
                </c:pt>
                <c:pt idx="3">
                  <c:v>2022</c:v>
                </c:pt>
              </c:strCache>
            </c:strRef>
          </c:cat>
          <c:val>
            <c:numRef>
              <c:f>'Mam item pivot'!$L$6:$L$10</c:f>
              <c:numCache>
                <c:formatCode>General</c:formatCode>
                <c:ptCount val="4"/>
                <c:pt idx="0">
                  <c:v>97200</c:v>
                </c:pt>
                <c:pt idx="1">
                  <c:v>110315</c:v>
                </c:pt>
                <c:pt idx="2">
                  <c:v>288358</c:v>
                </c:pt>
                <c:pt idx="3">
                  <c:v>362242</c:v>
                </c:pt>
              </c:numCache>
            </c:numRef>
          </c:val>
        </c:ser>
        <c:ser>
          <c:idx val="11"/>
          <c:order val="11"/>
          <c:tx>
            <c:strRef>
              <c:f>'Mam item pivot'!$M$3:$M$5</c:f>
              <c:strCache>
                <c:ptCount val="1"/>
                <c:pt idx="0">
                  <c:v>HMS Pipe - Min of OrderValue</c:v>
                </c:pt>
              </c:strCache>
            </c:strRef>
          </c:tx>
          <c:invertIfNegative val="0"/>
          <c:cat>
            <c:strRef>
              <c:f>'Mam item pivot'!$A$6:$A$10</c:f>
              <c:strCache>
                <c:ptCount val="4"/>
                <c:pt idx="0">
                  <c:v>2019</c:v>
                </c:pt>
                <c:pt idx="1">
                  <c:v>2020</c:v>
                </c:pt>
                <c:pt idx="2">
                  <c:v>2021</c:v>
                </c:pt>
                <c:pt idx="3">
                  <c:v>2022</c:v>
                </c:pt>
              </c:strCache>
            </c:strRef>
          </c:cat>
          <c:val>
            <c:numRef>
              <c:f>'Mam item pivot'!$M$6:$M$10</c:f>
              <c:numCache>
                <c:formatCode>General</c:formatCode>
                <c:ptCount val="4"/>
                <c:pt idx="0">
                  <c:v>215</c:v>
                </c:pt>
                <c:pt idx="1">
                  <c:v>46</c:v>
                </c:pt>
                <c:pt idx="2">
                  <c:v>58</c:v>
                </c:pt>
                <c:pt idx="3">
                  <c:v>263</c:v>
                </c:pt>
              </c:numCache>
            </c:numRef>
          </c:val>
        </c:ser>
        <c:ser>
          <c:idx val="12"/>
          <c:order val="12"/>
          <c:tx>
            <c:strRef>
              <c:f>'Mam item pivot'!$N$3:$N$5</c:f>
              <c:strCache>
                <c:ptCount val="1"/>
                <c:pt idx="0">
                  <c:v>LX Plates - Max of OrderValue</c:v>
                </c:pt>
              </c:strCache>
            </c:strRef>
          </c:tx>
          <c:invertIfNegative val="0"/>
          <c:cat>
            <c:strRef>
              <c:f>'Mam item pivot'!$A$6:$A$10</c:f>
              <c:strCache>
                <c:ptCount val="4"/>
                <c:pt idx="0">
                  <c:v>2019</c:v>
                </c:pt>
                <c:pt idx="1">
                  <c:v>2020</c:v>
                </c:pt>
                <c:pt idx="2">
                  <c:v>2021</c:v>
                </c:pt>
                <c:pt idx="3">
                  <c:v>2022</c:v>
                </c:pt>
              </c:strCache>
            </c:strRef>
          </c:cat>
          <c:val>
            <c:numRef>
              <c:f>'Mam item pivot'!$N$6:$N$10</c:f>
              <c:numCache>
                <c:formatCode>General</c:formatCode>
                <c:ptCount val="4"/>
                <c:pt idx="0">
                  <c:v>40890</c:v>
                </c:pt>
                <c:pt idx="1">
                  <c:v>87478</c:v>
                </c:pt>
                <c:pt idx="2">
                  <c:v>181157</c:v>
                </c:pt>
                <c:pt idx="3">
                  <c:v>176355</c:v>
                </c:pt>
              </c:numCache>
            </c:numRef>
          </c:val>
        </c:ser>
        <c:ser>
          <c:idx val="13"/>
          <c:order val="13"/>
          <c:tx>
            <c:strRef>
              <c:f>'Mam item pivot'!$O$3:$O$5</c:f>
              <c:strCache>
                <c:ptCount val="1"/>
                <c:pt idx="0">
                  <c:v>LX Plates - Min of OrderValue</c:v>
                </c:pt>
              </c:strCache>
            </c:strRef>
          </c:tx>
          <c:invertIfNegative val="0"/>
          <c:cat>
            <c:strRef>
              <c:f>'Mam item pivot'!$A$6:$A$10</c:f>
              <c:strCache>
                <c:ptCount val="4"/>
                <c:pt idx="0">
                  <c:v>2019</c:v>
                </c:pt>
                <c:pt idx="1">
                  <c:v>2020</c:v>
                </c:pt>
                <c:pt idx="2">
                  <c:v>2021</c:v>
                </c:pt>
                <c:pt idx="3">
                  <c:v>2022</c:v>
                </c:pt>
              </c:strCache>
            </c:strRef>
          </c:cat>
          <c:val>
            <c:numRef>
              <c:f>'Mam item pivot'!$O$6:$O$10</c:f>
              <c:numCache>
                <c:formatCode>General</c:formatCode>
                <c:ptCount val="4"/>
                <c:pt idx="0">
                  <c:v>15</c:v>
                </c:pt>
                <c:pt idx="1">
                  <c:v>29</c:v>
                </c:pt>
                <c:pt idx="2">
                  <c:v>7</c:v>
                </c:pt>
                <c:pt idx="3">
                  <c:v>13</c:v>
                </c:pt>
              </c:numCache>
            </c:numRef>
          </c:val>
        </c:ser>
        <c:ser>
          <c:idx val="14"/>
          <c:order val="14"/>
          <c:tx>
            <c:strRef>
              <c:f>'Mam item pivot'!$P$3:$P$5</c:f>
              <c:strCache>
                <c:ptCount val="1"/>
                <c:pt idx="0">
                  <c:v>MMS Pipe - Max of OrderValue</c:v>
                </c:pt>
              </c:strCache>
            </c:strRef>
          </c:tx>
          <c:invertIfNegative val="0"/>
          <c:cat>
            <c:strRef>
              <c:f>'Mam item pivot'!$A$6:$A$10</c:f>
              <c:strCache>
                <c:ptCount val="4"/>
                <c:pt idx="0">
                  <c:v>2019</c:v>
                </c:pt>
                <c:pt idx="1">
                  <c:v>2020</c:v>
                </c:pt>
                <c:pt idx="2">
                  <c:v>2021</c:v>
                </c:pt>
                <c:pt idx="3">
                  <c:v>2022</c:v>
                </c:pt>
              </c:strCache>
            </c:strRef>
          </c:cat>
          <c:val>
            <c:numRef>
              <c:f>'Mam item pivot'!$P$6:$P$10</c:f>
              <c:numCache>
                <c:formatCode>General</c:formatCode>
                <c:ptCount val="4"/>
                <c:pt idx="0">
                  <c:v>85098</c:v>
                </c:pt>
                <c:pt idx="1">
                  <c:v>121098</c:v>
                </c:pt>
                <c:pt idx="2">
                  <c:v>230128</c:v>
                </c:pt>
                <c:pt idx="3">
                  <c:v>172141</c:v>
                </c:pt>
              </c:numCache>
            </c:numRef>
          </c:val>
        </c:ser>
        <c:ser>
          <c:idx val="15"/>
          <c:order val="15"/>
          <c:tx>
            <c:strRef>
              <c:f>'Mam item pivot'!$Q$3:$Q$5</c:f>
              <c:strCache>
                <c:ptCount val="1"/>
                <c:pt idx="0">
                  <c:v>MMS Pipe - Min of OrderValue</c:v>
                </c:pt>
              </c:strCache>
            </c:strRef>
          </c:tx>
          <c:invertIfNegative val="0"/>
          <c:cat>
            <c:strRef>
              <c:f>'Mam item pivot'!$A$6:$A$10</c:f>
              <c:strCache>
                <c:ptCount val="4"/>
                <c:pt idx="0">
                  <c:v>2019</c:v>
                </c:pt>
                <c:pt idx="1">
                  <c:v>2020</c:v>
                </c:pt>
                <c:pt idx="2">
                  <c:v>2021</c:v>
                </c:pt>
                <c:pt idx="3">
                  <c:v>2022</c:v>
                </c:pt>
              </c:strCache>
            </c:strRef>
          </c:cat>
          <c:val>
            <c:numRef>
              <c:f>'Mam item pivot'!$Q$6:$Q$10</c:f>
              <c:numCache>
                <c:formatCode>General</c:formatCode>
                <c:ptCount val="4"/>
                <c:pt idx="0">
                  <c:v>29</c:v>
                </c:pt>
                <c:pt idx="1">
                  <c:v>51</c:v>
                </c:pt>
                <c:pt idx="2">
                  <c:v>46</c:v>
                </c:pt>
                <c:pt idx="3">
                  <c:v>48</c:v>
                </c:pt>
              </c:numCache>
            </c:numRef>
          </c:val>
        </c:ser>
        <c:ser>
          <c:idx val="16"/>
          <c:order val="16"/>
          <c:tx>
            <c:strRef>
              <c:f>'Mam item pivot'!$R$3:$R$5</c:f>
              <c:strCache>
                <c:ptCount val="1"/>
                <c:pt idx="0">
                  <c:v>One Modular Switches - Max of OrderValue</c:v>
                </c:pt>
              </c:strCache>
            </c:strRef>
          </c:tx>
          <c:invertIfNegative val="0"/>
          <c:cat>
            <c:strRef>
              <c:f>'Mam item pivot'!$A$6:$A$10</c:f>
              <c:strCache>
                <c:ptCount val="4"/>
                <c:pt idx="0">
                  <c:v>2019</c:v>
                </c:pt>
                <c:pt idx="1">
                  <c:v>2020</c:v>
                </c:pt>
                <c:pt idx="2">
                  <c:v>2021</c:v>
                </c:pt>
                <c:pt idx="3">
                  <c:v>2022</c:v>
                </c:pt>
              </c:strCache>
            </c:strRef>
          </c:cat>
          <c:val>
            <c:numRef>
              <c:f>'Mam item pivot'!$R$6:$R$10</c:f>
              <c:numCache>
                <c:formatCode>General</c:formatCode>
                <c:ptCount val="4"/>
                <c:pt idx="0">
                  <c:v>469399</c:v>
                </c:pt>
                <c:pt idx="1">
                  <c:v>213555</c:v>
                </c:pt>
                <c:pt idx="2">
                  <c:v>93117</c:v>
                </c:pt>
                <c:pt idx="3">
                  <c:v>152397</c:v>
                </c:pt>
              </c:numCache>
            </c:numRef>
          </c:val>
        </c:ser>
        <c:ser>
          <c:idx val="17"/>
          <c:order val="17"/>
          <c:tx>
            <c:strRef>
              <c:f>'Mam item pivot'!$S$3:$S$5</c:f>
              <c:strCache>
                <c:ptCount val="1"/>
                <c:pt idx="0">
                  <c:v>One Modular Switches - Min of OrderValue</c:v>
                </c:pt>
              </c:strCache>
            </c:strRef>
          </c:tx>
          <c:invertIfNegative val="0"/>
          <c:cat>
            <c:strRef>
              <c:f>'Mam item pivot'!$A$6:$A$10</c:f>
              <c:strCache>
                <c:ptCount val="4"/>
                <c:pt idx="0">
                  <c:v>2019</c:v>
                </c:pt>
                <c:pt idx="1">
                  <c:v>2020</c:v>
                </c:pt>
                <c:pt idx="2">
                  <c:v>2021</c:v>
                </c:pt>
                <c:pt idx="3">
                  <c:v>2022</c:v>
                </c:pt>
              </c:strCache>
            </c:strRef>
          </c:cat>
          <c:val>
            <c:numRef>
              <c:f>'Mam item pivot'!$S$6:$S$10</c:f>
              <c:numCache>
                <c:formatCode>General</c:formatCode>
                <c:ptCount val="4"/>
                <c:pt idx="0">
                  <c:v>3</c:v>
                </c:pt>
                <c:pt idx="1">
                  <c:v>13</c:v>
                </c:pt>
                <c:pt idx="2">
                  <c:v>18</c:v>
                </c:pt>
                <c:pt idx="3">
                  <c:v>1</c:v>
                </c:pt>
              </c:numCache>
            </c:numRef>
          </c:val>
        </c:ser>
        <c:ser>
          <c:idx val="18"/>
          <c:order val="18"/>
          <c:tx>
            <c:strRef>
              <c:f>'Mam item pivot'!$T$3:$T$5</c:f>
              <c:strCache>
                <c:ptCount val="1"/>
                <c:pt idx="0">
                  <c:v>Tejas Gang Box - Max of OrderValue</c:v>
                </c:pt>
              </c:strCache>
            </c:strRef>
          </c:tx>
          <c:invertIfNegative val="0"/>
          <c:cat>
            <c:strRef>
              <c:f>'Mam item pivot'!$A$6:$A$10</c:f>
              <c:strCache>
                <c:ptCount val="4"/>
                <c:pt idx="0">
                  <c:v>2019</c:v>
                </c:pt>
                <c:pt idx="1">
                  <c:v>2020</c:v>
                </c:pt>
                <c:pt idx="2">
                  <c:v>2021</c:v>
                </c:pt>
                <c:pt idx="3">
                  <c:v>2022</c:v>
                </c:pt>
              </c:strCache>
            </c:strRef>
          </c:cat>
          <c:val>
            <c:numRef>
              <c:f>'Mam item pivot'!$T$6:$T$10</c:f>
              <c:numCache>
                <c:formatCode>General</c:formatCode>
                <c:ptCount val="4"/>
                <c:pt idx="0">
                  <c:v>71834</c:v>
                </c:pt>
                <c:pt idx="1">
                  <c:v>98895</c:v>
                </c:pt>
                <c:pt idx="2">
                  <c:v>109061</c:v>
                </c:pt>
                <c:pt idx="3">
                  <c:v>159167</c:v>
                </c:pt>
              </c:numCache>
            </c:numRef>
          </c:val>
        </c:ser>
        <c:ser>
          <c:idx val="19"/>
          <c:order val="19"/>
          <c:tx>
            <c:strRef>
              <c:f>'Mam item pivot'!$U$3:$U$5</c:f>
              <c:strCache>
                <c:ptCount val="1"/>
                <c:pt idx="0">
                  <c:v>Tejas Gang Box - Min of OrderValue</c:v>
                </c:pt>
              </c:strCache>
            </c:strRef>
          </c:tx>
          <c:invertIfNegative val="0"/>
          <c:cat>
            <c:strRef>
              <c:f>'Mam item pivot'!$A$6:$A$10</c:f>
              <c:strCache>
                <c:ptCount val="4"/>
                <c:pt idx="0">
                  <c:v>2019</c:v>
                </c:pt>
                <c:pt idx="1">
                  <c:v>2020</c:v>
                </c:pt>
                <c:pt idx="2">
                  <c:v>2021</c:v>
                </c:pt>
                <c:pt idx="3">
                  <c:v>2022</c:v>
                </c:pt>
              </c:strCache>
            </c:strRef>
          </c:cat>
          <c:val>
            <c:numRef>
              <c:f>'Mam item pivot'!$U$6:$U$10</c:f>
              <c:numCache>
                <c:formatCode>General</c:formatCode>
                <c:ptCount val="4"/>
                <c:pt idx="0">
                  <c:v>4</c:v>
                </c:pt>
                <c:pt idx="1">
                  <c:v>4</c:v>
                </c:pt>
                <c:pt idx="2">
                  <c:v>7</c:v>
                </c:pt>
                <c:pt idx="3">
                  <c:v>5</c:v>
                </c:pt>
              </c:numCache>
            </c:numRef>
          </c:val>
        </c:ser>
        <c:dLbls>
          <c:showLegendKey val="0"/>
          <c:showVal val="0"/>
          <c:showCatName val="0"/>
          <c:showSerName val="0"/>
          <c:showPercent val="0"/>
          <c:showBubbleSize val="0"/>
        </c:dLbls>
        <c:gapWidth val="150"/>
        <c:axId val="69637632"/>
        <c:axId val="115708992"/>
      </c:barChart>
      <c:catAx>
        <c:axId val="69637632"/>
        <c:scaling>
          <c:orientation val="minMax"/>
        </c:scaling>
        <c:delete val="0"/>
        <c:axPos val="b"/>
        <c:majorTickMark val="out"/>
        <c:minorTickMark val="none"/>
        <c:tickLblPos val="nextTo"/>
        <c:crossAx val="115708992"/>
        <c:crosses val="autoZero"/>
        <c:auto val="1"/>
        <c:lblAlgn val="ctr"/>
        <c:lblOffset val="100"/>
        <c:noMultiLvlLbl val="0"/>
      </c:catAx>
      <c:valAx>
        <c:axId val="115708992"/>
        <c:scaling>
          <c:orientation val="minMax"/>
        </c:scaling>
        <c:delete val="0"/>
        <c:axPos val="l"/>
        <c:numFmt formatCode="General" sourceLinked="1"/>
        <c:majorTickMark val="out"/>
        <c:minorTickMark val="none"/>
        <c:tickLblPos val="nextTo"/>
        <c:crossAx val="69637632"/>
        <c:crosses val="autoZero"/>
        <c:crossBetween val="between"/>
      </c:valAx>
    </c:plotArea>
    <c:legend>
      <c:legendPos val="r"/>
      <c:layout/>
      <c:overlay val="0"/>
    </c:legend>
    <c:plotVisOnly val="1"/>
    <c:dispBlanksAs val="gap"/>
    <c:showDLblsOverMax val="0"/>
  </c:chart>
  <c:spPr>
    <a:blipFill>
      <a:blip xmlns:r="http://schemas.openxmlformats.org/officeDocument/2006/relationships" r:embed="rId1"/>
      <a:tile tx="0" ty="0" sx="100000" sy="100000" flip="none" algn="tl"/>
    </a:blipFill>
  </c:spPr>
  <c:txPr>
    <a:bodyPr/>
    <a:lstStyle/>
    <a:p>
      <a:pPr>
        <a:defRPr>
          <a:solidFill>
            <a:schemeClr val="bg1"/>
          </a:solidFill>
        </a:defRPr>
      </a:pPr>
      <a:endParaRPr lang="en-US"/>
    </a:p>
  </c:txPr>
  <c:externalData r:id="rId2">
    <c:autoUpdate val="0"/>
  </c:externalData>
  <c:userShapes r:id="rId3"/>
  <c:extLst>
    <c:ext xmlns:c14="http://schemas.microsoft.com/office/drawing/2007/8/2/chart" uri="{781A3756-C4B2-4CAC-9D66-4F8BD8637D16}">
      <c14:pivotOptions>
        <c14:dropZoneFilter val="1"/>
        <c14:dropZoneCategories val="1"/>
        <c14:dropZoneData val="1"/>
        <c14:dropZoneSeries val="1"/>
      </c14:pivotOptions>
    </c:ext>
  </c:extLst>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[DA Test Data.xlsx]Revenue pivot!PivotTable1</c:name>
    <c:fmtId val="-1"/>
  </c:pivotSource>
  <c:chart>
    <c:title>
      <c:tx>
        <c:rich>
          <a:bodyPr/>
          <a:lstStyle/>
          <a:p>
            <a:pPr>
              <a:defRPr/>
            </a:pPr>
            <a:r>
              <a:rPr lang="en-US"/>
              <a:t>Revenue Generated in Last  4 Years</a:t>
            </a:r>
          </a:p>
        </c:rich>
      </c:tx>
      <c:layout>
        <c:manualLayout>
          <c:xMode val="edge"/>
          <c:yMode val="edge"/>
          <c:x val="0.24574969971973842"/>
          <c:y val="3.110274818588853E-2"/>
        </c:manualLayout>
      </c:layout>
      <c:overlay val="0"/>
    </c:title>
    <c:autoTitleDeleted val="0"/>
    <c:pivotFmts>
      <c:pivotFmt>
        <c:idx val="0"/>
        <c:marker>
          <c:symbol val="none"/>
        </c:marker>
      </c:pivotFmt>
      <c:pivotFmt>
        <c:idx val="1"/>
        <c:marker>
          <c:symbol val="none"/>
        </c:marker>
      </c:pivotFmt>
      <c:pivotFmt>
        <c:idx val="2"/>
        <c:marker>
          <c:symbol val="none"/>
        </c:marker>
      </c:pivotFmt>
      <c:pivotFmt>
        <c:idx val="3"/>
        <c:marker>
          <c:symbol val="none"/>
        </c:marker>
      </c:pivotFmt>
      <c:pivotFmt>
        <c:idx val="4"/>
        <c:marker>
          <c:symbol val="none"/>
        </c:marker>
      </c:pivotFmt>
    </c:pivotFmts>
    <c:plotArea>
      <c:layout>
        <c:manualLayout>
          <c:layoutTarget val="inner"/>
          <c:xMode val="edge"/>
          <c:yMode val="edge"/>
          <c:x val="0.10085568753058412"/>
          <c:y val="5.5017258116708018E-2"/>
          <c:w val="0.89914431246941595"/>
          <c:h val="0.84440819041455439"/>
        </c:manualLayout>
      </c:layout>
      <c:barChart>
        <c:barDir val="col"/>
        <c:grouping val="clustered"/>
        <c:varyColors val="0"/>
        <c:ser>
          <c:idx val="0"/>
          <c:order val="0"/>
          <c:tx>
            <c:strRef>
              <c:f>'Revenue pivot'!$B$3</c:f>
              <c:strCache>
                <c:ptCount val="1"/>
                <c:pt idx="0">
                  <c:v>Total</c:v>
                </c:pt>
              </c:strCache>
            </c:strRef>
          </c:tx>
          <c:invertIfNegative val="0"/>
          <c:trendline>
            <c:spPr>
              <a:ln>
                <a:solidFill>
                  <a:schemeClr val="tx1"/>
                </a:solidFill>
              </a:ln>
            </c:spPr>
            <c:trendlineType val="exp"/>
            <c:dispRSqr val="0"/>
            <c:dispEq val="0"/>
          </c:trendline>
          <c:cat>
            <c:strRef>
              <c:f>'Revenue pivot'!$A$4:$A$8</c:f>
              <c:strCache>
                <c:ptCount val="4"/>
                <c:pt idx="0">
                  <c:v>2019</c:v>
                </c:pt>
                <c:pt idx="1">
                  <c:v>2020</c:v>
                </c:pt>
                <c:pt idx="2">
                  <c:v>2021</c:v>
                </c:pt>
                <c:pt idx="3">
                  <c:v>2022</c:v>
                </c:pt>
              </c:strCache>
            </c:strRef>
          </c:cat>
          <c:val>
            <c:numRef>
              <c:f>'Revenue pivot'!$B$4:$B$8</c:f>
              <c:numCache>
                <c:formatCode>General</c:formatCode>
                <c:ptCount val="4"/>
                <c:pt idx="0">
                  <c:v>121683482</c:v>
                </c:pt>
                <c:pt idx="1">
                  <c:v>164896672</c:v>
                </c:pt>
                <c:pt idx="2">
                  <c:v>230274704</c:v>
                </c:pt>
                <c:pt idx="3">
                  <c:v>248587099</c:v>
                </c:pt>
              </c:numCache>
            </c:numRef>
          </c:val>
        </c:ser>
        <c:dLbls>
          <c:showLegendKey val="0"/>
          <c:showVal val="0"/>
          <c:showCatName val="0"/>
          <c:showSerName val="0"/>
          <c:showPercent val="0"/>
          <c:showBubbleSize val="0"/>
        </c:dLbls>
        <c:gapWidth val="150"/>
        <c:axId val="118778880"/>
        <c:axId val="116006912"/>
      </c:barChart>
      <c:catAx>
        <c:axId val="118778880"/>
        <c:scaling>
          <c:orientation val="minMax"/>
        </c:scaling>
        <c:delete val="0"/>
        <c:axPos val="b"/>
        <c:majorTickMark val="out"/>
        <c:minorTickMark val="none"/>
        <c:tickLblPos val="nextTo"/>
        <c:crossAx val="116006912"/>
        <c:crosses val="autoZero"/>
        <c:auto val="1"/>
        <c:lblAlgn val="ctr"/>
        <c:lblOffset val="100"/>
        <c:noMultiLvlLbl val="0"/>
      </c:catAx>
      <c:valAx>
        <c:axId val="116006912"/>
        <c:scaling>
          <c:orientation val="minMax"/>
        </c:scaling>
        <c:delete val="0"/>
        <c:axPos val="l"/>
        <c:numFmt formatCode="General" sourceLinked="1"/>
        <c:majorTickMark val="out"/>
        <c:minorTickMark val="none"/>
        <c:tickLblPos val="nextTo"/>
        <c:crossAx val="118778880"/>
        <c:crosses val="autoZero"/>
        <c:crossBetween val="between"/>
      </c:valAx>
      <c:spPr>
        <a:noFill/>
      </c:spPr>
    </c:plotArea>
    <c:plotVisOnly val="1"/>
    <c:dispBlanksAs val="zero"/>
    <c:showDLblsOverMax val="0"/>
  </c:chart>
  <c:spPr>
    <a:blipFill>
      <a:blip xmlns:r="http://schemas.openxmlformats.org/officeDocument/2006/relationships" r:embed="rId1"/>
      <a:tile tx="0" ty="0" sx="100000" sy="100000" flip="none" algn="tl"/>
    </a:blipFill>
  </c:spPr>
  <c:txPr>
    <a:bodyPr/>
    <a:lstStyle/>
    <a:p>
      <a:pPr>
        <a:defRPr>
          <a:solidFill>
            <a:schemeClr val="bg1"/>
          </a:solidFill>
        </a:defRPr>
      </a:pPr>
      <a:endParaRPr lang="en-US"/>
    </a:p>
  </c:txPr>
  <c:externalData r:id="rId2">
    <c:autoUpdate val="0"/>
  </c:externalData>
  <c:userShapes r:id="rId3"/>
  <c:extLst>
    <c:ext xmlns:c14="http://schemas.microsoft.com/office/drawing/2007/8/2/chart" uri="{781A3756-C4B2-4CAC-9D66-4F8BD8637D16}">
      <c14:pivotOptions>
        <c14:dropZoneFilter val="1"/>
        <c14:dropZoneCategories val="1"/>
        <c14:dropZoneData val="1"/>
      </c14:pivotOptions>
    </c:ext>
  </c:extLst>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[DA Test Data.xlsx]YearWise pivot!PivotTable12</c:name>
    <c:fmtId val="-1"/>
  </c:pivotSource>
  <c:chart>
    <c:title>
      <c:tx>
        <c:rich>
          <a:bodyPr/>
          <a:lstStyle/>
          <a:p>
            <a:pPr>
              <a:defRPr/>
            </a:pPr>
            <a:r>
              <a:rPr lang="en-US"/>
              <a:t>Profit %  of  Total Revenue(Yearwise)</a:t>
            </a:r>
          </a:p>
        </c:rich>
      </c:tx>
      <c:layout>
        <c:manualLayout>
          <c:xMode val="edge"/>
          <c:yMode val="edge"/>
          <c:x val="0.24158561777000101"/>
          <c:y val="0"/>
        </c:manualLayout>
      </c:layout>
      <c:overlay val="0"/>
    </c:title>
    <c:autoTitleDeleted val="0"/>
    <c:pivotFmts>
      <c:pivotFmt>
        <c:idx val="0"/>
      </c:pivotFmt>
      <c:pivotFmt>
        <c:idx val="1"/>
      </c:pivotFmt>
      <c:pivotFmt>
        <c:idx val="2"/>
      </c:pivotFmt>
      <c:pivotFmt>
        <c:idx val="3"/>
      </c:pivotFmt>
      <c:pivotFmt>
        <c:idx val="4"/>
      </c:pivotFmt>
      <c:pivotFmt>
        <c:idx val="5"/>
      </c:pivotFmt>
    </c:pivotFmts>
    <c:plotArea>
      <c:layout>
        <c:manualLayout>
          <c:layoutTarget val="inner"/>
          <c:xMode val="edge"/>
          <c:yMode val="edge"/>
          <c:x val="6.5942694663167101E-2"/>
          <c:y val="6.3750156230471186E-2"/>
          <c:w val="0.91245236706522792"/>
          <c:h val="0.81971107778194396"/>
        </c:manualLayout>
      </c:layout>
      <c:lineChart>
        <c:grouping val="standard"/>
        <c:varyColors val="0"/>
        <c:ser>
          <c:idx val="0"/>
          <c:order val="0"/>
          <c:tx>
            <c:strRef>
              <c:f>'YearWise pivot'!$B$3</c:f>
              <c:strCache>
                <c:ptCount val="1"/>
                <c:pt idx="0">
                  <c:v>Total</c:v>
                </c:pt>
              </c:strCache>
            </c:strRef>
          </c:tx>
          <c:cat>
            <c:strRef>
              <c:f>'YearWise pivot'!$A$4:$A$8</c:f>
              <c:strCache>
                <c:ptCount val="4"/>
                <c:pt idx="0">
                  <c:v>2019</c:v>
                </c:pt>
                <c:pt idx="1">
                  <c:v>2020</c:v>
                </c:pt>
                <c:pt idx="2">
                  <c:v>2021</c:v>
                </c:pt>
                <c:pt idx="3">
                  <c:v>2022</c:v>
                </c:pt>
              </c:strCache>
            </c:strRef>
          </c:cat>
          <c:val>
            <c:numRef>
              <c:f>'YearWise pivot'!$B$4:$B$8</c:f>
              <c:numCache>
                <c:formatCode>0.00%</c:formatCode>
                <c:ptCount val="4"/>
                <c:pt idx="0">
                  <c:v>0.15897153387947874</c:v>
                </c:pt>
                <c:pt idx="1">
                  <c:v>0.21542674854966173</c:v>
                </c:pt>
                <c:pt idx="2">
                  <c:v>0.30083888385543517</c:v>
                </c:pt>
                <c:pt idx="3">
                  <c:v>0.32476283371542436</c:v>
                </c:pt>
              </c:numCache>
            </c:numRef>
          </c:val>
          <c:smooth val="0"/>
        </c:ser>
        <c:dLbls>
          <c:showLegendKey val="0"/>
          <c:showVal val="0"/>
          <c:showCatName val="0"/>
          <c:showSerName val="0"/>
          <c:showPercent val="0"/>
          <c:showBubbleSize val="0"/>
        </c:dLbls>
        <c:dropLines>
          <c:spPr>
            <a:ln>
              <a:solidFill>
                <a:schemeClr val="accent1"/>
              </a:solidFill>
            </a:ln>
          </c:spPr>
        </c:dropLines>
        <c:upDownBars>
          <c:gapWidth val="150"/>
          <c:upBars/>
          <c:downBars/>
        </c:upDownBars>
        <c:marker val="1"/>
        <c:smooth val="0"/>
        <c:axId val="118779392"/>
        <c:axId val="115706688"/>
      </c:lineChart>
      <c:catAx>
        <c:axId val="118779392"/>
        <c:scaling>
          <c:orientation val="minMax"/>
        </c:scaling>
        <c:delete val="0"/>
        <c:axPos val="b"/>
        <c:majorTickMark val="out"/>
        <c:minorTickMark val="none"/>
        <c:tickLblPos val="nextTo"/>
        <c:crossAx val="115706688"/>
        <c:crosses val="autoZero"/>
        <c:auto val="1"/>
        <c:lblAlgn val="ctr"/>
        <c:lblOffset val="100"/>
        <c:noMultiLvlLbl val="0"/>
      </c:catAx>
      <c:valAx>
        <c:axId val="115706688"/>
        <c:scaling>
          <c:orientation val="minMax"/>
        </c:scaling>
        <c:delete val="0"/>
        <c:axPos val="l"/>
        <c:numFmt formatCode="0.00%" sourceLinked="1"/>
        <c:majorTickMark val="out"/>
        <c:minorTickMark val="none"/>
        <c:tickLblPos val="nextTo"/>
        <c:crossAx val="118779392"/>
        <c:crosses val="autoZero"/>
        <c:crossBetween val="between"/>
      </c:valAx>
    </c:plotArea>
    <c:plotVisOnly val="1"/>
    <c:dispBlanksAs val="zero"/>
    <c:showDLblsOverMax val="0"/>
  </c:chart>
  <c:spPr>
    <a:blipFill>
      <a:blip xmlns:r="http://schemas.openxmlformats.org/officeDocument/2006/relationships" r:embed="rId1"/>
      <a:tile tx="0" ty="0" sx="100000" sy="100000" flip="none" algn="tl"/>
    </a:blipFill>
  </c:spPr>
  <c:txPr>
    <a:bodyPr/>
    <a:lstStyle/>
    <a:p>
      <a:pPr>
        <a:defRPr>
          <a:solidFill>
            <a:schemeClr val="bg1"/>
          </a:solidFill>
        </a:defRPr>
      </a:pPr>
      <a:endParaRPr lang="en-US"/>
    </a:p>
  </c:txPr>
  <c:externalData r:id="rId2">
    <c:autoUpdate val="0"/>
  </c:externalData>
  <c:userShapes r:id="rId3"/>
  <c:extLst>
    <c:ext xmlns:c14="http://schemas.microsoft.com/office/drawing/2007/8/2/chart" uri="{781A3756-C4B2-4CAC-9D66-4F8BD8637D16}">
      <c14:pivotOptions>
        <c14:dropZoneFilter val="1"/>
        <c14:dropZoneCategories val="1"/>
        <c14:dropZoneData val="1"/>
      </c14:pivotOptions>
    </c:ext>
  </c:extLst>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[DA Test Data.xlsx]Sum Category Pivot!PivotTable10</c:name>
    <c:fmtId val="-1"/>
  </c:pivotSource>
  <c:chart>
    <c:title>
      <c:tx>
        <c:rich>
          <a:bodyPr/>
          <a:lstStyle/>
          <a:p>
            <a:pPr>
              <a:defRPr/>
            </a:pPr>
            <a:r>
              <a:rPr lang="en-US"/>
              <a:t>Sum of sales by  Category in Each Year</a:t>
            </a:r>
          </a:p>
        </c:rich>
      </c:tx>
      <c:layout/>
      <c:overlay val="0"/>
    </c:title>
    <c:autoTitleDeleted val="0"/>
    <c:pivotFmts>
      <c:pivotFmt>
        <c:idx val="0"/>
      </c:pivotFmt>
      <c:pivotFmt>
        <c:idx val="1"/>
      </c:pivotFmt>
      <c:pivotFmt>
        <c:idx val="2"/>
      </c:pivotFmt>
      <c:pivotFmt>
        <c:idx val="3"/>
      </c:pivotFmt>
      <c:pivotFmt>
        <c:idx val="4"/>
      </c:pivotFmt>
      <c:pivotFmt>
        <c:idx val="5"/>
      </c:pivotFmt>
      <c:pivotFmt>
        <c:idx val="6"/>
      </c:pivotFmt>
      <c:pivotFmt>
        <c:idx val="7"/>
      </c:pivotFmt>
      <c:pivotFmt>
        <c:idx val="8"/>
      </c:pivotFmt>
      <c:pivotFmt>
        <c:idx val="9"/>
      </c:pivotFmt>
      <c:pivotFmt>
        <c:idx val="10"/>
      </c:pivotFmt>
      <c:pivotFmt>
        <c:idx val="11"/>
      </c:pivotFmt>
      <c:pivotFmt>
        <c:idx val="12"/>
      </c:pivotFmt>
      <c:pivotFmt>
        <c:idx val="13"/>
      </c:pivotFmt>
      <c:pivotFmt>
        <c:idx val="14"/>
        <c:marker>
          <c:symbol val="none"/>
        </c:marker>
      </c:pivotFmt>
      <c:pivotFmt>
        <c:idx val="15"/>
        <c:marker>
          <c:symbol val="none"/>
        </c:marker>
      </c:pivotFmt>
      <c:pivotFmt>
        <c:idx val="16"/>
        <c:marker>
          <c:symbol val="none"/>
        </c:marker>
      </c:pivotFmt>
      <c:pivotFmt>
        <c:idx val="17"/>
        <c:marker>
          <c:symbol val="none"/>
        </c:marker>
      </c:pivotFmt>
      <c:pivotFmt>
        <c:idx val="18"/>
        <c:marker>
          <c:symbol val="none"/>
        </c:marker>
      </c:pivotFmt>
      <c:pivotFmt>
        <c:idx val="19"/>
        <c:marker>
          <c:symbol val="none"/>
        </c:marker>
      </c:pivotFmt>
      <c:pivotFmt>
        <c:idx val="20"/>
        <c:marker>
          <c:symbol val="none"/>
        </c:marker>
      </c:pivotFmt>
      <c:pivotFmt>
        <c:idx val="21"/>
        <c:marker>
          <c:symbol val="none"/>
        </c:marker>
      </c:pivotFmt>
      <c:pivotFmt>
        <c:idx val="22"/>
        <c:marker>
          <c:symbol val="none"/>
        </c:marker>
      </c:pivotFmt>
      <c:pivotFmt>
        <c:idx val="23"/>
        <c:marker>
          <c:symbol val="none"/>
        </c:marker>
      </c:pivotFmt>
      <c:pivotFmt>
        <c:idx val="24"/>
        <c:marker>
          <c:symbol val="none"/>
        </c:marker>
      </c:pivotFmt>
      <c:pivotFmt>
        <c:idx val="25"/>
        <c:marker>
          <c:symbol val="none"/>
        </c:marker>
      </c:pivotFmt>
      <c:pivotFmt>
        <c:idx val="26"/>
        <c:marker>
          <c:symbol val="none"/>
        </c:marker>
      </c:pivotFmt>
      <c:pivotFmt>
        <c:idx val="27"/>
        <c:marker>
          <c:symbol val="none"/>
        </c:marker>
      </c:pivotFmt>
      <c:pivotFmt>
        <c:idx val="28"/>
        <c:marker>
          <c:symbol val="none"/>
        </c:marker>
      </c:pivotFmt>
      <c:pivotFmt>
        <c:idx val="29"/>
        <c:marker>
          <c:symbol val="none"/>
        </c:marker>
      </c:pivotFmt>
      <c:pivotFmt>
        <c:idx val="30"/>
        <c:marker>
          <c:symbol val="none"/>
        </c:marker>
      </c:pivotFmt>
      <c:pivotFmt>
        <c:idx val="31"/>
        <c:marker>
          <c:symbol val="none"/>
        </c:marker>
      </c:pivotFmt>
      <c:pivotFmt>
        <c:idx val="32"/>
        <c:marker>
          <c:symbol val="none"/>
        </c:marker>
      </c:pivotFmt>
      <c:pivotFmt>
        <c:idx val="33"/>
        <c:marker>
          <c:symbol val="none"/>
        </c:marker>
      </c:pivotFmt>
      <c:pivotFmt>
        <c:idx val="34"/>
        <c:marker>
          <c:symbol val="none"/>
        </c:marker>
      </c:pivotFmt>
    </c:pivotFmts>
    <c:plotArea>
      <c:layout>
        <c:manualLayout>
          <c:layoutTarget val="inner"/>
          <c:xMode val="edge"/>
          <c:yMode val="edge"/>
          <c:x val="0.10067637795275589"/>
          <c:y val="7.3022906227630635E-2"/>
          <c:w val="0.72406325459317589"/>
          <c:h val="0.79348723455022663"/>
        </c:manualLayout>
      </c:layout>
      <c:barChart>
        <c:barDir val="col"/>
        <c:grouping val="clustered"/>
        <c:varyColors val="0"/>
        <c:ser>
          <c:idx val="0"/>
          <c:order val="0"/>
          <c:tx>
            <c:strRef>
              <c:f>'Sum Category Pivot'!$B$3:$B$4</c:f>
              <c:strCache>
                <c:ptCount val="1"/>
                <c:pt idx="0">
                  <c:v>Accessories</c:v>
                </c:pt>
              </c:strCache>
            </c:strRef>
          </c:tx>
          <c:invertIfNegative val="0"/>
          <c:cat>
            <c:strRef>
              <c:f>'Sum Category Pivot'!$A$5:$A$9</c:f>
              <c:strCache>
                <c:ptCount val="4"/>
                <c:pt idx="0">
                  <c:v>2019</c:v>
                </c:pt>
                <c:pt idx="1">
                  <c:v>2020</c:v>
                </c:pt>
                <c:pt idx="2">
                  <c:v>2021</c:v>
                </c:pt>
                <c:pt idx="3">
                  <c:v>2022</c:v>
                </c:pt>
              </c:strCache>
            </c:strRef>
          </c:cat>
          <c:val>
            <c:numRef>
              <c:f>'Sum Category Pivot'!$B$5:$B$9</c:f>
              <c:numCache>
                <c:formatCode>General</c:formatCode>
                <c:ptCount val="4"/>
                <c:pt idx="0">
                  <c:v>59119688</c:v>
                </c:pt>
                <c:pt idx="1">
                  <c:v>75453090</c:v>
                </c:pt>
                <c:pt idx="2">
                  <c:v>95721569</c:v>
                </c:pt>
                <c:pt idx="3">
                  <c:v>102308497</c:v>
                </c:pt>
              </c:numCache>
            </c:numRef>
          </c:val>
        </c:ser>
        <c:ser>
          <c:idx val="1"/>
          <c:order val="1"/>
          <c:tx>
            <c:strRef>
              <c:f>'Sum Category Pivot'!$C$3:$C$4</c:f>
              <c:strCache>
                <c:ptCount val="1"/>
                <c:pt idx="0">
                  <c:v>Casing</c:v>
                </c:pt>
              </c:strCache>
            </c:strRef>
          </c:tx>
          <c:invertIfNegative val="0"/>
          <c:cat>
            <c:strRef>
              <c:f>'Sum Category Pivot'!$A$5:$A$9</c:f>
              <c:strCache>
                <c:ptCount val="4"/>
                <c:pt idx="0">
                  <c:v>2019</c:v>
                </c:pt>
                <c:pt idx="1">
                  <c:v>2020</c:v>
                </c:pt>
                <c:pt idx="2">
                  <c:v>2021</c:v>
                </c:pt>
                <c:pt idx="3">
                  <c:v>2022</c:v>
                </c:pt>
              </c:strCache>
            </c:strRef>
          </c:cat>
          <c:val>
            <c:numRef>
              <c:f>'Sum Category Pivot'!$C$5:$C$9</c:f>
              <c:numCache>
                <c:formatCode>General</c:formatCode>
                <c:ptCount val="4"/>
                <c:pt idx="0">
                  <c:v>15209927</c:v>
                </c:pt>
                <c:pt idx="1">
                  <c:v>23965550</c:v>
                </c:pt>
                <c:pt idx="2">
                  <c:v>31979338</c:v>
                </c:pt>
                <c:pt idx="3">
                  <c:v>32528024</c:v>
                </c:pt>
              </c:numCache>
            </c:numRef>
          </c:val>
        </c:ser>
        <c:ser>
          <c:idx val="2"/>
          <c:order val="2"/>
          <c:tx>
            <c:strRef>
              <c:f>'Sum Category Pivot'!$D$3:$D$4</c:f>
              <c:strCache>
                <c:ptCount val="1"/>
                <c:pt idx="0">
                  <c:v>Lighting</c:v>
                </c:pt>
              </c:strCache>
            </c:strRef>
          </c:tx>
          <c:invertIfNegative val="0"/>
          <c:cat>
            <c:strRef>
              <c:f>'Sum Category Pivot'!$A$5:$A$9</c:f>
              <c:strCache>
                <c:ptCount val="4"/>
                <c:pt idx="0">
                  <c:v>2019</c:v>
                </c:pt>
                <c:pt idx="1">
                  <c:v>2020</c:v>
                </c:pt>
                <c:pt idx="2">
                  <c:v>2021</c:v>
                </c:pt>
                <c:pt idx="3">
                  <c:v>2022</c:v>
                </c:pt>
              </c:strCache>
            </c:strRef>
          </c:cat>
          <c:val>
            <c:numRef>
              <c:f>'Sum Category Pivot'!$D$5:$D$9</c:f>
              <c:numCache>
                <c:formatCode>General</c:formatCode>
                <c:ptCount val="4"/>
                <c:pt idx="3">
                  <c:v>355599</c:v>
                </c:pt>
              </c:numCache>
            </c:numRef>
          </c:val>
        </c:ser>
        <c:ser>
          <c:idx val="3"/>
          <c:order val="3"/>
          <c:tx>
            <c:strRef>
              <c:f>'Sum Category Pivot'!$E$3:$E$4</c:f>
              <c:strCache>
                <c:ptCount val="1"/>
                <c:pt idx="0">
                  <c:v>Pipes</c:v>
                </c:pt>
              </c:strCache>
            </c:strRef>
          </c:tx>
          <c:invertIfNegative val="0"/>
          <c:cat>
            <c:strRef>
              <c:f>'Sum Category Pivot'!$A$5:$A$9</c:f>
              <c:strCache>
                <c:ptCount val="4"/>
                <c:pt idx="0">
                  <c:v>2019</c:v>
                </c:pt>
                <c:pt idx="1">
                  <c:v>2020</c:v>
                </c:pt>
                <c:pt idx="2">
                  <c:v>2021</c:v>
                </c:pt>
                <c:pt idx="3">
                  <c:v>2022</c:v>
                </c:pt>
              </c:strCache>
            </c:strRef>
          </c:cat>
          <c:val>
            <c:numRef>
              <c:f>'Sum Category Pivot'!$E$5:$E$9</c:f>
              <c:numCache>
                <c:formatCode>General</c:formatCode>
                <c:ptCount val="4"/>
                <c:pt idx="0">
                  <c:v>24748378</c:v>
                </c:pt>
                <c:pt idx="1">
                  <c:v>36293033</c:v>
                </c:pt>
                <c:pt idx="2">
                  <c:v>67467093</c:v>
                </c:pt>
                <c:pt idx="3">
                  <c:v>73425175</c:v>
                </c:pt>
              </c:numCache>
            </c:numRef>
          </c:val>
        </c:ser>
        <c:ser>
          <c:idx val="4"/>
          <c:order val="4"/>
          <c:tx>
            <c:strRef>
              <c:f>'Sum Category Pivot'!$F$3:$F$4</c:f>
              <c:strCache>
                <c:ptCount val="1"/>
                <c:pt idx="0">
                  <c:v>Switches</c:v>
                </c:pt>
              </c:strCache>
            </c:strRef>
          </c:tx>
          <c:invertIfNegative val="0"/>
          <c:cat>
            <c:strRef>
              <c:f>'Sum Category Pivot'!$A$5:$A$9</c:f>
              <c:strCache>
                <c:ptCount val="4"/>
                <c:pt idx="0">
                  <c:v>2019</c:v>
                </c:pt>
                <c:pt idx="1">
                  <c:v>2020</c:v>
                </c:pt>
                <c:pt idx="2">
                  <c:v>2021</c:v>
                </c:pt>
                <c:pt idx="3">
                  <c:v>2022</c:v>
                </c:pt>
              </c:strCache>
            </c:strRef>
          </c:cat>
          <c:val>
            <c:numRef>
              <c:f>'Sum Category Pivot'!$F$5:$F$9</c:f>
              <c:numCache>
                <c:formatCode>General</c:formatCode>
                <c:ptCount val="4"/>
                <c:pt idx="0">
                  <c:v>14987878</c:v>
                </c:pt>
                <c:pt idx="1">
                  <c:v>20858895</c:v>
                </c:pt>
                <c:pt idx="2">
                  <c:v>20133124</c:v>
                </c:pt>
                <c:pt idx="3">
                  <c:v>19317457</c:v>
                </c:pt>
              </c:numCache>
            </c:numRef>
          </c:val>
        </c:ser>
        <c:ser>
          <c:idx val="5"/>
          <c:order val="5"/>
          <c:tx>
            <c:strRef>
              <c:f>'Sum Category Pivot'!$G$3:$G$4</c:f>
              <c:strCache>
                <c:ptCount val="1"/>
                <c:pt idx="0">
                  <c:v>Switchgear</c:v>
                </c:pt>
              </c:strCache>
            </c:strRef>
          </c:tx>
          <c:invertIfNegative val="0"/>
          <c:cat>
            <c:strRef>
              <c:f>'Sum Category Pivot'!$A$5:$A$9</c:f>
              <c:strCache>
                <c:ptCount val="4"/>
                <c:pt idx="0">
                  <c:v>2019</c:v>
                </c:pt>
                <c:pt idx="1">
                  <c:v>2020</c:v>
                </c:pt>
                <c:pt idx="2">
                  <c:v>2021</c:v>
                </c:pt>
                <c:pt idx="3">
                  <c:v>2022</c:v>
                </c:pt>
              </c:strCache>
            </c:strRef>
          </c:cat>
          <c:val>
            <c:numRef>
              <c:f>'Sum Category Pivot'!$G$5:$G$9</c:f>
              <c:numCache>
                <c:formatCode>General</c:formatCode>
                <c:ptCount val="4"/>
                <c:pt idx="1">
                  <c:v>133746</c:v>
                </c:pt>
                <c:pt idx="2">
                  <c:v>1083689</c:v>
                </c:pt>
                <c:pt idx="3">
                  <c:v>3183705</c:v>
                </c:pt>
              </c:numCache>
            </c:numRef>
          </c:val>
        </c:ser>
        <c:ser>
          <c:idx val="6"/>
          <c:order val="6"/>
          <c:tx>
            <c:strRef>
              <c:f>'Sum Category Pivot'!$H$3:$H$4</c:f>
              <c:strCache>
                <c:ptCount val="1"/>
                <c:pt idx="0">
                  <c:v>Wires</c:v>
                </c:pt>
              </c:strCache>
            </c:strRef>
          </c:tx>
          <c:invertIfNegative val="0"/>
          <c:cat>
            <c:strRef>
              <c:f>'Sum Category Pivot'!$A$5:$A$9</c:f>
              <c:strCache>
                <c:ptCount val="4"/>
                <c:pt idx="0">
                  <c:v>2019</c:v>
                </c:pt>
                <c:pt idx="1">
                  <c:v>2020</c:v>
                </c:pt>
                <c:pt idx="2">
                  <c:v>2021</c:v>
                </c:pt>
                <c:pt idx="3">
                  <c:v>2022</c:v>
                </c:pt>
              </c:strCache>
            </c:strRef>
          </c:cat>
          <c:val>
            <c:numRef>
              <c:f>'Sum Category Pivot'!$H$5:$H$9</c:f>
              <c:numCache>
                <c:formatCode>General</c:formatCode>
                <c:ptCount val="4"/>
                <c:pt idx="0">
                  <c:v>7617611</c:v>
                </c:pt>
                <c:pt idx="1">
                  <c:v>8192358</c:v>
                </c:pt>
                <c:pt idx="2">
                  <c:v>13889891</c:v>
                </c:pt>
                <c:pt idx="3">
                  <c:v>17468642</c:v>
                </c:pt>
              </c:numCache>
            </c:numRef>
          </c:val>
        </c:ser>
        <c:dLbls>
          <c:showLegendKey val="0"/>
          <c:showVal val="0"/>
          <c:showCatName val="0"/>
          <c:showSerName val="0"/>
          <c:showPercent val="0"/>
          <c:showBubbleSize val="0"/>
        </c:dLbls>
        <c:gapWidth val="150"/>
        <c:axId val="165080576"/>
        <c:axId val="96322112"/>
      </c:barChart>
      <c:catAx>
        <c:axId val="165080576"/>
        <c:scaling>
          <c:orientation val="minMax"/>
        </c:scaling>
        <c:delete val="0"/>
        <c:axPos val="b"/>
        <c:majorTickMark val="out"/>
        <c:minorTickMark val="none"/>
        <c:tickLblPos val="nextTo"/>
        <c:crossAx val="96322112"/>
        <c:crosses val="autoZero"/>
        <c:auto val="1"/>
        <c:lblAlgn val="ctr"/>
        <c:lblOffset val="100"/>
        <c:noMultiLvlLbl val="0"/>
      </c:catAx>
      <c:valAx>
        <c:axId val="96322112"/>
        <c:scaling>
          <c:orientation val="minMax"/>
        </c:scaling>
        <c:delete val="0"/>
        <c:axPos val="l"/>
        <c:numFmt formatCode="General" sourceLinked="1"/>
        <c:majorTickMark val="out"/>
        <c:minorTickMark val="none"/>
        <c:tickLblPos val="nextTo"/>
        <c:crossAx val="165080576"/>
        <c:crosses val="autoZero"/>
        <c:crossBetween val="between"/>
      </c:valAx>
    </c:plotArea>
    <c:legend>
      <c:legendPos val="r"/>
      <c:layout>
        <c:manualLayout>
          <c:xMode val="edge"/>
          <c:yMode val="edge"/>
          <c:x val="0.81764488188976392"/>
          <c:y val="0.18181865903125743"/>
          <c:w val="0.16731753938340721"/>
          <c:h val="0.66907033497109147"/>
        </c:manualLayout>
      </c:layout>
      <c:overlay val="0"/>
    </c:legend>
    <c:plotVisOnly val="1"/>
    <c:dispBlanksAs val="gap"/>
    <c:showDLblsOverMax val="0"/>
  </c:chart>
  <c:spPr>
    <a:blipFill>
      <a:blip xmlns:r="http://schemas.openxmlformats.org/officeDocument/2006/relationships" r:embed="rId1"/>
      <a:tile tx="0" ty="0" sx="100000" sy="100000" flip="none" algn="tl"/>
    </a:blipFill>
  </c:spPr>
  <c:txPr>
    <a:bodyPr/>
    <a:lstStyle/>
    <a:p>
      <a:pPr>
        <a:defRPr>
          <a:solidFill>
            <a:schemeClr val="bg1"/>
          </a:solidFill>
        </a:defRPr>
      </a:pPr>
      <a:endParaRPr lang="en-US"/>
    </a:p>
  </c:txPr>
  <c:externalData r:id="rId2">
    <c:autoUpdate val="0"/>
  </c:externalData>
  <c:userShapes r:id="rId3"/>
  <c:extLst>
    <c:ext xmlns:c14="http://schemas.microsoft.com/office/drawing/2007/8/2/chart" uri="{781A3756-C4B2-4CAC-9D66-4F8BD8637D16}">
      <c14:pivotOptions>
        <c14:dropZoneFilter val="1"/>
        <c14:dropZoneCategories val="1"/>
        <c14:dropZoneData val="1"/>
        <c14:dropZoneSeries val="1"/>
      </c14:pivotOptions>
    </c:ext>
  </c:extLst>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[DA Test Data.xlsx]Sheet2!PivotTable1</c:name>
    <c:fmtId val="-1"/>
  </c:pivotSource>
  <c:chart>
    <c:title>
      <c:tx>
        <c:rich>
          <a:bodyPr/>
          <a:lstStyle/>
          <a:p>
            <a:pPr>
              <a:defRPr/>
            </a:pPr>
            <a:r>
              <a:rPr lang="en-US"/>
              <a:t>Top 10 Average Revenue/Customers</a:t>
            </a:r>
          </a:p>
        </c:rich>
      </c:tx>
      <c:layout>
        <c:manualLayout>
          <c:xMode val="edge"/>
          <c:yMode val="edge"/>
          <c:x val="0.29333189968900952"/>
          <c:y val="1.333908603890267E-3"/>
        </c:manualLayout>
      </c:layout>
      <c:overlay val="0"/>
    </c:title>
    <c:autoTitleDeleted val="0"/>
    <c:pivotFmts>
      <c:pivotFmt>
        <c:idx val="0"/>
        <c:marker>
          <c:symbol val="none"/>
        </c:marker>
      </c:pivotFmt>
      <c:pivotFmt>
        <c:idx val="1"/>
        <c:marker>
          <c:symbol val="none"/>
        </c:marker>
      </c:pivotFmt>
      <c:pivotFmt>
        <c:idx val="2"/>
        <c:marker>
          <c:symbol val="none"/>
        </c:marker>
      </c:pivotFmt>
    </c:pivotFmts>
    <c:plotArea>
      <c:layout>
        <c:manualLayout>
          <c:layoutTarget val="inner"/>
          <c:xMode val="edge"/>
          <c:yMode val="edge"/>
          <c:x val="0.16585379952505938"/>
          <c:y val="7.0550958672538813E-2"/>
          <c:w val="0.59727174728158983"/>
          <c:h val="0.85035299612972104"/>
        </c:manualLayout>
      </c:layout>
      <c:doughnutChart>
        <c:varyColors val="1"/>
        <c:ser>
          <c:idx val="0"/>
          <c:order val="0"/>
          <c:tx>
            <c:strRef>
              <c:f>Sheet2!$B$3</c:f>
              <c:strCache>
                <c:ptCount val="1"/>
                <c:pt idx="0">
                  <c:v>Total</c:v>
                </c:pt>
              </c:strCache>
            </c:strRef>
          </c:tx>
          <c:cat>
            <c:strRef>
              <c:f>Sheet2!$A$4:$A$14</c:f>
              <c:strCache>
                <c:ptCount val="10"/>
                <c:pt idx="0">
                  <c:v>C01-0002</c:v>
                </c:pt>
                <c:pt idx="1">
                  <c:v>C01-0003</c:v>
                </c:pt>
                <c:pt idx="2">
                  <c:v>C06-0003</c:v>
                </c:pt>
                <c:pt idx="3">
                  <c:v>C06-0015</c:v>
                </c:pt>
                <c:pt idx="4">
                  <c:v>C27-2435</c:v>
                </c:pt>
                <c:pt idx="5">
                  <c:v>C27-2707</c:v>
                </c:pt>
                <c:pt idx="6">
                  <c:v>C27-3099</c:v>
                </c:pt>
                <c:pt idx="7">
                  <c:v>C27-3612</c:v>
                </c:pt>
                <c:pt idx="8">
                  <c:v>C29-0134</c:v>
                </c:pt>
                <c:pt idx="9">
                  <c:v>C29-0241</c:v>
                </c:pt>
              </c:strCache>
            </c:strRef>
          </c:cat>
          <c:val>
            <c:numRef>
              <c:f>Sheet2!$B$4:$B$14</c:f>
              <c:numCache>
                <c:formatCode>General</c:formatCode>
                <c:ptCount val="10"/>
                <c:pt idx="0">
                  <c:v>49298.757575757576</c:v>
                </c:pt>
                <c:pt idx="1">
                  <c:v>73420.692307692312</c:v>
                </c:pt>
                <c:pt idx="2">
                  <c:v>38089.866666666669</c:v>
                </c:pt>
                <c:pt idx="3">
                  <c:v>34913</c:v>
                </c:pt>
                <c:pt idx="4">
                  <c:v>47027.393617021276</c:v>
                </c:pt>
                <c:pt idx="5">
                  <c:v>124844.30769230769</c:v>
                </c:pt>
                <c:pt idx="6">
                  <c:v>88356</c:v>
                </c:pt>
                <c:pt idx="7">
                  <c:v>58078</c:v>
                </c:pt>
                <c:pt idx="8">
                  <c:v>36961.833333333336</c:v>
                </c:pt>
                <c:pt idx="9">
                  <c:v>58779</c:v>
                </c:pt>
              </c:numCache>
            </c:numRef>
          </c:val>
        </c:ser>
        <c:dLbls>
          <c:showLegendKey val="0"/>
          <c:showVal val="0"/>
          <c:showCatName val="0"/>
          <c:showSerName val="0"/>
          <c:showPercent val="0"/>
          <c:showBubbleSize val="0"/>
          <c:showLeaderLines val="1"/>
        </c:dLbls>
        <c:firstSliceAng val="0"/>
        <c:holeSize val="50"/>
      </c:doughnutChart>
    </c:plotArea>
    <c:legend>
      <c:legendPos val="r"/>
      <c:layout/>
      <c:overlay val="0"/>
    </c:legend>
    <c:plotVisOnly val="1"/>
    <c:dispBlanksAs val="gap"/>
    <c:showDLblsOverMax val="0"/>
  </c:chart>
  <c:spPr>
    <a:blipFill>
      <a:blip xmlns:r="http://schemas.openxmlformats.org/officeDocument/2006/relationships" r:embed="rId1"/>
      <a:tile tx="0" ty="0" sx="100000" sy="100000" flip="none" algn="tl"/>
    </a:blipFill>
  </c:spPr>
  <c:txPr>
    <a:bodyPr/>
    <a:lstStyle/>
    <a:p>
      <a:pPr>
        <a:defRPr>
          <a:solidFill>
            <a:schemeClr val="bg1"/>
          </a:solidFill>
        </a:defRPr>
      </a:pPr>
      <a:endParaRPr lang="en-US"/>
    </a:p>
  </c:txPr>
  <c:externalData r:id="rId2">
    <c:autoUpdate val="0"/>
  </c:externalData>
  <c:userShapes r:id="rId3"/>
  <c:extLst>
    <c:ext xmlns:c14="http://schemas.microsoft.com/office/drawing/2007/8/2/chart" uri="{781A3756-C4B2-4CAC-9D66-4F8BD8637D16}">
      <c14:pivotOptions>
        <c14:dropZoneFilter val="1"/>
        <c14:dropZoneCategories val="1"/>
        <c14:dropZoneData val="1"/>
        <c14:dropZoneSeries val="1"/>
      </c14:pivotOptions>
    </c:ext>
  </c:extLst>
</c:chartSpace>
</file>

<file path=ppt/charts/chart6.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[DA Test Data.xlsx]StateWise Pivot!PivotTable11</c:name>
    <c:fmtId val="-1"/>
  </c:pivotSource>
  <c:chart>
    <c:title>
      <c:tx>
        <c:rich>
          <a:bodyPr/>
          <a:lstStyle/>
          <a:p>
            <a:pPr>
              <a:defRPr/>
            </a:pPr>
            <a:r>
              <a:rPr lang="en-US"/>
              <a:t>Top 10 State Sales Performance(Yearwise)</a:t>
            </a:r>
          </a:p>
        </c:rich>
      </c:tx>
      <c:layout>
        <c:manualLayout>
          <c:xMode val="edge"/>
          <c:yMode val="edge"/>
          <c:x val="0.21422912276810469"/>
          <c:y val="3.0892874501798388E-2"/>
        </c:manualLayout>
      </c:layout>
      <c:overlay val="0"/>
    </c:title>
    <c:autoTitleDeleted val="0"/>
    <c:pivotFmts>
      <c:pivotFmt>
        <c:idx val="0"/>
      </c:pivotFmt>
      <c:pivotFmt>
        <c:idx val="1"/>
      </c:pivotFmt>
      <c:pivotFmt>
        <c:idx val="2"/>
      </c:pivotFmt>
      <c:pivotFmt>
        <c:idx val="3"/>
        <c:marker>
          <c:symbol val="none"/>
        </c:marker>
      </c:pivotFmt>
      <c:pivotFmt>
        <c:idx val="4"/>
        <c:marker>
          <c:symbol val="none"/>
        </c:marker>
      </c:pivotFmt>
      <c:pivotFmt>
        <c:idx val="5"/>
        <c:marker>
          <c:symbol val="none"/>
        </c:marker>
      </c:pivotFmt>
      <c:pivotFmt>
        <c:idx val="6"/>
        <c:marker>
          <c:symbol val="none"/>
        </c:marker>
      </c:pivotFmt>
      <c:pivotFmt>
        <c:idx val="7"/>
        <c:marker>
          <c:symbol val="none"/>
        </c:marker>
      </c:pivotFmt>
      <c:pivotFmt>
        <c:idx val="8"/>
        <c:marker>
          <c:symbol val="none"/>
        </c:marker>
      </c:pivotFmt>
      <c:pivotFmt>
        <c:idx val="9"/>
        <c:marker>
          <c:symbol val="none"/>
        </c:marker>
      </c:pivotFmt>
      <c:pivotFmt>
        <c:idx val="10"/>
      </c:pivotFmt>
      <c:pivotFmt>
        <c:idx val="11"/>
      </c:pivotFmt>
      <c:pivotFmt>
        <c:idx val="12"/>
      </c:pivotFmt>
      <c:pivotFmt>
        <c:idx val="13"/>
      </c:pivotFmt>
      <c:pivotFmt>
        <c:idx val="14"/>
      </c:pivotFmt>
      <c:pivotFmt>
        <c:idx val="15"/>
      </c:pivotFmt>
      <c:pivotFmt>
        <c:idx val="16"/>
      </c:pivotFmt>
      <c:pivotFmt>
        <c:idx val="17"/>
      </c:pivotFmt>
      <c:pivotFmt>
        <c:idx val="18"/>
      </c:pivotFmt>
      <c:pivotFmt>
        <c:idx val="19"/>
      </c:pivotFmt>
      <c:pivotFmt>
        <c:idx val="20"/>
      </c:pivotFmt>
      <c:pivotFmt>
        <c:idx val="21"/>
      </c:pivotFmt>
      <c:pivotFmt>
        <c:idx val="22"/>
      </c:pivotFmt>
      <c:pivotFmt>
        <c:idx val="23"/>
      </c:pivotFmt>
      <c:pivotFmt>
        <c:idx val="24"/>
      </c:pivotFmt>
      <c:pivotFmt>
        <c:idx val="25"/>
      </c:pivotFmt>
      <c:pivotFmt>
        <c:idx val="26"/>
      </c:pivotFmt>
      <c:pivotFmt>
        <c:idx val="27"/>
      </c:pivotFmt>
      <c:pivotFmt>
        <c:idx val="28"/>
      </c:pivotFmt>
      <c:pivotFmt>
        <c:idx val="29"/>
      </c:pivotFmt>
      <c:pivotFmt>
        <c:idx val="30"/>
      </c:pivotFmt>
      <c:pivotFmt>
        <c:idx val="31"/>
      </c:pivotFmt>
      <c:pivotFmt>
        <c:idx val="32"/>
      </c:pivotFmt>
      <c:pivotFmt>
        <c:idx val="33"/>
      </c:pivotFmt>
      <c:pivotFmt>
        <c:idx val="34"/>
      </c:pivotFmt>
      <c:pivotFmt>
        <c:idx val="35"/>
      </c:pivotFmt>
      <c:pivotFmt>
        <c:idx val="36"/>
      </c:pivotFmt>
      <c:pivotFmt>
        <c:idx val="37"/>
      </c:pivotFmt>
      <c:pivotFmt>
        <c:idx val="38"/>
      </c:pivotFmt>
      <c:pivotFmt>
        <c:idx val="39"/>
      </c:pivotFmt>
      <c:pivotFmt>
        <c:idx val="40"/>
      </c:pivotFmt>
      <c:pivotFmt>
        <c:idx val="41"/>
      </c:pivotFmt>
      <c:pivotFmt>
        <c:idx val="42"/>
      </c:pivotFmt>
      <c:pivotFmt>
        <c:idx val="43"/>
      </c:pivotFmt>
      <c:pivotFmt>
        <c:idx val="44"/>
      </c:pivotFmt>
      <c:pivotFmt>
        <c:idx val="45"/>
      </c:pivotFmt>
      <c:pivotFmt>
        <c:idx val="46"/>
      </c:pivotFmt>
      <c:pivotFmt>
        <c:idx val="47"/>
      </c:pivotFmt>
      <c:pivotFmt>
        <c:idx val="48"/>
      </c:pivotFmt>
      <c:pivotFmt>
        <c:idx val="49"/>
      </c:pivotFmt>
      <c:pivotFmt>
        <c:idx val="50"/>
        <c:marker>
          <c:symbol val="none"/>
        </c:marker>
      </c:pivotFmt>
      <c:pivotFmt>
        <c:idx val="51"/>
        <c:marker>
          <c:symbol val="none"/>
        </c:marker>
      </c:pivotFmt>
      <c:pivotFmt>
        <c:idx val="52"/>
        <c:marker>
          <c:symbol val="none"/>
        </c:marker>
      </c:pivotFmt>
      <c:pivotFmt>
        <c:idx val="53"/>
        <c:marker>
          <c:symbol val="none"/>
        </c:marker>
      </c:pivotFmt>
      <c:pivotFmt>
        <c:idx val="54"/>
        <c:marker>
          <c:symbol val="none"/>
        </c:marker>
      </c:pivotFmt>
      <c:pivotFmt>
        <c:idx val="55"/>
        <c:marker>
          <c:symbol val="none"/>
        </c:marker>
      </c:pivotFmt>
      <c:pivotFmt>
        <c:idx val="56"/>
        <c:marker>
          <c:symbol val="none"/>
        </c:marker>
      </c:pivotFmt>
      <c:pivotFmt>
        <c:idx val="57"/>
        <c:marker>
          <c:symbol val="none"/>
        </c:marker>
      </c:pivotFmt>
      <c:pivotFmt>
        <c:idx val="58"/>
        <c:marker>
          <c:symbol val="none"/>
        </c:marker>
      </c:pivotFmt>
      <c:pivotFmt>
        <c:idx val="59"/>
        <c:marker>
          <c:symbol val="none"/>
        </c:marker>
      </c:pivotFmt>
      <c:pivotFmt>
        <c:idx val="60"/>
        <c:marker>
          <c:symbol val="none"/>
        </c:marker>
      </c:pivotFmt>
      <c:pivotFmt>
        <c:idx val="61"/>
        <c:marker>
          <c:symbol val="none"/>
        </c:marker>
      </c:pivotFmt>
      <c:pivotFmt>
        <c:idx val="62"/>
        <c:marker>
          <c:symbol val="none"/>
        </c:marker>
      </c:pivotFmt>
      <c:pivotFmt>
        <c:idx val="63"/>
        <c:marker>
          <c:symbol val="none"/>
        </c:marker>
      </c:pivotFmt>
      <c:pivotFmt>
        <c:idx val="64"/>
        <c:marker>
          <c:symbol val="none"/>
        </c:marker>
      </c:pivotFmt>
      <c:pivotFmt>
        <c:idx val="65"/>
        <c:marker>
          <c:symbol val="none"/>
        </c:marker>
      </c:pivotFmt>
      <c:pivotFmt>
        <c:idx val="66"/>
        <c:marker>
          <c:symbol val="none"/>
        </c:marker>
      </c:pivotFmt>
      <c:pivotFmt>
        <c:idx val="67"/>
        <c:marker>
          <c:symbol val="none"/>
        </c:marker>
      </c:pivotFmt>
      <c:pivotFmt>
        <c:idx val="68"/>
        <c:marker>
          <c:symbol val="none"/>
        </c:marker>
      </c:pivotFmt>
      <c:pivotFmt>
        <c:idx val="69"/>
        <c:marker>
          <c:symbol val="none"/>
        </c:marker>
      </c:pivotFmt>
      <c:pivotFmt>
        <c:idx val="70"/>
        <c:marker>
          <c:symbol val="none"/>
        </c:marker>
      </c:pivotFmt>
      <c:pivotFmt>
        <c:idx val="71"/>
        <c:marker>
          <c:symbol val="none"/>
        </c:marker>
      </c:pivotFmt>
      <c:pivotFmt>
        <c:idx val="72"/>
        <c:marker>
          <c:symbol val="none"/>
        </c:marker>
      </c:pivotFmt>
      <c:pivotFmt>
        <c:idx val="73"/>
        <c:marker>
          <c:symbol val="none"/>
        </c:marker>
      </c:pivotFmt>
      <c:pivotFmt>
        <c:idx val="74"/>
        <c:marker>
          <c:symbol val="none"/>
        </c:marker>
      </c:pivotFmt>
      <c:pivotFmt>
        <c:idx val="75"/>
        <c:marker>
          <c:symbol val="none"/>
        </c:marker>
      </c:pivotFmt>
      <c:pivotFmt>
        <c:idx val="76"/>
        <c:marker>
          <c:symbol val="none"/>
        </c:marker>
      </c:pivotFmt>
      <c:pivotFmt>
        <c:idx val="77"/>
        <c:marker>
          <c:symbol val="none"/>
        </c:marker>
      </c:pivotFmt>
      <c:pivotFmt>
        <c:idx val="78"/>
        <c:marker>
          <c:symbol val="none"/>
        </c:marker>
      </c:pivotFmt>
      <c:pivotFmt>
        <c:idx val="79"/>
        <c:marker>
          <c:symbol val="none"/>
        </c:marker>
      </c:pivotFmt>
      <c:pivotFmt>
        <c:idx val="80"/>
        <c:marker>
          <c:symbol val="none"/>
        </c:marker>
      </c:pivotFmt>
      <c:pivotFmt>
        <c:idx val="81"/>
        <c:marker>
          <c:symbol val="none"/>
        </c:marker>
      </c:pivotFmt>
      <c:pivotFmt>
        <c:idx val="82"/>
        <c:marker>
          <c:symbol val="none"/>
        </c:marker>
      </c:pivotFmt>
      <c:pivotFmt>
        <c:idx val="83"/>
        <c:marker>
          <c:symbol val="none"/>
        </c:marker>
      </c:pivotFmt>
      <c:pivotFmt>
        <c:idx val="84"/>
        <c:marker>
          <c:symbol val="none"/>
        </c:marker>
      </c:pivotFmt>
      <c:pivotFmt>
        <c:idx val="85"/>
        <c:marker>
          <c:symbol val="none"/>
        </c:marker>
      </c:pivotFmt>
      <c:pivotFmt>
        <c:idx val="86"/>
        <c:marker>
          <c:symbol val="none"/>
        </c:marker>
      </c:pivotFmt>
      <c:pivotFmt>
        <c:idx val="87"/>
        <c:marker>
          <c:symbol val="none"/>
        </c:marker>
      </c:pivotFmt>
      <c:pivotFmt>
        <c:idx val="88"/>
        <c:marker>
          <c:symbol val="none"/>
        </c:marker>
      </c:pivotFmt>
      <c:pivotFmt>
        <c:idx val="89"/>
        <c:marker>
          <c:symbol val="none"/>
        </c:marker>
      </c:pivotFmt>
      <c:pivotFmt>
        <c:idx val="90"/>
        <c:marker>
          <c:symbol val="none"/>
        </c:marker>
      </c:pivotFmt>
      <c:pivotFmt>
        <c:idx val="91"/>
        <c:marker>
          <c:symbol val="none"/>
        </c:marker>
      </c:pivotFmt>
      <c:pivotFmt>
        <c:idx val="92"/>
        <c:marker>
          <c:symbol val="none"/>
        </c:marker>
      </c:pivotFmt>
      <c:pivotFmt>
        <c:idx val="93"/>
        <c:marker>
          <c:symbol val="none"/>
        </c:marker>
      </c:pivotFmt>
      <c:pivotFmt>
        <c:idx val="94"/>
        <c:marker>
          <c:symbol val="none"/>
        </c:marker>
      </c:pivotFmt>
      <c:pivotFmt>
        <c:idx val="95"/>
        <c:marker>
          <c:symbol val="none"/>
        </c:marker>
      </c:pivotFmt>
      <c:pivotFmt>
        <c:idx val="96"/>
        <c:marker>
          <c:symbol val="none"/>
        </c:marker>
      </c:pivotFmt>
      <c:pivotFmt>
        <c:idx val="97"/>
        <c:marker>
          <c:symbol val="none"/>
        </c:marker>
      </c:pivotFmt>
      <c:pivotFmt>
        <c:idx val="98"/>
        <c:marker>
          <c:symbol val="none"/>
        </c:marker>
      </c:pivotFmt>
      <c:pivotFmt>
        <c:idx val="99"/>
        <c:marker>
          <c:symbol val="none"/>
        </c:marker>
      </c:pivotFmt>
      <c:pivotFmt>
        <c:idx val="100"/>
        <c:marker>
          <c:symbol val="none"/>
        </c:marker>
      </c:pivotFmt>
      <c:pivotFmt>
        <c:idx val="101"/>
        <c:marker>
          <c:symbol val="none"/>
        </c:marker>
      </c:pivotFmt>
      <c:pivotFmt>
        <c:idx val="102"/>
        <c:marker>
          <c:symbol val="none"/>
        </c:marker>
      </c:pivotFmt>
      <c:pivotFmt>
        <c:idx val="103"/>
        <c:marker>
          <c:symbol val="none"/>
        </c:marker>
      </c:pivotFmt>
      <c:pivotFmt>
        <c:idx val="104"/>
        <c:marker>
          <c:symbol val="none"/>
        </c:marker>
      </c:pivotFmt>
      <c:pivotFmt>
        <c:idx val="105"/>
        <c:marker>
          <c:symbol val="none"/>
        </c:marker>
      </c:pivotFmt>
      <c:pivotFmt>
        <c:idx val="106"/>
        <c:marker>
          <c:symbol val="none"/>
        </c:marker>
      </c:pivotFmt>
      <c:pivotFmt>
        <c:idx val="107"/>
        <c:marker>
          <c:symbol val="none"/>
        </c:marker>
      </c:pivotFmt>
      <c:pivotFmt>
        <c:idx val="108"/>
        <c:marker>
          <c:symbol val="none"/>
        </c:marker>
      </c:pivotFmt>
      <c:pivotFmt>
        <c:idx val="109"/>
        <c:marker>
          <c:symbol val="none"/>
        </c:marker>
      </c:pivotFmt>
      <c:pivotFmt>
        <c:idx val="110"/>
        <c:marker>
          <c:symbol val="none"/>
        </c:marker>
      </c:pivotFmt>
      <c:pivotFmt>
        <c:idx val="111"/>
        <c:marker>
          <c:symbol val="none"/>
        </c:marker>
      </c:pivotFmt>
      <c:pivotFmt>
        <c:idx val="112"/>
        <c:marker>
          <c:symbol val="none"/>
        </c:marker>
      </c:pivotFmt>
      <c:pivotFmt>
        <c:idx val="113"/>
        <c:marker>
          <c:symbol val="none"/>
        </c:marker>
      </c:pivotFmt>
      <c:pivotFmt>
        <c:idx val="114"/>
        <c:marker>
          <c:symbol val="none"/>
        </c:marker>
      </c:pivotFmt>
      <c:pivotFmt>
        <c:idx val="115"/>
        <c:marker>
          <c:symbol val="none"/>
        </c:marker>
      </c:pivotFmt>
      <c:pivotFmt>
        <c:idx val="116"/>
        <c:marker>
          <c:symbol val="none"/>
        </c:marker>
      </c:pivotFmt>
      <c:pivotFmt>
        <c:idx val="117"/>
        <c:marker>
          <c:symbol val="none"/>
        </c:marker>
      </c:pivotFmt>
      <c:pivotFmt>
        <c:idx val="118"/>
        <c:marker>
          <c:symbol val="none"/>
        </c:marker>
      </c:pivotFmt>
      <c:pivotFmt>
        <c:idx val="119"/>
        <c:marker>
          <c:symbol val="none"/>
        </c:marker>
      </c:pivotFmt>
      <c:pivotFmt>
        <c:idx val="120"/>
        <c:marker>
          <c:symbol val="none"/>
        </c:marker>
      </c:pivotFmt>
      <c:pivotFmt>
        <c:idx val="121"/>
        <c:marker>
          <c:symbol val="none"/>
        </c:marker>
      </c:pivotFmt>
      <c:pivotFmt>
        <c:idx val="122"/>
        <c:marker>
          <c:symbol val="none"/>
        </c:marker>
      </c:pivotFmt>
      <c:pivotFmt>
        <c:idx val="123"/>
        <c:marker>
          <c:symbol val="none"/>
        </c:marker>
      </c:pivotFmt>
      <c:pivotFmt>
        <c:idx val="124"/>
        <c:marker>
          <c:symbol val="none"/>
        </c:marker>
      </c:pivotFmt>
      <c:pivotFmt>
        <c:idx val="125"/>
        <c:marker>
          <c:symbol val="none"/>
        </c:marker>
      </c:pivotFmt>
      <c:pivotFmt>
        <c:idx val="126"/>
        <c:marker>
          <c:symbol val="none"/>
        </c:marker>
      </c:pivotFmt>
      <c:pivotFmt>
        <c:idx val="127"/>
        <c:marker>
          <c:symbol val="none"/>
        </c:marker>
      </c:pivotFmt>
      <c:pivotFmt>
        <c:idx val="128"/>
        <c:marker>
          <c:symbol val="none"/>
        </c:marker>
      </c:pivotFmt>
      <c:pivotFmt>
        <c:idx val="129"/>
        <c:marker>
          <c:symbol val="none"/>
        </c:marker>
      </c:pivotFmt>
      <c:pivotFmt>
        <c:idx val="130"/>
        <c:marker>
          <c:symbol val="none"/>
        </c:marker>
      </c:pivotFmt>
      <c:pivotFmt>
        <c:idx val="131"/>
        <c:marker>
          <c:symbol val="none"/>
        </c:marker>
      </c:pivotFmt>
      <c:pivotFmt>
        <c:idx val="132"/>
        <c:marker>
          <c:symbol val="none"/>
        </c:marker>
      </c:pivotFmt>
      <c:pivotFmt>
        <c:idx val="133"/>
        <c:marker>
          <c:symbol val="none"/>
        </c:marker>
      </c:pivotFmt>
      <c:pivotFmt>
        <c:idx val="134"/>
        <c:marker>
          <c:symbol val="none"/>
        </c:marker>
      </c:pivotFmt>
      <c:pivotFmt>
        <c:idx val="135"/>
        <c:marker>
          <c:symbol val="none"/>
        </c:marker>
      </c:pivotFmt>
      <c:pivotFmt>
        <c:idx val="136"/>
        <c:marker>
          <c:symbol val="none"/>
        </c:marker>
      </c:pivotFmt>
      <c:pivotFmt>
        <c:idx val="137"/>
        <c:marker>
          <c:symbol val="none"/>
        </c:marker>
      </c:pivotFmt>
      <c:pivotFmt>
        <c:idx val="138"/>
        <c:marker>
          <c:symbol val="none"/>
        </c:marker>
      </c:pivotFmt>
      <c:pivotFmt>
        <c:idx val="139"/>
        <c:marker>
          <c:symbol val="none"/>
        </c:marker>
      </c:pivotFmt>
      <c:pivotFmt>
        <c:idx val="140"/>
        <c:marker>
          <c:symbol val="none"/>
        </c:marker>
      </c:pivotFmt>
      <c:pivotFmt>
        <c:idx val="141"/>
        <c:marker>
          <c:symbol val="none"/>
        </c:marker>
      </c:pivotFmt>
    </c:pivotFmts>
    <c:plotArea>
      <c:layout>
        <c:manualLayout>
          <c:layoutTarget val="inner"/>
          <c:xMode val="edge"/>
          <c:yMode val="edge"/>
          <c:x val="0.33599615649110243"/>
          <c:y val="0.27505395447654074"/>
          <c:w val="0.28327650918635172"/>
          <c:h val="0.64748916385451816"/>
        </c:manualLayout>
      </c:layout>
      <c:pieChart>
        <c:varyColors val="1"/>
        <c:ser>
          <c:idx val="0"/>
          <c:order val="0"/>
          <c:tx>
            <c:strRef>
              <c:f>'StateWise Pivot'!$B$3:$B$4</c:f>
              <c:strCache>
                <c:ptCount val="1"/>
                <c:pt idx="0">
                  <c:v>2019</c:v>
                </c:pt>
              </c:strCache>
            </c:strRef>
          </c:tx>
          <c:cat>
            <c:strRef>
              <c:f>'StateWise Pivot'!$A$5:$A$15</c:f>
              <c:strCache>
                <c:ptCount val="10"/>
                <c:pt idx="0">
                  <c:v>Bihar</c:v>
                </c:pt>
                <c:pt idx="1">
                  <c:v>Chhattisgarh</c:v>
                </c:pt>
                <c:pt idx="2">
                  <c:v>Gujarat</c:v>
                </c:pt>
                <c:pt idx="3">
                  <c:v>Jharkhand</c:v>
                </c:pt>
                <c:pt idx="4">
                  <c:v>Karnataka</c:v>
                </c:pt>
                <c:pt idx="5">
                  <c:v>Madhya Pradesh</c:v>
                </c:pt>
                <c:pt idx="6">
                  <c:v>Maharashtra</c:v>
                </c:pt>
                <c:pt idx="7">
                  <c:v>Odisha</c:v>
                </c:pt>
                <c:pt idx="8">
                  <c:v>Tamil Nadu</c:v>
                </c:pt>
                <c:pt idx="9">
                  <c:v>Uttar Pradesh</c:v>
                </c:pt>
              </c:strCache>
            </c:strRef>
          </c:cat>
          <c:val>
            <c:numRef>
              <c:f>'StateWise Pivot'!$B$5:$B$15</c:f>
              <c:numCache>
                <c:formatCode>General</c:formatCode>
                <c:ptCount val="10"/>
                <c:pt idx="0">
                  <c:v>1639602</c:v>
                </c:pt>
                <c:pt idx="1">
                  <c:v>2675855</c:v>
                </c:pt>
                <c:pt idx="2">
                  <c:v>9289399</c:v>
                </c:pt>
                <c:pt idx="3">
                  <c:v>7062151</c:v>
                </c:pt>
                <c:pt idx="4">
                  <c:v>4126263</c:v>
                </c:pt>
                <c:pt idx="5">
                  <c:v>12878099</c:v>
                </c:pt>
                <c:pt idx="6">
                  <c:v>55859345</c:v>
                </c:pt>
                <c:pt idx="7">
                  <c:v>5445347</c:v>
                </c:pt>
                <c:pt idx="8">
                  <c:v>6867918</c:v>
                </c:pt>
                <c:pt idx="9">
                  <c:v>7773188</c:v>
                </c:pt>
              </c:numCache>
            </c:numRef>
          </c:val>
        </c:ser>
        <c:ser>
          <c:idx val="1"/>
          <c:order val="1"/>
          <c:tx>
            <c:strRef>
              <c:f>'StateWise Pivot'!$C$3:$C$4</c:f>
              <c:strCache>
                <c:ptCount val="1"/>
                <c:pt idx="0">
                  <c:v>2020</c:v>
                </c:pt>
              </c:strCache>
            </c:strRef>
          </c:tx>
          <c:cat>
            <c:strRef>
              <c:f>'StateWise Pivot'!$A$5:$A$15</c:f>
              <c:strCache>
                <c:ptCount val="10"/>
                <c:pt idx="0">
                  <c:v>Bihar</c:v>
                </c:pt>
                <c:pt idx="1">
                  <c:v>Chhattisgarh</c:v>
                </c:pt>
                <c:pt idx="2">
                  <c:v>Gujarat</c:v>
                </c:pt>
                <c:pt idx="3">
                  <c:v>Jharkhand</c:v>
                </c:pt>
                <c:pt idx="4">
                  <c:v>Karnataka</c:v>
                </c:pt>
                <c:pt idx="5">
                  <c:v>Madhya Pradesh</c:v>
                </c:pt>
                <c:pt idx="6">
                  <c:v>Maharashtra</c:v>
                </c:pt>
                <c:pt idx="7">
                  <c:v>Odisha</c:v>
                </c:pt>
                <c:pt idx="8">
                  <c:v>Tamil Nadu</c:v>
                </c:pt>
                <c:pt idx="9">
                  <c:v>Uttar Pradesh</c:v>
                </c:pt>
              </c:strCache>
            </c:strRef>
          </c:cat>
          <c:val>
            <c:numRef>
              <c:f>'StateWise Pivot'!$C$5:$C$15</c:f>
              <c:numCache>
                <c:formatCode>General</c:formatCode>
                <c:ptCount val="10"/>
                <c:pt idx="0">
                  <c:v>1639302</c:v>
                </c:pt>
                <c:pt idx="1">
                  <c:v>2774240</c:v>
                </c:pt>
                <c:pt idx="2">
                  <c:v>12455196</c:v>
                </c:pt>
                <c:pt idx="3">
                  <c:v>7840625</c:v>
                </c:pt>
                <c:pt idx="4">
                  <c:v>6301907</c:v>
                </c:pt>
                <c:pt idx="5">
                  <c:v>17448579</c:v>
                </c:pt>
                <c:pt idx="6">
                  <c:v>78449722</c:v>
                </c:pt>
                <c:pt idx="7">
                  <c:v>11355849</c:v>
                </c:pt>
                <c:pt idx="8">
                  <c:v>8653055</c:v>
                </c:pt>
                <c:pt idx="9">
                  <c:v>9983006</c:v>
                </c:pt>
              </c:numCache>
            </c:numRef>
          </c:val>
        </c:ser>
        <c:ser>
          <c:idx val="2"/>
          <c:order val="2"/>
          <c:tx>
            <c:strRef>
              <c:f>'StateWise Pivot'!$D$3:$D$4</c:f>
              <c:strCache>
                <c:ptCount val="1"/>
                <c:pt idx="0">
                  <c:v>2021</c:v>
                </c:pt>
              </c:strCache>
            </c:strRef>
          </c:tx>
          <c:cat>
            <c:strRef>
              <c:f>'StateWise Pivot'!$A$5:$A$15</c:f>
              <c:strCache>
                <c:ptCount val="10"/>
                <c:pt idx="0">
                  <c:v>Bihar</c:v>
                </c:pt>
                <c:pt idx="1">
                  <c:v>Chhattisgarh</c:v>
                </c:pt>
                <c:pt idx="2">
                  <c:v>Gujarat</c:v>
                </c:pt>
                <c:pt idx="3">
                  <c:v>Jharkhand</c:v>
                </c:pt>
                <c:pt idx="4">
                  <c:v>Karnataka</c:v>
                </c:pt>
                <c:pt idx="5">
                  <c:v>Madhya Pradesh</c:v>
                </c:pt>
                <c:pt idx="6">
                  <c:v>Maharashtra</c:v>
                </c:pt>
                <c:pt idx="7">
                  <c:v>Odisha</c:v>
                </c:pt>
                <c:pt idx="8">
                  <c:v>Tamil Nadu</c:v>
                </c:pt>
                <c:pt idx="9">
                  <c:v>Uttar Pradesh</c:v>
                </c:pt>
              </c:strCache>
            </c:strRef>
          </c:cat>
          <c:val>
            <c:numRef>
              <c:f>'StateWise Pivot'!$D$5:$D$15</c:f>
              <c:numCache>
                <c:formatCode>General</c:formatCode>
                <c:ptCount val="10"/>
                <c:pt idx="0">
                  <c:v>1233945</c:v>
                </c:pt>
                <c:pt idx="1">
                  <c:v>1782029</c:v>
                </c:pt>
                <c:pt idx="2">
                  <c:v>16592595</c:v>
                </c:pt>
                <c:pt idx="3">
                  <c:v>7805030</c:v>
                </c:pt>
                <c:pt idx="4">
                  <c:v>7937702</c:v>
                </c:pt>
                <c:pt idx="5">
                  <c:v>20784599</c:v>
                </c:pt>
                <c:pt idx="6">
                  <c:v>119867941</c:v>
                </c:pt>
                <c:pt idx="7">
                  <c:v>21184024</c:v>
                </c:pt>
                <c:pt idx="8">
                  <c:v>10841289</c:v>
                </c:pt>
                <c:pt idx="9">
                  <c:v>12268163</c:v>
                </c:pt>
              </c:numCache>
            </c:numRef>
          </c:val>
        </c:ser>
        <c:ser>
          <c:idx val="3"/>
          <c:order val="3"/>
          <c:tx>
            <c:strRef>
              <c:f>'StateWise Pivot'!$E$3:$E$4</c:f>
              <c:strCache>
                <c:ptCount val="1"/>
                <c:pt idx="0">
                  <c:v>2022</c:v>
                </c:pt>
              </c:strCache>
            </c:strRef>
          </c:tx>
          <c:cat>
            <c:strRef>
              <c:f>'StateWise Pivot'!$A$5:$A$15</c:f>
              <c:strCache>
                <c:ptCount val="10"/>
                <c:pt idx="0">
                  <c:v>Bihar</c:v>
                </c:pt>
                <c:pt idx="1">
                  <c:v>Chhattisgarh</c:v>
                </c:pt>
                <c:pt idx="2">
                  <c:v>Gujarat</c:v>
                </c:pt>
                <c:pt idx="3">
                  <c:v>Jharkhand</c:v>
                </c:pt>
                <c:pt idx="4">
                  <c:v>Karnataka</c:v>
                </c:pt>
                <c:pt idx="5">
                  <c:v>Madhya Pradesh</c:v>
                </c:pt>
                <c:pt idx="6">
                  <c:v>Maharashtra</c:v>
                </c:pt>
                <c:pt idx="7">
                  <c:v>Odisha</c:v>
                </c:pt>
                <c:pt idx="8">
                  <c:v>Tamil Nadu</c:v>
                </c:pt>
                <c:pt idx="9">
                  <c:v>Uttar Pradesh</c:v>
                </c:pt>
              </c:strCache>
            </c:strRef>
          </c:cat>
          <c:val>
            <c:numRef>
              <c:f>'StateWise Pivot'!$E$5:$E$15</c:f>
              <c:numCache>
                <c:formatCode>General</c:formatCode>
                <c:ptCount val="10"/>
                <c:pt idx="0">
                  <c:v>6346531</c:v>
                </c:pt>
                <c:pt idx="1">
                  <c:v>3034531</c:v>
                </c:pt>
                <c:pt idx="2">
                  <c:v>15506849</c:v>
                </c:pt>
                <c:pt idx="3">
                  <c:v>11449145</c:v>
                </c:pt>
                <c:pt idx="4">
                  <c:v>7342078</c:v>
                </c:pt>
                <c:pt idx="5">
                  <c:v>18519723</c:v>
                </c:pt>
                <c:pt idx="6">
                  <c:v>123927205</c:v>
                </c:pt>
                <c:pt idx="7">
                  <c:v>23628060</c:v>
                </c:pt>
                <c:pt idx="8">
                  <c:v>12719781</c:v>
                </c:pt>
                <c:pt idx="9">
                  <c:v>15714686</c:v>
                </c:pt>
              </c:numCache>
            </c:numRef>
          </c:val>
        </c:ser>
        <c:dLbls>
          <c:showLegendKey val="0"/>
          <c:showVal val="0"/>
          <c:showCatName val="0"/>
          <c:showSerName val="0"/>
          <c:showPercent val="0"/>
          <c:showBubbleSize val="0"/>
          <c:showLeaderLines val="1"/>
        </c:dLbls>
        <c:firstSliceAng val="0"/>
      </c:pieChart>
    </c:plotArea>
    <c:legend>
      <c:legendPos val="r"/>
      <c:layout/>
      <c:overlay val="0"/>
    </c:legend>
    <c:plotVisOnly val="1"/>
    <c:dispBlanksAs val="zero"/>
    <c:showDLblsOverMax val="0"/>
  </c:chart>
  <c:spPr>
    <a:blipFill>
      <a:blip xmlns:r="http://schemas.openxmlformats.org/officeDocument/2006/relationships" r:embed="rId1"/>
      <a:tile tx="0" ty="0" sx="100000" sy="100000" flip="none" algn="tl"/>
    </a:blipFill>
  </c:spPr>
  <c:txPr>
    <a:bodyPr/>
    <a:lstStyle/>
    <a:p>
      <a:pPr>
        <a:defRPr>
          <a:solidFill>
            <a:schemeClr val="bg1"/>
          </a:solidFill>
        </a:defRPr>
      </a:pPr>
      <a:endParaRPr lang="en-US"/>
    </a:p>
  </c:txPr>
  <c:externalData r:id="rId2">
    <c:autoUpdate val="0"/>
  </c:externalData>
  <c:userShapes r:id="rId3"/>
  <c:extLst>
    <c:ext xmlns:c14="http://schemas.microsoft.com/office/drawing/2007/8/2/chart" uri="{781A3756-C4B2-4CAC-9D66-4F8BD8637D16}">
      <c14:pivotOptions>
        <c14:dropZoneFilter val="1"/>
        <c14:dropZoneCategories val="1"/>
        <c14:dropZoneData val="1"/>
        <c14:dropZoneSeries val="1"/>
      </c14:pivotOptions>
    </c:ext>
  </c:extLst>
</c:chartSpace>
</file>

<file path=ppt/charts/chart7.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[DA Test Data.xlsx]Sheet3!PivotTable2</c:name>
    <c:fmtId val="-1"/>
  </c:pivotSource>
  <c:chart>
    <c:title>
      <c:tx>
        <c:rich>
          <a:bodyPr/>
          <a:lstStyle/>
          <a:p>
            <a:pPr>
              <a:defRPr/>
            </a:pPr>
            <a:r>
              <a:rPr lang="en-US"/>
              <a:t>Top 10 Count of Customers based on Revenue</a:t>
            </a:r>
          </a:p>
        </c:rich>
      </c:tx>
      <c:layout/>
      <c:overlay val="0"/>
    </c:title>
    <c:autoTitleDeleted val="0"/>
    <c:pivotFmts>
      <c:pivotFmt>
        <c:idx val="0"/>
        <c:marker>
          <c:symbol val="none"/>
        </c:marker>
        <c:dLbl>
          <c:idx val="0"/>
          <c:spPr/>
          <c:txPr>
            <a:bodyPr/>
            <a:lstStyle/>
            <a:p>
              <a:pPr>
                <a:defRPr/>
              </a:pPr>
              <a:endParaRPr lang="en-US"/>
            </a:p>
          </c:txPr>
          <c:dLblPos val="t"/>
          <c:showLegendKey val="0"/>
          <c:showVal val="1"/>
          <c:showCatName val="0"/>
          <c:showSerName val="0"/>
          <c:showPercent val="0"/>
          <c:showBubbleSize val="0"/>
        </c:dLbl>
      </c:pivotFmt>
      <c:pivotFmt>
        <c:idx val="1"/>
        <c:marker>
          <c:symbol val="none"/>
        </c:marker>
        <c:dLbl>
          <c:idx val="0"/>
          <c:spPr/>
          <c:txPr>
            <a:bodyPr/>
            <a:lstStyle/>
            <a:p>
              <a:pPr>
                <a:defRPr/>
              </a:pPr>
              <a:endParaRPr lang="en-US"/>
            </a:p>
          </c:txPr>
          <c:dLblPos val="t"/>
          <c:showLegendKey val="0"/>
          <c:showVal val="1"/>
          <c:showCatName val="0"/>
          <c:showSerName val="0"/>
          <c:showPercent val="0"/>
          <c:showBubbleSize val="0"/>
        </c:dLbl>
      </c:pivotFmt>
      <c:pivotFmt>
        <c:idx val="2"/>
        <c:marker>
          <c:symbol val="none"/>
        </c:marker>
        <c:dLbl>
          <c:idx val="0"/>
          <c:spPr/>
          <c:txPr>
            <a:bodyPr/>
            <a:lstStyle/>
            <a:p>
              <a:pPr>
                <a:defRPr/>
              </a:pPr>
              <a:endParaRPr lang="en-US"/>
            </a:p>
          </c:txPr>
          <c:dLblPos val="t"/>
          <c:showLegendKey val="0"/>
          <c:showVal val="1"/>
          <c:showCatName val="0"/>
          <c:showSerName val="0"/>
          <c:showPercent val="0"/>
          <c:showBubbleSize val="0"/>
        </c:dLbl>
      </c:pivotFmt>
    </c:pivotFmts>
    <c:plotArea>
      <c:layout>
        <c:manualLayout>
          <c:layoutTarget val="inner"/>
          <c:xMode val="edge"/>
          <c:yMode val="edge"/>
          <c:x val="4.3789917555435785E-2"/>
          <c:y val="0.10744845677539555"/>
          <c:w val="0.94245682635493733"/>
          <c:h val="0.73733658043437234"/>
        </c:manualLayout>
      </c:layout>
      <c:lineChart>
        <c:grouping val="stacked"/>
        <c:varyColors val="0"/>
        <c:ser>
          <c:idx val="0"/>
          <c:order val="0"/>
          <c:tx>
            <c:strRef>
              <c:f>Sheet3!$B$3</c:f>
              <c:strCache>
                <c:ptCount val="1"/>
                <c:pt idx="0">
                  <c:v>Total</c:v>
                </c:pt>
              </c:strCache>
            </c:strRef>
          </c:tx>
          <c:marker>
            <c:symbol val="none"/>
          </c:marker>
          <c:dLbls>
            <c:dLblPos val="t"/>
            <c:showLegendKey val="0"/>
            <c:showVal val="1"/>
            <c:showCatName val="0"/>
            <c:showSerName val="0"/>
            <c:showPercent val="0"/>
            <c:showBubbleSize val="0"/>
            <c:showLeaderLines val="0"/>
          </c:dLbls>
          <c:cat>
            <c:strRef>
              <c:f>Sheet3!$A$4:$A$14</c:f>
              <c:strCache>
                <c:ptCount val="10"/>
                <c:pt idx="0">
                  <c:v>C21-0006</c:v>
                </c:pt>
                <c:pt idx="1">
                  <c:v>C23-0006</c:v>
                </c:pt>
                <c:pt idx="2">
                  <c:v>C24-0007</c:v>
                </c:pt>
                <c:pt idx="3">
                  <c:v>C24-0010</c:v>
                </c:pt>
                <c:pt idx="4">
                  <c:v>C24-0079</c:v>
                </c:pt>
                <c:pt idx="5">
                  <c:v>C27-0052</c:v>
                </c:pt>
                <c:pt idx="6">
                  <c:v>C27-0207</c:v>
                </c:pt>
                <c:pt idx="7">
                  <c:v>C27-0376</c:v>
                </c:pt>
                <c:pt idx="8">
                  <c:v>C27-0416</c:v>
                </c:pt>
                <c:pt idx="9">
                  <c:v>C33-0068</c:v>
                </c:pt>
              </c:strCache>
            </c:strRef>
          </c:cat>
          <c:val>
            <c:numRef>
              <c:f>Sheet3!$B$4:$B$14</c:f>
              <c:numCache>
                <c:formatCode>General</c:formatCode>
                <c:ptCount val="10"/>
                <c:pt idx="0">
                  <c:v>3516</c:v>
                </c:pt>
                <c:pt idx="1">
                  <c:v>7188</c:v>
                </c:pt>
                <c:pt idx="2">
                  <c:v>4828</c:v>
                </c:pt>
                <c:pt idx="3">
                  <c:v>3845</c:v>
                </c:pt>
                <c:pt idx="4">
                  <c:v>4367</c:v>
                </c:pt>
                <c:pt idx="5">
                  <c:v>3412</c:v>
                </c:pt>
                <c:pt idx="6">
                  <c:v>7097</c:v>
                </c:pt>
                <c:pt idx="7">
                  <c:v>8802</c:v>
                </c:pt>
                <c:pt idx="8">
                  <c:v>6303</c:v>
                </c:pt>
                <c:pt idx="9">
                  <c:v>4841</c:v>
                </c:pt>
              </c:numCache>
            </c:numRef>
          </c:val>
          <c:smooth val="0"/>
        </c:ser>
        <c:dLbls>
          <c:showLegendKey val="0"/>
          <c:showVal val="0"/>
          <c:showCatName val="0"/>
          <c:showSerName val="0"/>
          <c:showPercent val="0"/>
          <c:showBubbleSize val="0"/>
        </c:dLbls>
        <c:marker val="1"/>
        <c:smooth val="0"/>
        <c:axId val="192783360"/>
        <c:axId val="191649984"/>
      </c:lineChart>
      <c:catAx>
        <c:axId val="192783360"/>
        <c:scaling>
          <c:orientation val="minMax"/>
        </c:scaling>
        <c:delete val="0"/>
        <c:axPos val="b"/>
        <c:majorTickMark val="out"/>
        <c:minorTickMark val="none"/>
        <c:tickLblPos val="nextTo"/>
        <c:crossAx val="191649984"/>
        <c:crosses val="autoZero"/>
        <c:auto val="1"/>
        <c:lblAlgn val="ctr"/>
        <c:lblOffset val="100"/>
        <c:noMultiLvlLbl val="0"/>
      </c:catAx>
      <c:valAx>
        <c:axId val="191649984"/>
        <c:scaling>
          <c:orientation val="minMax"/>
        </c:scaling>
        <c:delete val="0"/>
        <c:axPos val="l"/>
        <c:numFmt formatCode="General" sourceLinked="1"/>
        <c:majorTickMark val="out"/>
        <c:minorTickMark val="none"/>
        <c:tickLblPos val="nextTo"/>
        <c:crossAx val="192783360"/>
        <c:crosses val="autoZero"/>
        <c:crossBetween val="between"/>
      </c:valAx>
      <c:sp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c:spPr>
    </c:plotArea>
    <c:plotVisOnly val="1"/>
    <c:dispBlanksAs val="zero"/>
    <c:showDLblsOverMax val="0"/>
  </c:chart>
  <c:spPr>
    <a:blipFill>
      <a:blip xmlns:r="http://schemas.openxmlformats.org/officeDocument/2006/relationships" r:embed="rId1"/>
      <a:tile tx="0" ty="0" sx="100000" sy="100000" flip="none" algn="tl"/>
    </a:blipFill>
  </c:spPr>
  <c:txPr>
    <a:bodyPr/>
    <a:lstStyle/>
    <a:p>
      <a:pPr>
        <a:defRPr>
          <a:solidFill>
            <a:schemeClr val="bg1"/>
          </a:solidFill>
        </a:defRPr>
      </a:pPr>
      <a:endParaRPr lang="en-US"/>
    </a:p>
  </c:txPr>
  <c:externalData r:id="rId2">
    <c:autoUpdate val="0"/>
  </c:externalData>
  <c:userShapes r:id="rId3"/>
  <c:extLst>
    <c:ext xmlns:c14="http://schemas.microsoft.com/office/drawing/2007/8/2/chart" uri="{781A3756-C4B2-4CAC-9D66-4F8BD8637D16}">
      <c14:pivotOptions>
        <c14:dropZoneFilter val="1"/>
        <c14:dropZoneCategories val="1"/>
        <c14:dropZoneData val="1"/>
      </c14:pivotOptions>
    </c:ext>
  </c:extLst>
</c:chartSpace>
</file>

<file path=ppt/drawings/_rels/drawing3.xml.rels><?xml version="1.0" encoding="UTF-8" standalone="yes"?>
<Relationships xmlns="http://schemas.openxmlformats.org/package/2006/relationships"><Relationship Id="rId1" Type="http://schemas.openxmlformats.org/officeDocument/2006/relationships/image" Target="../media/image3.png"/></Relationships>
</file>

<file path=ppt/drawings/drawing1.xml><?xml version="1.0" encoding="utf-8"?>
<c:userShapes xmlns:c="http://schemas.openxmlformats.org/drawingml/2006/chart">
  <cdr:relSizeAnchor xmlns:cdr="http://schemas.openxmlformats.org/drawingml/2006/chartDrawing">
    <cdr:from>
      <cdr:x>0.34753</cdr:x>
      <cdr:y>0.92766</cdr:y>
    </cdr:from>
    <cdr:to>
      <cdr:x>0.54829</cdr:x>
      <cdr:y>1</cdr:y>
    </cdr:to>
    <cdr:sp macro="" textlink="">
      <cdr:nvSpPr>
        <cdr:cNvPr id="2" name="TextBox 1"/>
        <cdr:cNvSpPr txBox="1"/>
      </cdr:nvSpPr>
      <cdr:spPr>
        <a:xfrm xmlns:a="http://schemas.openxmlformats.org/drawingml/2006/main">
          <a:off x="3165764" y="4800600"/>
          <a:ext cx="1828800" cy="369332"/>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1800" dirty="0" smtClean="0"/>
            <a:t>Figure. 1</a:t>
          </a:r>
          <a:endParaRPr lang="en-US" sz="1800" dirty="0"/>
        </a:p>
      </cdr:txBody>
    </cdr:sp>
  </cdr:relSizeAnchor>
</c:userShapes>
</file>

<file path=ppt/drawings/drawing2.xml><?xml version="1.0" encoding="utf-8"?>
<c:userShapes xmlns:c="http://schemas.openxmlformats.org/drawingml/2006/chart">
  <cdr:relSizeAnchor xmlns:cdr="http://schemas.openxmlformats.org/drawingml/2006/chartDrawing">
    <cdr:from>
      <cdr:x>0.40678</cdr:x>
      <cdr:y>0.9589</cdr:y>
    </cdr:from>
    <cdr:to>
      <cdr:x>0.70339</cdr:x>
      <cdr:y>1</cdr:y>
    </cdr:to>
    <cdr:sp macro="" textlink="">
      <cdr:nvSpPr>
        <cdr:cNvPr id="2" name="TextBox 1"/>
        <cdr:cNvSpPr txBox="1"/>
      </cdr:nvSpPr>
      <cdr:spPr>
        <a:xfrm xmlns:a="http://schemas.openxmlformats.org/drawingml/2006/main">
          <a:off x="3657600" y="5334000"/>
          <a:ext cx="2667000" cy="2286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dirty="0"/>
        </a:p>
      </cdr:txBody>
    </cdr:sp>
  </cdr:relSizeAnchor>
  <cdr:relSizeAnchor xmlns:cdr="http://schemas.openxmlformats.org/drawingml/2006/chartDrawing">
    <cdr:from>
      <cdr:x>0.47458</cdr:x>
      <cdr:y>0.90848</cdr:y>
    </cdr:from>
    <cdr:to>
      <cdr:x>0.72881</cdr:x>
      <cdr:y>0.97697</cdr:y>
    </cdr:to>
    <cdr:sp macro="" textlink="">
      <cdr:nvSpPr>
        <cdr:cNvPr id="3" name="TextBox 2"/>
        <cdr:cNvSpPr txBox="1"/>
      </cdr:nvSpPr>
      <cdr:spPr>
        <a:xfrm xmlns:a="http://schemas.openxmlformats.org/drawingml/2006/main">
          <a:off x="4267200" y="5191944"/>
          <a:ext cx="2286000" cy="391438"/>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1800" dirty="0" smtClean="0"/>
            <a:t>Figure. 2</a:t>
          </a:r>
          <a:endParaRPr lang="en-US" sz="1800" dirty="0"/>
        </a:p>
      </cdr:txBody>
    </cdr:sp>
  </cdr:relSizeAnchor>
</c:userShapes>
</file>

<file path=ppt/drawings/drawing3.xml><?xml version="1.0" encoding="utf-8"?>
<c:userShapes xmlns:c="http://schemas.openxmlformats.org/drawingml/2006/chart">
  <cdr:relSizeAnchor xmlns:cdr="http://schemas.openxmlformats.org/drawingml/2006/chartDrawing">
    <cdr:from>
      <cdr:x>0.43519</cdr:x>
      <cdr:y>0.93651</cdr:y>
    </cdr:from>
    <cdr:to>
      <cdr:x>0.65741</cdr:x>
      <cdr:y>1</cdr:y>
    </cdr:to>
    <cdr:sp macro="" textlink="">
      <cdr:nvSpPr>
        <cdr:cNvPr id="2" name="TextBox 1"/>
        <cdr:cNvSpPr txBox="1"/>
      </cdr:nvSpPr>
      <cdr:spPr>
        <a:xfrm xmlns:a="http://schemas.openxmlformats.org/drawingml/2006/main">
          <a:off x="3581400" y="4648200"/>
          <a:ext cx="1828800" cy="3048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dirty="0"/>
        </a:p>
      </cdr:txBody>
    </cdr:sp>
  </cdr:relSizeAnchor>
  <cdr:relSizeAnchor xmlns:cdr="http://schemas.openxmlformats.org/drawingml/2006/chartDrawing">
    <cdr:from>
      <cdr:x>0.45758</cdr:x>
      <cdr:y>0.88717</cdr:y>
    </cdr:from>
    <cdr:to>
      <cdr:x>0.56053</cdr:x>
      <cdr:y>1</cdr:y>
    </cdr:to>
    <cdr:pic>
      <cdr:nvPicPr>
        <cdr:cNvPr id="4" name="chart"/>
        <cdr:cNvPicPr>
          <a:picLocks xmlns:a="http://schemas.openxmlformats.org/drawingml/2006/main" noChangeAspect="1"/>
        </cdr:cNvPicPr>
      </cdr:nvPicPr>
      <cdr:blipFill>
        <a:blip xmlns:a="http://schemas.openxmlformats.org/drawingml/2006/main" xmlns:r="http://schemas.openxmlformats.org/officeDocument/2006/relationships" r:embed="rId1"/>
        <a:stretch xmlns:a="http://schemas.openxmlformats.org/drawingml/2006/main">
          <a:fillRect/>
        </a:stretch>
      </cdr:blipFill>
      <cdr:spPr>
        <a:xfrm xmlns:a="http://schemas.openxmlformats.org/drawingml/2006/main">
          <a:off x="5310554" y="4170556"/>
          <a:ext cx="1194920" cy="530398"/>
        </a:xfrm>
        <a:prstGeom xmlns:a="http://schemas.openxmlformats.org/drawingml/2006/main" prst="rect">
          <a:avLst/>
        </a:prstGeom>
      </cdr:spPr>
    </cdr:pic>
  </cdr:relSizeAnchor>
</c:userShapes>
</file>

<file path=ppt/drawings/drawing4.xml><?xml version="1.0" encoding="utf-8"?>
<c:userShapes xmlns:c="http://schemas.openxmlformats.org/drawingml/2006/chart">
  <cdr:relSizeAnchor xmlns:cdr="http://schemas.openxmlformats.org/drawingml/2006/chartDrawing">
    <cdr:from>
      <cdr:x>0.41</cdr:x>
      <cdr:y>0.93651</cdr:y>
    </cdr:from>
    <cdr:to>
      <cdr:x>0.61</cdr:x>
      <cdr:y>0.98413</cdr:y>
    </cdr:to>
    <cdr:sp macro="" textlink="">
      <cdr:nvSpPr>
        <cdr:cNvPr id="2" name="TextBox 1"/>
        <cdr:cNvSpPr txBox="1"/>
      </cdr:nvSpPr>
      <cdr:spPr>
        <a:xfrm xmlns:a="http://schemas.openxmlformats.org/drawingml/2006/main">
          <a:off x="3124200" y="4495800"/>
          <a:ext cx="1524000" cy="2286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dirty="0"/>
        </a:p>
      </cdr:txBody>
    </cdr:sp>
  </cdr:relSizeAnchor>
  <cdr:relSizeAnchor xmlns:cdr="http://schemas.openxmlformats.org/drawingml/2006/chartDrawing">
    <cdr:from>
      <cdr:x>0.41</cdr:x>
      <cdr:y>0.90476</cdr:y>
    </cdr:from>
    <cdr:to>
      <cdr:x>0.61</cdr:x>
      <cdr:y>1</cdr:y>
    </cdr:to>
    <cdr:sp macro="" textlink="">
      <cdr:nvSpPr>
        <cdr:cNvPr id="3" name="TextBox 2"/>
        <cdr:cNvSpPr txBox="1"/>
      </cdr:nvSpPr>
      <cdr:spPr>
        <a:xfrm xmlns:a="http://schemas.openxmlformats.org/drawingml/2006/main">
          <a:off x="3124200" y="4343400"/>
          <a:ext cx="1524000" cy="4572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1800" dirty="0" smtClean="0"/>
            <a:t>Figure. 4</a:t>
          </a:r>
          <a:endParaRPr lang="en-US" sz="1800" dirty="0"/>
        </a:p>
      </cdr:txBody>
    </cdr:sp>
  </cdr:relSizeAnchor>
</c:userShapes>
</file>

<file path=ppt/drawings/drawing5.xml><?xml version="1.0" encoding="utf-8"?>
<c:userShapes xmlns:c="http://schemas.openxmlformats.org/drawingml/2006/chart">
  <cdr:relSizeAnchor xmlns:cdr="http://schemas.openxmlformats.org/drawingml/2006/chartDrawing">
    <cdr:from>
      <cdr:x>0.39496</cdr:x>
      <cdr:y>0.9322</cdr:y>
    </cdr:from>
    <cdr:to>
      <cdr:x>0.85924</cdr:x>
      <cdr:y>1</cdr:y>
    </cdr:to>
    <cdr:sp macro="" textlink="">
      <cdr:nvSpPr>
        <cdr:cNvPr id="2" name="TextBox 1"/>
        <cdr:cNvSpPr txBox="1"/>
      </cdr:nvSpPr>
      <cdr:spPr>
        <a:xfrm xmlns:a="http://schemas.openxmlformats.org/drawingml/2006/main">
          <a:off x="3581400" y="4901339"/>
          <a:ext cx="4210050" cy="356461"/>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pPr algn="l"/>
          <a:r>
            <a:rPr lang="en-US" sz="1800" dirty="0" smtClean="0"/>
            <a:t>Figure.5</a:t>
          </a:r>
          <a:endParaRPr lang="en-US" sz="1800" dirty="0"/>
        </a:p>
      </cdr:txBody>
    </cdr:sp>
  </cdr:relSizeAnchor>
</c:userShapes>
</file>

<file path=ppt/drawings/drawing6.xml><?xml version="1.0" encoding="utf-8"?>
<c:userShapes xmlns:c="http://schemas.openxmlformats.org/drawingml/2006/chart">
  <cdr:relSizeAnchor xmlns:cdr="http://schemas.openxmlformats.org/drawingml/2006/chartDrawing">
    <cdr:from>
      <cdr:x>0.32706</cdr:x>
      <cdr:y>0.92132</cdr:y>
    </cdr:from>
    <cdr:to>
      <cdr:x>0.62335</cdr:x>
      <cdr:y>1</cdr:y>
    </cdr:to>
    <cdr:sp macro="" textlink="">
      <cdr:nvSpPr>
        <cdr:cNvPr id="2" name="TextBox 1"/>
        <cdr:cNvSpPr txBox="1"/>
      </cdr:nvSpPr>
      <cdr:spPr>
        <a:xfrm xmlns:a="http://schemas.openxmlformats.org/drawingml/2006/main">
          <a:off x="3451680" y="4255477"/>
          <a:ext cx="3126955" cy="363415"/>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pPr algn="ctr"/>
          <a:r>
            <a:rPr lang="en-US" sz="1800" dirty="0" smtClean="0"/>
            <a:t>Figure. 6</a:t>
          </a:r>
          <a:endParaRPr lang="en-US" sz="1800" dirty="0"/>
        </a:p>
      </cdr:txBody>
    </cdr:sp>
  </cdr:relSizeAnchor>
</c:userShapes>
</file>

<file path=ppt/drawings/drawing7.xml><?xml version="1.0" encoding="utf-8"?>
<c:userShapes xmlns:c="http://schemas.openxmlformats.org/drawingml/2006/chart">
  <cdr:relSizeAnchor xmlns:cdr="http://schemas.openxmlformats.org/drawingml/2006/chartDrawing">
    <cdr:from>
      <cdr:x>0.44434</cdr:x>
      <cdr:y>0.92822</cdr:y>
    </cdr:from>
    <cdr:to>
      <cdr:x>0.62988</cdr:x>
      <cdr:y>0.98515</cdr:y>
    </cdr:to>
    <cdr:sp macro="" textlink="">
      <cdr:nvSpPr>
        <cdr:cNvPr id="3" name="TextBox 2"/>
        <cdr:cNvSpPr txBox="1"/>
      </cdr:nvSpPr>
      <cdr:spPr>
        <a:xfrm xmlns:a="http://schemas.openxmlformats.org/drawingml/2006/main">
          <a:off x="5334000" y="4396153"/>
          <a:ext cx="2227384" cy="269631"/>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dirty="0"/>
        </a:p>
      </cdr:txBody>
    </cdr:sp>
  </cdr:relSizeAnchor>
  <cdr:relSizeAnchor xmlns:cdr="http://schemas.openxmlformats.org/drawingml/2006/chartDrawing">
    <cdr:from>
      <cdr:x>0.42285</cdr:x>
      <cdr:y>0.91337</cdr:y>
    </cdr:from>
    <cdr:to>
      <cdr:x>0.57812</cdr:x>
      <cdr:y>0.9901</cdr:y>
    </cdr:to>
    <cdr:sp macro="" textlink="">
      <cdr:nvSpPr>
        <cdr:cNvPr id="4" name="TextBox 3"/>
        <cdr:cNvSpPr txBox="1"/>
      </cdr:nvSpPr>
      <cdr:spPr>
        <a:xfrm xmlns:a="http://schemas.openxmlformats.org/drawingml/2006/main">
          <a:off x="5076091" y="4325815"/>
          <a:ext cx="1863970" cy="363415"/>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pPr algn="ctr"/>
          <a:r>
            <a:rPr lang="en-US" sz="1800" dirty="0" smtClean="0"/>
            <a:t>Figure. 7</a:t>
          </a:r>
        </a:p>
        <a:p xmlns:a="http://schemas.openxmlformats.org/drawingml/2006/main">
          <a:endParaRPr lang="en-US" sz="1100" dirty="0"/>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D7DD709-7C50-468A-9849-BE4F880202B7}" type="datetimeFigureOut">
              <a:rPr lang="en-US" smtClean="0"/>
              <a:t>4/23/2023</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FC81C57-61D1-487F-97BE-F27810209FEB}" type="slidenum">
              <a:rPr lang="en-US" smtClean="0"/>
              <a:t>‹#›</a:t>
            </a:fld>
            <a:endParaRPr lang="en-US"/>
          </a:p>
        </p:txBody>
      </p:sp>
    </p:spTree>
    <p:extLst>
      <p:ext uri="{BB962C8B-B14F-4D97-AF65-F5344CB8AC3E}">
        <p14:creationId xmlns:p14="http://schemas.microsoft.com/office/powerpoint/2010/main" val="26908793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 name="Freeform 6"/>
          <p:cNvSpPr/>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810001" y="1449147"/>
            <a:ext cx="10572000" cy="2971051"/>
          </a:xfrm>
        </p:spPr>
        <p:txBody>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810001" y="5280847"/>
            <a:ext cx="10572000" cy="434974"/>
          </a:xfrm>
        </p:spPr>
        <p:txBody>
          <a:bodyPr anchor="t"/>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8B9EBBA-996F-894A-B54A-D6246ED52CEA}" type="datetimeFigureOut">
              <a:rPr lang="en-US" dirty="0"/>
              <a:pPr/>
              <a:t>4/23/2023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lstStyle/>
          <a:p>
            <a:r>
              <a:rPr lang="en-US"/>
              <a:t>Click to edit Master title style</a:t>
            </a:r>
            <a:endParaRPr lang="en-US" dirty="0"/>
          </a:p>
        </p:txBody>
      </p:sp>
      <p:sp>
        <p:nvSpPr>
          <p:cNvPr id="3" name="Content Placeholder 2"/>
          <p:cNvSpPr>
            <a:spLocks noGrp="1"/>
          </p:cNvSpPr>
          <p:nvPr>
            <p:ph idx="1"/>
          </p:nvPr>
        </p:nvSpPr>
        <p:spPr>
          <a:xfrm>
            <a:off x="818712" y="2222287"/>
            <a:ext cx="10554574" cy="36365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B3A1323-8D79-1946-B0D7-40001CF92E9D}" type="datetimeFigureOut">
              <a:rPr lang="en-US" dirty="0"/>
              <a:pPr/>
              <a:t>4/23/2023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auto">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2951396"/>
            <a:ext cx="10561418" cy="1468800"/>
          </a:xfrm>
        </p:spPr>
        <p:txBody>
          <a:bodyPr anchor="b"/>
          <a:lstStyle>
            <a:lvl1pPr algn="r">
              <a:defRPr sz="4800" b="1" cap="none"/>
            </a:lvl1pPr>
          </a:lstStyle>
          <a:p>
            <a:r>
              <a:rPr lang="en-US"/>
              <a:t>Click to edit Master title style</a:t>
            </a:r>
            <a:endParaRPr lang="en-US" dirty="0"/>
          </a:p>
        </p:txBody>
      </p:sp>
      <p:sp>
        <p:nvSpPr>
          <p:cNvPr id="3" name="Text Placeholder 2"/>
          <p:cNvSpPr>
            <a:spLocks noGrp="1"/>
          </p:cNvSpPr>
          <p:nvPr>
            <p:ph type="body" idx="1"/>
          </p:nvPr>
        </p:nvSpPr>
        <p:spPr>
          <a:xfrm>
            <a:off x="810000" y="5281201"/>
            <a:ext cx="10561418" cy="433955"/>
          </a:xfrm>
        </p:spPr>
        <p:txBody>
          <a:bodyPr anchor="t">
            <a:no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DFA1846-DA80-1C48-A609-854EA85C59AD}" type="datetimeFigureOut">
              <a:rPr lang="en-US" dirty="0"/>
              <a:pPr/>
              <a:t>4/23/2023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18712" y="2222287"/>
            <a:ext cx="5185873" cy="36387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7415" y="2222287"/>
            <a:ext cx="5194583" cy="363876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7302355-E14B-8545-A8F8-0FE83CC9D524}" type="datetimeFigureOut">
              <a:rPr lang="en-US" dirty="0"/>
              <a:pPr/>
              <a:t>4/23/2023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2640F58-564D-2B4F-AE67-E407BA4FCF45}" type="datetimeFigureOut">
              <a:rPr lang="en-US" dirty="0"/>
              <a:pPr/>
              <a:t>4/23/2023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13A34C8-038E-2045-AF43-DF7DBB8E0E9E}" type="datetimeFigureOut">
              <a:rPr lang="en-US" dirty="0"/>
              <a:pPr/>
              <a:t>4/23/2023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18C68F-D26B-8F47-958C-23B49CF8A634}" type="datetimeFigureOut">
              <a:rPr lang="en-US" dirty="0"/>
              <a:pPr/>
              <a:t>4/23/2023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auto">
          <a:xfrm>
            <a:off x="1073151" y="446087"/>
            <a:ext cx="3547533" cy="181465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1618396"/>
          </a:xfrm>
        </p:spPr>
        <p:txBody>
          <a:bodyPr anchor="b"/>
          <a:lstStyle>
            <a:lvl1pPr algn="l">
              <a:defRPr sz="2000" b="1"/>
            </a:lvl1pPr>
          </a:lstStyle>
          <a:p>
            <a:r>
              <a:rPr lang="en-US"/>
              <a:t>Click to edit Master title style</a:t>
            </a:r>
            <a:endParaRPr lang="en-US" dirty="0"/>
          </a:p>
        </p:txBody>
      </p:sp>
      <p:sp>
        <p:nvSpPr>
          <p:cNvPr id="3" name="Content Placeholder 2"/>
          <p:cNvSpPr>
            <a:spLocks noGrp="1"/>
          </p:cNvSpPr>
          <p:nvPr>
            <p:ph idx="1"/>
          </p:nvPr>
        </p:nvSpPr>
        <p:spPr>
          <a:xfrm>
            <a:off x="4855633" y="446088"/>
            <a:ext cx="6252633" cy="54149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73151" y="2260738"/>
            <a:ext cx="3547533" cy="36003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0DF5E60-9974-AC48-9591-99C2BB44B7CF}" type="datetimeFigureOut">
              <a:rPr lang="en-US" dirty="0"/>
              <a:pPr/>
              <a:t>4/23/2023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4728" y="727522"/>
            <a:ext cx="4852988" cy="1617163"/>
          </a:xfrm>
        </p:spPr>
        <p:txBody>
          <a:bodyPr anchor="b">
            <a:normAutofit/>
          </a:bodyPr>
          <a:lstStyle>
            <a:lvl1pPr algn="l">
              <a:defRPr sz="2400" b="0"/>
            </a:lvl1pPr>
          </a:lstStyle>
          <a:p>
            <a:r>
              <a:rPr lang="en-US"/>
              <a:t>Click to edit Master title style</a:t>
            </a:r>
            <a:endParaRPr lang="en-US" dirty="0"/>
          </a:p>
        </p:txBody>
      </p:sp>
      <p:sp>
        <p:nvSpPr>
          <p:cNvPr id="9" name="Picture Placeholder 11"/>
          <p:cNvSpPr>
            <a:spLocks noGrp="1" noChangeAspect="1"/>
          </p:cNvSpPr>
          <p:nvPr>
            <p:ph type="pic" sz="quarter" idx="13"/>
          </p:nvPr>
        </p:nvSpPr>
        <p:spPr bwMode="auto">
          <a:xfrm>
            <a:off x="6098117" y="0"/>
            <a:ext cx="6093883" cy="68580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400"/>
            </a:lvl1pPr>
          </a:lstStyle>
          <a:p>
            <a:r>
              <a:rPr lang="en-US"/>
              <a:t>Click icon to add picture</a:t>
            </a:r>
            <a:endParaRPr lang="en-US" dirty="0"/>
          </a:p>
        </p:txBody>
      </p:sp>
      <p:sp>
        <p:nvSpPr>
          <p:cNvPr id="4" name="Text Placeholder 3"/>
          <p:cNvSpPr>
            <a:spLocks noGrp="1"/>
          </p:cNvSpPr>
          <p:nvPr>
            <p:ph type="body" sz="half" idx="2"/>
          </p:nvPr>
        </p:nvSpPr>
        <p:spPr>
          <a:xfrm>
            <a:off x="814728" y="2344684"/>
            <a:ext cx="4852988" cy="351636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885810" y="6041362"/>
            <a:ext cx="976879" cy="365125"/>
          </a:xfrm>
        </p:spPr>
        <p:txBody>
          <a:bodyPr/>
          <a:lstStyle/>
          <a:p>
            <a:fld id="{18C79C5D-2A6F-F04D-97DA-BEF2467B64E4}" type="datetimeFigureOut">
              <a:rPr lang="en-US" dirty="0"/>
              <a:pPr/>
              <a:t>4/23/2023</a:t>
            </a:fld>
            <a:endParaRPr lang="en-US" dirty="0"/>
          </a:p>
        </p:txBody>
      </p:sp>
      <p:sp>
        <p:nvSpPr>
          <p:cNvPr id="6" name="Footer Placeholder 5"/>
          <p:cNvSpPr>
            <a:spLocks noGrp="1"/>
          </p:cNvSpPr>
          <p:nvPr>
            <p:ph type="ftr" sz="quarter" idx="11"/>
          </p:nvPr>
        </p:nvSpPr>
        <p:spPr>
          <a:xfrm>
            <a:off x="590396" y="6041362"/>
            <a:ext cx="3295413" cy="365125"/>
          </a:xfrm>
        </p:spPr>
        <p:txBody>
          <a:bodyPr/>
          <a:lstStyle/>
          <a:p>
            <a:endParaRPr lang="en-US" dirty="0"/>
          </a:p>
        </p:txBody>
      </p:sp>
      <p:sp>
        <p:nvSpPr>
          <p:cNvPr id="7" name="Slide Number Placeholder 6"/>
          <p:cNvSpPr>
            <a:spLocks noGrp="1"/>
          </p:cNvSpPr>
          <p:nvPr>
            <p:ph type="sldNum" sz="quarter" idx="12"/>
          </p:nvPr>
        </p:nvSpPr>
        <p:spPr>
          <a:xfrm>
            <a:off x="4862689" y="5915888"/>
            <a:ext cx="1062155" cy="490599"/>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0000" y="4800600"/>
            <a:ext cx="10561418" cy="566738"/>
          </a:xfrm>
        </p:spPr>
        <p:txBody>
          <a:bodyPr anchor="b">
            <a:normAutofit/>
          </a:bodyPr>
          <a:lstStyle>
            <a:lvl1pPr algn="l">
              <a:defRPr sz="2400" b="0"/>
            </a:lvl1pPr>
          </a:lstStyle>
          <a:p>
            <a:r>
              <a:rPr lang="en-US"/>
              <a:t>Click to edit Master title style</a:t>
            </a:r>
            <a:endParaRPr lang="en-US" dirty="0"/>
          </a:p>
        </p:txBody>
      </p:sp>
      <p:sp>
        <p:nvSpPr>
          <p:cNvPr id="15" name="Picture Placeholder 14"/>
          <p:cNvSpPr>
            <a:spLocks noGrp="1" noChangeAspect="1"/>
          </p:cNvSpPr>
          <p:nvPr>
            <p:ph type="pic" sz="quarter" idx="13"/>
          </p:nvPr>
        </p:nvSpPr>
        <p:spPr bwMode="auto">
          <a:xfrm>
            <a:off x="0" y="0"/>
            <a:ext cx="12192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600"/>
            </a:lvl1pPr>
          </a:lstStyle>
          <a:p>
            <a:r>
              <a:rPr lang="en-US"/>
              <a:t>Click icon to add picture</a:t>
            </a:r>
            <a:endParaRPr lang="en-US" dirty="0"/>
          </a:p>
        </p:txBody>
      </p:sp>
      <p:sp>
        <p:nvSpPr>
          <p:cNvPr id="4" name="Text Placeholder 3"/>
          <p:cNvSpPr>
            <a:spLocks noGrp="1"/>
          </p:cNvSpPr>
          <p:nvPr>
            <p:ph type="body" sz="half" idx="2"/>
          </p:nvPr>
        </p:nvSpPr>
        <p:spPr>
          <a:xfrm>
            <a:off x="810000" y="5367338"/>
            <a:ext cx="10561418"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C79C5D-2A6F-F04D-97DA-BEF2467B64E4}" type="datetimeFigureOut">
              <a:rPr lang="en-US" dirty="0"/>
              <a:pPr/>
              <a:t>4/23/2023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auto">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b"/>
          <a:lstStyle>
            <a:lvl1pPr algn="l">
              <a:defRPr sz="4200" b="1" cap="none"/>
            </a:lvl1pPr>
          </a:lstStyle>
          <a:p>
            <a:r>
              <a:rPr lang="en-US"/>
              <a:t>Click to edit Master title style</a:t>
            </a:r>
            <a:endParaRPr lang="en-US" dirty="0"/>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Text Placeholder 5"/>
          <p:cNvSpPr>
            <a:spLocks noGrp="1"/>
          </p:cNvSpPr>
          <p:nvPr>
            <p:ph type="body" sz="quarter" idx="16"/>
          </p:nvPr>
        </p:nvSpPr>
        <p:spPr>
          <a:xfrm>
            <a:off x="7574642" y="1081456"/>
            <a:ext cx="3810001" cy="4075465"/>
          </a:xfrm>
        </p:spPr>
        <p:txBody>
          <a:bodyPr anchor="t"/>
          <a:lstStyle>
            <a:lvl1pPr marL="0" indent="0">
              <a:buFontTx/>
              <a:buNone/>
              <a:defRPr/>
            </a:lvl1pPr>
          </a:lstStyle>
          <a:p>
            <a:pPr lvl="0"/>
            <a:r>
              <a:rPr lang="en-US"/>
              <a:t>Click to edit Master text styles</a:t>
            </a:r>
          </a:p>
        </p:txBody>
      </p:sp>
      <p:sp>
        <p:nvSpPr>
          <p:cNvPr id="4" name="Date Placeholder 3"/>
          <p:cNvSpPr>
            <a:spLocks noGrp="1"/>
          </p:cNvSpPr>
          <p:nvPr>
            <p:ph type="dt" sz="half" idx="10"/>
          </p:nvPr>
        </p:nvSpPr>
        <p:spPr/>
        <p:txBody>
          <a:bodyPr/>
          <a:lstStyle/>
          <a:p>
            <a:fld id="{8DFA1846-DA80-1C48-A609-854EA85C59AD}" type="datetimeFigureOut">
              <a:rPr lang="en-US" dirty="0"/>
              <a:pPr/>
              <a:t>4/23/2023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auto">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lstStyle>
            <a:lvl1pPr>
              <a:defRPr sz="3200"/>
            </a:lvl1pPr>
          </a:lstStyle>
          <a:p>
            <a:r>
              <a:rPr lang="en-US"/>
              <a:t>Click to edit Master title style</a:t>
            </a:r>
            <a:endParaRPr lang="en-US" dirty="0"/>
          </a:p>
        </p:txBody>
      </p:sp>
      <p:sp>
        <p:nvSpPr>
          <p:cNvPr id="6" name="Text Placeholder 5"/>
          <p:cNvSpPr>
            <a:spLocks noGrp="1"/>
          </p:cNvSpPr>
          <p:nvPr>
            <p:ph type="body" sz="quarter" idx="16"/>
          </p:nvPr>
        </p:nvSpPr>
        <p:spPr>
          <a:xfrm>
            <a:off x="6156000" y="2286000"/>
            <a:ext cx="4880300" cy="2295525"/>
          </a:xfrm>
        </p:spPr>
        <p:txBody>
          <a:bodyPr anchor="t"/>
          <a:lstStyle>
            <a:lvl1pPr marL="0" indent="0">
              <a:buFontTx/>
              <a:buNone/>
              <a:defRPr/>
            </a:lvl1pPr>
          </a:lstStyle>
          <a:p>
            <a:pPr lvl="0"/>
            <a:r>
              <a:rPr lang="en-US"/>
              <a:t>Click to edit Master text styles</a:t>
            </a:r>
          </a:p>
        </p:txBody>
      </p:sp>
      <p:sp>
        <p:nvSpPr>
          <p:cNvPr id="2" name="Date Placeholder 1"/>
          <p:cNvSpPr>
            <a:spLocks noGrp="1"/>
          </p:cNvSpPr>
          <p:nvPr>
            <p:ph type="dt" sz="half" idx="10"/>
          </p:nvPr>
        </p:nvSpPr>
        <p:spPr/>
        <p:txBody>
          <a:bodyPr/>
          <a:lstStyle/>
          <a:p>
            <a:fld id="{FBF54567-0DE4-3F47-BF90-CB84690072F9}" type="datetimeFigureOut">
              <a:rPr lang="en-US" dirty="0"/>
              <a:pPr/>
              <a:t>4/23/2023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C52C72-DE31-F449-A4ED-4C594FD91407}" type="datetimeFigureOut">
              <a:rPr lang="en-US" dirty="0"/>
              <a:pPr/>
              <a:t>4/23/2023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auto">
          <a:xfrm>
            <a:off x="7669651" y="446089"/>
            <a:ext cx="4522349" cy="541496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2494791" cy="51347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10001" y="446089"/>
            <a:ext cx="6611540" cy="5414962"/>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62726E-379B-B349-9EED-81ED093FA806}" type="datetimeFigureOut">
              <a:rPr lang="en-US" dirty="0"/>
              <a:pPr/>
              <a:t>4/23/2023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en-US"/>
              <a:t>Click to edit Master title style</a:t>
            </a:r>
            <a:endParaRPr lang="en-US" dirty="0"/>
          </a:p>
        </p:txBody>
      </p:sp>
      <p:sp>
        <p:nvSpPr>
          <p:cNvPr id="3" name="Text Placeholder 2"/>
          <p:cNvSpPr>
            <a:spLocks noGrp="1"/>
          </p:cNvSpPr>
          <p:nvPr>
            <p:ph type="body" idx="1"/>
          </p:nvPr>
        </p:nvSpPr>
        <p:spPr>
          <a:xfrm>
            <a:off x="810000" y="2184401"/>
            <a:ext cx="10563285" cy="3674397"/>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lang="en-US" dirty="0"/>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09B482E8-6E0E-1B4F-B1FD-C69DB9E858D9}" type="datetimeFigureOut">
              <a:rPr lang="en-US" dirty="0"/>
              <a:pPr/>
              <a:t>4/23/2023</a:t>
            </a:fld>
            <a:endParaRPr lang="en-US" dirty="0"/>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3" r:id="rId9"/>
    <p:sldLayoutId id="2147483657" r:id="rId10"/>
    <p:sldLayoutId id="2147483666" r:id="rId11"/>
    <p:sldLayoutId id="2147483661" r:id="rId12"/>
    <p:sldLayoutId id="2147483658" r:id="rId13"/>
    <p:sldLayoutId id="2147483659" r:id="rId14"/>
  </p:sldLayoutIdLst>
  <p:hf sldNum="0" hdr="0" ftr="0" dt="0"/>
  <p:txStyles>
    <p:titleStyle>
      <a:lvl1pPr algn="l" defTabSz="457200" rtl="0" eaLnBrk="1" latinLnBrk="0" hangingPunct="1">
        <a:spcBef>
          <a:spcPct val="0"/>
        </a:spcBef>
        <a:buNone/>
        <a:defRPr sz="4000" b="1" kern="1200">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96FF3F5-C879-2C04-A330-9F10A8559CAF}"/>
              </a:ext>
            </a:extLst>
          </p:cNvPr>
          <p:cNvSpPr>
            <a:spLocks noGrp="1"/>
          </p:cNvSpPr>
          <p:nvPr>
            <p:ph type="ctrTitle"/>
          </p:nvPr>
        </p:nvSpPr>
        <p:spPr>
          <a:xfrm>
            <a:off x="656820" y="637128"/>
            <a:ext cx="10572000" cy="2971051"/>
          </a:xfrm>
        </p:spPr>
        <p:txBody>
          <a:bodyPr/>
          <a:lstStyle/>
          <a:p>
            <a:pPr algn="ctr"/>
            <a:r>
              <a:rPr lang="en-US" sz="4800" i="1" dirty="0">
                <a:solidFill>
                  <a:schemeClr val="bg1"/>
                </a:solidFill>
                <a:latin typeface="Aharoni" panose="02010803020104030203" pitchFamily="2" charset="-79"/>
                <a:cs typeface="Aharoni" panose="02010803020104030203" pitchFamily="2" charset="-79"/>
              </a:rPr>
              <a:t>Sales KPI Analysis</a:t>
            </a:r>
            <a:r>
              <a:rPr lang="en-US" sz="4800" dirty="0">
                <a:solidFill>
                  <a:srgbClr val="FF0000"/>
                </a:solidFill>
                <a:effectLst>
                  <a:outerShdw blurRad="38100" dist="38100" dir="2700000" algn="tl">
                    <a:srgbClr val="000000">
                      <a:alpha val="43137"/>
                    </a:srgbClr>
                  </a:outerShdw>
                </a:effectLst>
              </a:rPr>
              <a:t/>
            </a:r>
            <a:br>
              <a:rPr lang="en-US" sz="4800" dirty="0">
                <a:solidFill>
                  <a:srgbClr val="FF0000"/>
                </a:solidFill>
                <a:effectLst>
                  <a:outerShdw blurRad="38100" dist="38100" dir="2700000" algn="tl">
                    <a:srgbClr val="000000">
                      <a:alpha val="43137"/>
                    </a:srgbClr>
                  </a:outerShdw>
                </a:effectLst>
              </a:rPr>
            </a:br>
            <a:endParaRPr lang="en-IN" sz="4800" dirty="0">
              <a:solidFill>
                <a:srgbClr val="FF0000"/>
              </a:solidFill>
              <a:effectLst>
                <a:outerShdw blurRad="38100" dist="38100" dir="2700000" algn="tl">
                  <a:srgbClr val="000000">
                    <a:alpha val="43137"/>
                  </a:srgbClr>
                </a:outerShdw>
              </a:effectLst>
              <a:latin typeface="Aparajita" panose="020B0604020202020204" pitchFamily="34" charset="0"/>
              <a:cs typeface="Aparajita" panose="020B0604020202020204" pitchFamily="34" charset="0"/>
            </a:endParaRPr>
          </a:p>
        </p:txBody>
      </p:sp>
    </p:spTree>
    <p:extLst>
      <p:ext uri="{BB962C8B-B14F-4D97-AF65-F5344CB8AC3E}">
        <p14:creationId xmlns:p14="http://schemas.microsoft.com/office/powerpoint/2010/main" val="391775953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8068" y="245633"/>
            <a:ext cx="10572000" cy="1087991"/>
          </a:xfrm>
        </p:spPr>
        <p:txBody>
          <a:bodyPr/>
          <a:lstStyle/>
          <a:p>
            <a:pPr algn="ctr"/>
            <a:r>
              <a:rPr lang="en-US" sz="3200" dirty="0" smtClean="0">
                <a:solidFill>
                  <a:srgbClr val="FF0000"/>
                </a:solidFill>
                <a:latin typeface="Times New Roman" panose="02020603050405020304" pitchFamily="18" charset="0"/>
                <a:cs typeface="Times New Roman" panose="02020603050405020304" pitchFamily="18" charset="0"/>
              </a:rPr>
              <a:t>Table of Contents</a:t>
            </a:r>
            <a:endParaRPr lang="en-US" sz="3200" dirty="0">
              <a:solidFill>
                <a:srgbClr val="FF0000"/>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877237" y="1703929"/>
            <a:ext cx="10572000" cy="2478105"/>
          </a:xfrm>
        </p:spPr>
        <p:txBody>
          <a:bodyPr>
            <a:normAutofit fontScale="25000" lnSpcReduction="20000"/>
          </a:bodyPr>
          <a:lstStyle/>
          <a:p>
            <a:pPr marL="514350" indent="-514350" algn="just">
              <a:buClrTx/>
              <a:buFont typeface="+mj-lt"/>
              <a:buAutoNum type="arabicPeriod"/>
            </a:pPr>
            <a:r>
              <a:rPr lang="en-US" sz="8000" dirty="0">
                <a:solidFill>
                  <a:schemeClr val="bg1"/>
                </a:solidFill>
                <a:latin typeface="Times New Roman" panose="02020603050405020304" pitchFamily="18" charset="0"/>
                <a:cs typeface="Times New Roman" panose="02020603050405020304" pitchFamily="18" charset="0"/>
              </a:rPr>
              <a:t>Collection of Sales data </a:t>
            </a:r>
          </a:p>
          <a:p>
            <a:pPr marL="514350" indent="-514350" algn="just">
              <a:buClrTx/>
              <a:buFont typeface="+mj-lt"/>
              <a:buAutoNum type="arabicPeriod"/>
            </a:pPr>
            <a:r>
              <a:rPr lang="en-US" sz="8000" dirty="0" smtClean="0">
                <a:solidFill>
                  <a:schemeClr val="bg1"/>
                </a:solidFill>
                <a:latin typeface="Times New Roman" panose="02020603050405020304" pitchFamily="18" charset="0"/>
                <a:cs typeface="Times New Roman" panose="02020603050405020304" pitchFamily="18" charset="0"/>
              </a:rPr>
              <a:t>Aggregations and  visualization of Data</a:t>
            </a:r>
          </a:p>
          <a:p>
            <a:pPr marL="514350" indent="-514350" algn="just">
              <a:buClrTx/>
              <a:buFont typeface="+mj-lt"/>
              <a:buAutoNum type="arabicPeriod"/>
            </a:pPr>
            <a:r>
              <a:rPr lang="en-US" sz="8000" dirty="0" smtClean="0">
                <a:solidFill>
                  <a:schemeClr val="bg1"/>
                </a:solidFill>
                <a:latin typeface="Times New Roman" panose="02020603050405020304" pitchFamily="18" charset="0"/>
                <a:cs typeface="Times New Roman" panose="02020603050405020304" pitchFamily="18" charset="0"/>
              </a:rPr>
              <a:t>Dashboard</a:t>
            </a:r>
            <a:endParaRPr lang="en-US" sz="8000" dirty="0">
              <a:solidFill>
                <a:schemeClr val="bg1"/>
              </a:solidFill>
              <a:latin typeface="Times New Roman" panose="02020603050405020304" pitchFamily="18" charset="0"/>
              <a:cs typeface="Times New Roman" panose="02020603050405020304" pitchFamily="18" charset="0"/>
            </a:endParaRPr>
          </a:p>
          <a:p>
            <a:pPr marL="514350" indent="-514350" algn="just">
              <a:buClrTx/>
              <a:buFont typeface="+mj-lt"/>
              <a:buAutoNum type="arabicPeriod"/>
            </a:pPr>
            <a:r>
              <a:rPr lang="en-US" sz="8000" dirty="0">
                <a:solidFill>
                  <a:schemeClr val="bg1"/>
                </a:solidFill>
                <a:latin typeface="Times New Roman" panose="02020603050405020304" pitchFamily="18" charset="0"/>
                <a:cs typeface="Times New Roman" panose="02020603050405020304" pitchFamily="18" charset="0"/>
              </a:rPr>
              <a:t>Overview of Sales Data</a:t>
            </a:r>
          </a:p>
          <a:p>
            <a:pPr marL="514350" indent="-514350" algn="just">
              <a:buClrTx/>
              <a:buFont typeface="+mj-lt"/>
              <a:buAutoNum type="arabicPeriod"/>
            </a:pPr>
            <a:r>
              <a:rPr lang="en-US" sz="8000" dirty="0">
                <a:solidFill>
                  <a:schemeClr val="bg1"/>
                </a:solidFill>
                <a:latin typeface="Times New Roman" panose="02020603050405020304" pitchFamily="18" charset="0"/>
                <a:cs typeface="Times New Roman" panose="02020603050405020304" pitchFamily="18" charset="0"/>
              </a:rPr>
              <a:t>Sales Performance or Sales Insight</a:t>
            </a:r>
          </a:p>
          <a:p>
            <a:pPr marL="514350" indent="-514350" algn="just">
              <a:buClrTx/>
              <a:buFont typeface="+mj-lt"/>
              <a:buAutoNum type="arabicPeriod"/>
            </a:pPr>
            <a:r>
              <a:rPr lang="en-US" sz="8000" dirty="0">
                <a:solidFill>
                  <a:schemeClr val="bg1"/>
                </a:solidFill>
                <a:latin typeface="Times New Roman" panose="02020603050405020304" pitchFamily="18" charset="0"/>
                <a:cs typeface="Times New Roman" panose="02020603050405020304" pitchFamily="18" charset="0"/>
              </a:rPr>
              <a:t>Conclusion</a:t>
            </a:r>
          </a:p>
          <a:p>
            <a:pPr marL="514350" indent="-514350" algn="just">
              <a:buClrTx/>
              <a:buFont typeface="+mj-lt"/>
              <a:buAutoNum type="arabicPeriod"/>
            </a:pPr>
            <a:r>
              <a:rPr lang="en-US" sz="8000" dirty="0">
                <a:solidFill>
                  <a:schemeClr val="bg1"/>
                </a:solidFill>
                <a:latin typeface="Times New Roman" panose="02020603050405020304" pitchFamily="18" charset="0"/>
                <a:cs typeface="Times New Roman" panose="02020603050405020304" pitchFamily="18" charset="0"/>
              </a:rPr>
              <a:t>Recommendations</a:t>
            </a:r>
          </a:p>
          <a:p>
            <a:pPr marL="285750" indent="-285750">
              <a:buFont typeface="Arial" panose="020B0604020202020204" pitchFamily="34" charset="0"/>
              <a:buChar char="•"/>
            </a:pPr>
            <a:endParaRPr lang="en-US" sz="3200" dirty="0" smtClean="0">
              <a:solidFill>
                <a:schemeClr val="bg1"/>
              </a:solidFill>
            </a:endParaRPr>
          </a:p>
          <a:p>
            <a:pPr marL="285750" indent="-285750">
              <a:buFont typeface="Arial" panose="020B0604020202020204" pitchFamily="34" charset="0"/>
              <a:buChar char="•"/>
            </a:pPr>
            <a:endParaRPr lang="en-US" dirty="0">
              <a:solidFill>
                <a:schemeClr val="bg1"/>
              </a:solidFill>
            </a:endParaRPr>
          </a:p>
        </p:txBody>
      </p:sp>
    </p:spTree>
    <p:extLst>
      <p:ext uri="{BB962C8B-B14F-4D97-AF65-F5344CB8AC3E}">
        <p14:creationId xmlns:p14="http://schemas.microsoft.com/office/powerpoint/2010/main" val="97420900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a:spLocks noGrp="1"/>
          </p:cNvSpPr>
          <p:nvPr>
            <p:ph type="ctrTitle"/>
          </p:nvPr>
        </p:nvSpPr>
        <p:spPr>
          <a:xfrm>
            <a:off x="798278" y="933332"/>
            <a:ext cx="10572000" cy="1821592"/>
          </a:xfrm>
        </p:spPr>
        <p:txBody>
          <a:bodyPr/>
          <a:lstStyle/>
          <a:p>
            <a:pPr algn="ctr"/>
            <a:r>
              <a:rPr lang="en-US" sz="3200" dirty="0">
                <a:solidFill>
                  <a:schemeClr val="bg1"/>
                </a:solidFill>
                <a:latin typeface="Times New Roman" panose="02020603050405020304" pitchFamily="18" charset="0"/>
                <a:cs typeface="Times New Roman" panose="02020603050405020304" pitchFamily="18" charset="0"/>
              </a:rPr>
              <a:t>1. Collection of Sales Data </a:t>
            </a:r>
            <a:endParaRPr lang="en-US" sz="3200" dirty="0">
              <a:solidFill>
                <a:schemeClr val="bg1"/>
              </a:solidFill>
            </a:endParaRPr>
          </a:p>
        </p:txBody>
      </p:sp>
    </p:spTree>
    <p:extLst>
      <p:ext uri="{BB962C8B-B14F-4D97-AF65-F5344CB8AC3E}">
        <p14:creationId xmlns:p14="http://schemas.microsoft.com/office/powerpoint/2010/main" val="31885042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0000" y="472328"/>
            <a:ext cx="10571998" cy="945309"/>
          </a:xfrm>
        </p:spPr>
        <p:txBody>
          <a:bodyPr/>
          <a:lstStyle/>
          <a:p>
            <a:pPr algn="ctr"/>
            <a:r>
              <a:rPr lang="en-US" sz="3200" dirty="0">
                <a:solidFill>
                  <a:schemeClr val="bg1"/>
                </a:solidFill>
                <a:latin typeface="Times New Roman" panose="02020603050405020304" pitchFamily="18" charset="0"/>
                <a:cs typeface="Times New Roman" panose="02020603050405020304" pitchFamily="18" charset="0"/>
              </a:rPr>
              <a:t>Total Revenue Data in Each Year</a:t>
            </a:r>
            <a:endParaRPr lang="en-US" sz="3200" dirty="0">
              <a:solidFill>
                <a:schemeClr val="bg1"/>
              </a:solidFill>
            </a:endParaRPr>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649565469"/>
              </p:ext>
            </p:extLst>
          </p:nvPr>
        </p:nvGraphicFramePr>
        <p:xfrm>
          <a:off x="117231" y="2320620"/>
          <a:ext cx="11898923" cy="4103628"/>
        </p:xfrm>
        <a:graphic>
          <a:graphicData uri="http://schemas.openxmlformats.org/drawingml/2006/table">
            <a:tbl>
              <a:tblPr>
                <a:tableStyleId>{5C22544A-7EE6-4342-B048-85BDC9FD1C3A}</a:tableStyleId>
              </a:tblPr>
              <a:tblGrid>
                <a:gridCol w="5003489"/>
                <a:gridCol w="6895434"/>
              </a:tblGrid>
              <a:tr h="683938">
                <a:tc>
                  <a:txBody>
                    <a:bodyPr/>
                    <a:lstStyle/>
                    <a:p>
                      <a:pPr algn="ctr" fontAlgn="b"/>
                      <a:r>
                        <a:rPr lang="en-US" sz="1200" b="1" u="none" strike="noStrike" dirty="0">
                          <a:effectLst/>
                        </a:rPr>
                        <a:t>Row Labels</a:t>
                      </a:r>
                      <a:endParaRPr lang="en-US" sz="1200" b="1" i="0" u="none" strike="noStrike" dirty="0">
                        <a:solidFill>
                          <a:srgbClr val="000000"/>
                        </a:solidFill>
                        <a:effectLst/>
                        <a:latin typeface="Constantia"/>
                      </a:endParaRPr>
                    </a:p>
                  </a:txBody>
                  <a:tcPr marL="9525" marR="9525" marT="9525" marB="0" anchor="b"/>
                </a:tc>
                <a:tc>
                  <a:txBody>
                    <a:bodyPr/>
                    <a:lstStyle/>
                    <a:p>
                      <a:pPr algn="ctr" fontAlgn="b"/>
                      <a:r>
                        <a:rPr lang="en-US" sz="1200" b="1" u="none" strike="noStrike">
                          <a:effectLst/>
                        </a:rPr>
                        <a:t>Sum of OrderValue</a:t>
                      </a:r>
                      <a:endParaRPr lang="en-US" sz="1200" b="1" i="0" u="none" strike="noStrike">
                        <a:solidFill>
                          <a:srgbClr val="000000"/>
                        </a:solidFill>
                        <a:effectLst/>
                        <a:latin typeface="Constantia"/>
                      </a:endParaRPr>
                    </a:p>
                  </a:txBody>
                  <a:tcPr marL="9525" marR="9525" marT="9525" marB="0" anchor="b"/>
                </a:tc>
              </a:tr>
              <a:tr h="683938">
                <a:tc>
                  <a:txBody>
                    <a:bodyPr/>
                    <a:lstStyle/>
                    <a:p>
                      <a:pPr algn="ctr" fontAlgn="b"/>
                      <a:r>
                        <a:rPr lang="en-US" sz="1200" b="1" u="none" strike="noStrike" dirty="0">
                          <a:effectLst/>
                        </a:rPr>
                        <a:t>2019</a:t>
                      </a:r>
                      <a:endParaRPr lang="en-US" sz="1200" b="1" i="0" u="none" strike="noStrike" dirty="0">
                        <a:solidFill>
                          <a:srgbClr val="000000"/>
                        </a:solidFill>
                        <a:effectLst/>
                        <a:latin typeface="Constantia"/>
                      </a:endParaRPr>
                    </a:p>
                  </a:txBody>
                  <a:tcPr marL="9525" marR="9525" marT="9525" marB="0" anchor="b"/>
                </a:tc>
                <a:tc>
                  <a:txBody>
                    <a:bodyPr/>
                    <a:lstStyle/>
                    <a:p>
                      <a:pPr algn="ctr" fontAlgn="b"/>
                      <a:r>
                        <a:rPr lang="en-US" sz="1200" b="1" u="none" strike="noStrike">
                          <a:effectLst/>
                        </a:rPr>
                        <a:t>121683482</a:t>
                      </a:r>
                      <a:endParaRPr lang="en-US" sz="1200" b="1" i="0" u="none" strike="noStrike">
                        <a:solidFill>
                          <a:srgbClr val="000000"/>
                        </a:solidFill>
                        <a:effectLst/>
                        <a:latin typeface="Constantia"/>
                      </a:endParaRPr>
                    </a:p>
                  </a:txBody>
                  <a:tcPr marL="9525" marR="9525" marT="9525" marB="0" anchor="b"/>
                </a:tc>
              </a:tr>
              <a:tr h="683938">
                <a:tc>
                  <a:txBody>
                    <a:bodyPr/>
                    <a:lstStyle/>
                    <a:p>
                      <a:pPr algn="ctr" fontAlgn="b"/>
                      <a:r>
                        <a:rPr lang="en-US" sz="1200" b="1" u="none" strike="noStrike" dirty="0">
                          <a:effectLst/>
                        </a:rPr>
                        <a:t>2020</a:t>
                      </a:r>
                      <a:endParaRPr lang="en-US" sz="1200" b="1" i="0" u="none" strike="noStrike" dirty="0">
                        <a:solidFill>
                          <a:srgbClr val="000000"/>
                        </a:solidFill>
                        <a:effectLst/>
                        <a:latin typeface="Constantia"/>
                      </a:endParaRPr>
                    </a:p>
                  </a:txBody>
                  <a:tcPr marL="9525" marR="9525" marT="9525" marB="0" anchor="b"/>
                </a:tc>
                <a:tc>
                  <a:txBody>
                    <a:bodyPr/>
                    <a:lstStyle/>
                    <a:p>
                      <a:pPr algn="ctr" fontAlgn="b"/>
                      <a:r>
                        <a:rPr lang="en-US" sz="1200" b="1" u="none" strike="noStrike" dirty="0">
                          <a:effectLst/>
                        </a:rPr>
                        <a:t>164896672</a:t>
                      </a:r>
                      <a:endParaRPr lang="en-US" sz="1200" b="1" i="0" u="none" strike="noStrike" dirty="0">
                        <a:solidFill>
                          <a:srgbClr val="000000"/>
                        </a:solidFill>
                        <a:effectLst/>
                        <a:latin typeface="Constantia"/>
                      </a:endParaRPr>
                    </a:p>
                  </a:txBody>
                  <a:tcPr marL="9525" marR="9525" marT="9525" marB="0" anchor="b"/>
                </a:tc>
              </a:tr>
              <a:tr h="683938">
                <a:tc>
                  <a:txBody>
                    <a:bodyPr/>
                    <a:lstStyle/>
                    <a:p>
                      <a:pPr algn="ctr" fontAlgn="b"/>
                      <a:r>
                        <a:rPr lang="en-US" sz="1200" b="1" u="none" strike="noStrike" dirty="0">
                          <a:effectLst/>
                        </a:rPr>
                        <a:t>2021</a:t>
                      </a:r>
                      <a:endParaRPr lang="en-US" sz="1200" b="1" i="0" u="none" strike="noStrike" dirty="0">
                        <a:solidFill>
                          <a:srgbClr val="000000"/>
                        </a:solidFill>
                        <a:effectLst/>
                        <a:latin typeface="Constantia"/>
                      </a:endParaRPr>
                    </a:p>
                  </a:txBody>
                  <a:tcPr marL="9525" marR="9525" marT="9525" marB="0" anchor="b"/>
                </a:tc>
                <a:tc>
                  <a:txBody>
                    <a:bodyPr/>
                    <a:lstStyle/>
                    <a:p>
                      <a:pPr algn="ctr" fontAlgn="b"/>
                      <a:r>
                        <a:rPr lang="en-US" sz="1200" b="1" u="none" strike="noStrike" dirty="0">
                          <a:effectLst/>
                        </a:rPr>
                        <a:t>230274704</a:t>
                      </a:r>
                      <a:endParaRPr lang="en-US" sz="1200" b="1" i="0" u="none" strike="noStrike" dirty="0">
                        <a:solidFill>
                          <a:srgbClr val="000000"/>
                        </a:solidFill>
                        <a:effectLst/>
                        <a:latin typeface="Constantia"/>
                      </a:endParaRPr>
                    </a:p>
                  </a:txBody>
                  <a:tcPr marL="9525" marR="9525" marT="9525" marB="0" anchor="b"/>
                </a:tc>
              </a:tr>
              <a:tr h="683938">
                <a:tc>
                  <a:txBody>
                    <a:bodyPr/>
                    <a:lstStyle/>
                    <a:p>
                      <a:pPr algn="ctr" fontAlgn="b"/>
                      <a:r>
                        <a:rPr lang="en-US" sz="1200" b="1" u="none" strike="noStrike">
                          <a:effectLst/>
                        </a:rPr>
                        <a:t>2022</a:t>
                      </a:r>
                      <a:endParaRPr lang="en-US" sz="1200" b="1" i="0" u="none" strike="noStrike">
                        <a:solidFill>
                          <a:srgbClr val="000000"/>
                        </a:solidFill>
                        <a:effectLst/>
                        <a:latin typeface="Constantia"/>
                      </a:endParaRPr>
                    </a:p>
                  </a:txBody>
                  <a:tcPr marL="9525" marR="9525" marT="9525" marB="0" anchor="b"/>
                </a:tc>
                <a:tc>
                  <a:txBody>
                    <a:bodyPr/>
                    <a:lstStyle/>
                    <a:p>
                      <a:pPr algn="ctr" fontAlgn="b"/>
                      <a:r>
                        <a:rPr lang="en-US" sz="1200" b="1" u="none" strike="noStrike" dirty="0">
                          <a:effectLst/>
                        </a:rPr>
                        <a:t>248587099</a:t>
                      </a:r>
                      <a:endParaRPr lang="en-US" sz="1200" b="1" i="0" u="none" strike="noStrike" dirty="0">
                        <a:solidFill>
                          <a:srgbClr val="000000"/>
                        </a:solidFill>
                        <a:effectLst/>
                        <a:latin typeface="Constantia"/>
                      </a:endParaRPr>
                    </a:p>
                  </a:txBody>
                  <a:tcPr marL="9525" marR="9525" marT="9525" marB="0" anchor="b"/>
                </a:tc>
              </a:tr>
              <a:tr h="683938">
                <a:tc>
                  <a:txBody>
                    <a:bodyPr/>
                    <a:lstStyle/>
                    <a:p>
                      <a:pPr algn="ctr" fontAlgn="b"/>
                      <a:r>
                        <a:rPr lang="en-US" sz="1200" b="1" u="none" strike="noStrike">
                          <a:effectLst/>
                        </a:rPr>
                        <a:t>Grand Total</a:t>
                      </a:r>
                      <a:endParaRPr lang="en-US" sz="1200" b="1" i="0" u="none" strike="noStrike">
                        <a:solidFill>
                          <a:srgbClr val="000000"/>
                        </a:solidFill>
                        <a:effectLst/>
                        <a:latin typeface="Constantia"/>
                      </a:endParaRPr>
                    </a:p>
                  </a:txBody>
                  <a:tcPr marL="9525" marR="9525" marT="9525" marB="0" anchor="b"/>
                </a:tc>
                <a:tc>
                  <a:txBody>
                    <a:bodyPr/>
                    <a:lstStyle/>
                    <a:p>
                      <a:pPr algn="ctr" fontAlgn="b"/>
                      <a:r>
                        <a:rPr lang="en-US" sz="1200" b="1" u="none" strike="noStrike" dirty="0">
                          <a:effectLst/>
                        </a:rPr>
                        <a:t>765441957</a:t>
                      </a:r>
                      <a:endParaRPr lang="en-US" sz="1200" b="1" i="0" u="none" strike="noStrike" dirty="0">
                        <a:solidFill>
                          <a:srgbClr val="000000"/>
                        </a:solidFill>
                        <a:effectLst/>
                        <a:latin typeface="Constantia"/>
                      </a:endParaRPr>
                    </a:p>
                  </a:txBody>
                  <a:tcPr marL="9525" marR="9525" marT="9525" marB="0" anchor="b"/>
                </a:tc>
              </a:tr>
            </a:tbl>
          </a:graphicData>
        </a:graphic>
      </p:graphicFrame>
    </p:spTree>
    <p:extLst>
      <p:ext uri="{BB962C8B-B14F-4D97-AF65-F5344CB8AC3E}">
        <p14:creationId xmlns:p14="http://schemas.microsoft.com/office/powerpoint/2010/main" val="8212699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200" dirty="0">
                <a:solidFill>
                  <a:schemeClr val="bg1"/>
                </a:solidFill>
                <a:latin typeface="Times New Roman" panose="02020603050405020304" pitchFamily="18" charset="0"/>
                <a:cs typeface="Times New Roman" panose="02020603050405020304" pitchFamily="18" charset="0"/>
              </a:rPr>
              <a:t>Percentage of Total Revenue Year Wise Data</a:t>
            </a:r>
            <a:endParaRPr lang="en-US" sz="3200" dirty="0">
              <a:solidFill>
                <a:schemeClr val="bg1"/>
              </a:solidFill>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023126690"/>
              </p:ext>
            </p:extLst>
          </p:nvPr>
        </p:nvGraphicFramePr>
        <p:xfrm>
          <a:off x="187569" y="2180489"/>
          <a:ext cx="11734798" cy="4560282"/>
        </p:xfrm>
        <a:graphic>
          <a:graphicData uri="http://schemas.openxmlformats.org/drawingml/2006/table">
            <a:tbl>
              <a:tblPr>
                <a:tableStyleId>{5C22544A-7EE6-4342-B048-85BDC9FD1C3A}</a:tableStyleId>
              </a:tblPr>
              <a:tblGrid>
                <a:gridCol w="4920737"/>
                <a:gridCol w="6814061"/>
              </a:tblGrid>
              <a:tr h="760047">
                <a:tc>
                  <a:txBody>
                    <a:bodyPr/>
                    <a:lstStyle/>
                    <a:p>
                      <a:pPr algn="ctr" fontAlgn="b"/>
                      <a:r>
                        <a:rPr lang="en-US" sz="1200" b="1" u="none" strike="noStrike" dirty="0">
                          <a:effectLst/>
                        </a:rPr>
                        <a:t>Row Labels</a:t>
                      </a:r>
                      <a:endParaRPr lang="en-US" sz="1200" b="1" i="0" u="none" strike="noStrike" dirty="0">
                        <a:solidFill>
                          <a:srgbClr val="000000"/>
                        </a:solidFill>
                        <a:effectLst/>
                        <a:latin typeface="Constantia"/>
                      </a:endParaRPr>
                    </a:p>
                  </a:txBody>
                  <a:tcPr marL="9525" marR="9525" marT="9525" marB="0" anchor="b"/>
                </a:tc>
                <a:tc>
                  <a:txBody>
                    <a:bodyPr/>
                    <a:lstStyle/>
                    <a:p>
                      <a:pPr algn="ctr" fontAlgn="b"/>
                      <a:r>
                        <a:rPr lang="en-US" sz="1200" b="1" u="none" strike="noStrike">
                          <a:effectLst/>
                        </a:rPr>
                        <a:t>Sum of OrderValue</a:t>
                      </a:r>
                      <a:endParaRPr lang="en-US" sz="1200" b="1" i="0" u="none" strike="noStrike">
                        <a:solidFill>
                          <a:srgbClr val="000000"/>
                        </a:solidFill>
                        <a:effectLst/>
                        <a:latin typeface="Constantia"/>
                      </a:endParaRPr>
                    </a:p>
                  </a:txBody>
                  <a:tcPr marL="9525" marR="9525" marT="9525" marB="0" anchor="b"/>
                </a:tc>
              </a:tr>
              <a:tr h="760047">
                <a:tc>
                  <a:txBody>
                    <a:bodyPr/>
                    <a:lstStyle/>
                    <a:p>
                      <a:pPr algn="ctr" fontAlgn="b"/>
                      <a:r>
                        <a:rPr lang="en-US" sz="1200" b="1" u="none" strike="noStrike" dirty="0">
                          <a:effectLst/>
                        </a:rPr>
                        <a:t>2019</a:t>
                      </a:r>
                      <a:endParaRPr lang="en-US" sz="1200" b="1" i="0" u="none" strike="noStrike" dirty="0">
                        <a:solidFill>
                          <a:srgbClr val="000000"/>
                        </a:solidFill>
                        <a:effectLst/>
                        <a:latin typeface="Constantia"/>
                      </a:endParaRPr>
                    </a:p>
                  </a:txBody>
                  <a:tcPr marL="9525" marR="9525" marT="9525" marB="0" anchor="b"/>
                </a:tc>
                <a:tc>
                  <a:txBody>
                    <a:bodyPr/>
                    <a:lstStyle/>
                    <a:p>
                      <a:pPr algn="ctr" fontAlgn="b"/>
                      <a:r>
                        <a:rPr lang="en-US" sz="1200" b="1" u="none" strike="noStrike">
                          <a:effectLst/>
                        </a:rPr>
                        <a:t>15.90%</a:t>
                      </a:r>
                      <a:endParaRPr lang="en-US" sz="1200" b="1" i="0" u="none" strike="noStrike">
                        <a:solidFill>
                          <a:srgbClr val="000000"/>
                        </a:solidFill>
                        <a:effectLst/>
                        <a:latin typeface="Constantia"/>
                      </a:endParaRPr>
                    </a:p>
                  </a:txBody>
                  <a:tcPr marL="9525" marR="9525" marT="9525" marB="0" anchor="b"/>
                </a:tc>
              </a:tr>
              <a:tr h="760047">
                <a:tc>
                  <a:txBody>
                    <a:bodyPr/>
                    <a:lstStyle/>
                    <a:p>
                      <a:pPr algn="ctr" fontAlgn="b"/>
                      <a:r>
                        <a:rPr lang="en-US" sz="1200" b="1" u="none" strike="noStrike" dirty="0">
                          <a:effectLst/>
                        </a:rPr>
                        <a:t>2020</a:t>
                      </a:r>
                      <a:endParaRPr lang="en-US" sz="1200" b="1" i="0" u="none" strike="noStrike" dirty="0">
                        <a:solidFill>
                          <a:srgbClr val="000000"/>
                        </a:solidFill>
                        <a:effectLst/>
                        <a:latin typeface="Constantia"/>
                      </a:endParaRPr>
                    </a:p>
                  </a:txBody>
                  <a:tcPr marL="9525" marR="9525" marT="9525" marB="0" anchor="b"/>
                </a:tc>
                <a:tc>
                  <a:txBody>
                    <a:bodyPr/>
                    <a:lstStyle/>
                    <a:p>
                      <a:pPr algn="ctr" fontAlgn="b"/>
                      <a:r>
                        <a:rPr lang="en-US" sz="1200" b="1" u="none" strike="noStrike" dirty="0">
                          <a:effectLst/>
                        </a:rPr>
                        <a:t>21.54%</a:t>
                      </a:r>
                      <a:endParaRPr lang="en-US" sz="1200" b="1" i="0" u="none" strike="noStrike" dirty="0">
                        <a:solidFill>
                          <a:srgbClr val="000000"/>
                        </a:solidFill>
                        <a:effectLst/>
                        <a:latin typeface="Constantia"/>
                      </a:endParaRPr>
                    </a:p>
                  </a:txBody>
                  <a:tcPr marL="9525" marR="9525" marT="9525" marB="0" anchor="b"/>
                </a:tc>
              </a:tr>
              <a:tr h="760047">
                <a:tc>
                  <a:txBody>
                    <a:bodyPr/>
                    <a:lstStyle/>
                    <a:p>
                      <a:pPr algn="ctr" fontAlgn="b"/>
                      <a:r>
                        <a:rPr lang="en-US" sz="1200" b="1" u="none" strike="noStrike">
                          <a:effectLst/>
                        </a:rPr>
                        <a:t>2021</a:t>
                      </a:r>
                      <a:endParaRPr lang="en-US" sz="1200" b="1" i="0" u="none" strike="noStrike">
                        <a:solidFill>
                          <a:srgbClr val="000000"/>
                        </a:solidFill>
                        <a:effectLst/>
                        <a:latin typeface="Constantia"/>
                      </a:endParaRPr>
                    </a:p>
                  </a:txBody>
                  <a:tcPr marL="9525" marR="9525" marT="9525" marB="0" anchor="b"/>
                </a:tc>
                <a:tc>
                  <a:txBody>
                    <a:bodyPr/>
                    <a:lstStyle/>
                    <a:p>
                      <a:pPr algn="ctr" fontAlgn="b"/>
                      <a:r>
                        <a:rPr lang="en-US" sz="1200" b="1" u="none" strike="noStrike" dirty="0">
                          <a:effectLst/>
                        </a:rPr>
                        <a:t>30.08%</a:t>
                      </a:r>
                      <a:endParaRPr lang="en-US" sz="1200" b="1" i="0" u="none" strike="noStrike" dirty="0">
                        <a:solidFill>
                          <a:srgbClr val="000000"/>
                        </a:solidFill>
                        <a:effectLst/>
                        <a:latin typeface="Constantia"/>
                      </a:endParaRPr>
                    </a:p>
                  </a:txBody>
                  <a:tcPr marL="9525" marR="9525" marT="9525" marB="0" anchor="b"/>
                </a:tc>
              </a:tr>
              <a:tr h="760047">
                <a:tc>
                  <a:txBody>
                    <a:bodyPr/>
                    <a:lstStyle/>
                    <a:p>
                      <a:pPr algn="ctr" fontAlgn="b"/>
                      <a:r>
                        <a:rPr lang="en-US" sz="1200" b="1" u="none" strike="noStrike">
                          <a:effectLst/>
                        </a:rPr>
                        <a:t>2022</a:t>
                      </a:r>
                      <a:endParaRPr lang="en-US" sz="1200" b="1" i="0" u="none" strike="noStrike">
                        <a:solidFill>
                          <a:srgbClr val="000000"/>
                        </a:solidFill>
                        <a:effectLst/>
                        <a:latin typeface="Constantia"/>
                      </a:endParaRPr>
                    </a:p>
                  </a:txBody>
                  <a:tcPr marL="9525" marR="9525" marT="9525" marB="0" anchor="b"/>
                </a:tc>
                <a:tc>
                  <a:txBody>
                    <a:bodyPr/>
                    <a:lstStyle/>
                    <a:p>
                      <a:pPr algn="ctr" fontAlgn="b"/>
                      <a:r>
                        <a:rPr lang="en-US" sz="1200" b="1" u="none" strike="noStrike" dirty="0">
                          <a:effectLst/>
                        </a:rPr>
                        <a:t>32.48%</a:t>
                      </a:r>
                      <a:endParaRPr lang="en-US" sz="1200" b="1" i="0" u="none" strike="noStrike" dirty="0">
                        <a:solidFill>
                          <a:srgbClr val="000000"/>
                        </a:solidFill>
                        <a:effectLst/>
                        <a:latin typeface="Constantia"/>
                      </a:endParaRPr>
                    </a:p>
                  </a:txBody>
                  <a:tcPr marL="9525" marR="9525" marT="9525" marB="0" anchor="b"/>
                </a:tc>
              </a:tr>
              <a:tr h="760047">
                <a:tc>
                  <a:txBody>
                    <a:bodyPr/>
                    <a:lstStyle/>
                    <a:p>
                      <a:pPr algn="ctr" fontAlgn="b"/>
                      <a:r>
                        <a:rPr lang="en-US" sz="1200" b="1" u="none" strike="noStrike">
                          <a:effectLst/>
                        </a:rPr>
                        <a:t>Grand Total</a:t>
                      </a:r>
                      <a:endParaRPr lang="en-US" sz="1200" b="1" i="0" u="none" strike="noStrike">
                        <a:solidFill>
                          <a:srgbClr val="000000"/>
                        </a:solidFill>
                        <a:effectLst/>
                        <a:latin typeface="Constantia"/>
                      </a:endParaRPr>
                    </a:p>
                  </a:txBody>
                  <a:tcPr marL="9525" marR="9525" marT="9525" marB="0" anchor="b"/>
                </a:tc>
                <a:tc>
                  <a:txBody>
                    <a:bodyPr/>
                    <a:lstStyle/>
                    <a:p>
                      <a:pPr algn="ctr" fontAlgn="b"/>
                      <a:r>
                        <a:rPr lang="en-US" sz="1200" b="1" u="none" strike="noStrike" dirty="0">
                          <a:effectLst/>
                        </a:rPr>
                        <a:t>100.00%</a:t>
                      </a:r>
                      <a:endParaRPr lang="en-US" sz="1200" b="1" i="0" u="none" strike="noStrike" dirty="0">
                        <a:solidFill>
                          <a:srgbClr val="000000"/>
                        </a:solidFill>
                        <a:effectLst/>
                        <a:latin typeface="Constantia"/>
                      </a:endParaRPr>
                    </a:p>
                  </a:txBody>
                  <a:tcPr marL="9525" marR="9525" marT="9525" marB="0" anchor="b"/>
                </a:tc>
              </a:tr>
            </a:tbl>
          </a:graphicData>
        </a:graphic>
      </p:graphicFrame>
    </p:spTree>
    <p:extLst>
      <p:ext uri="{BB962C8B-B14F-4D97-AF65-F5344CB8AC3E}">
        <p14:creationId xmlns:p14="http://schemas.microsoft.com/office/powerpoint/2010/main" val="20651660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200" dirty="0">
                <a:solidFill>
                  <a:schemeClr val="bg1"/>
                </a:solidFill>
                <a:latin typeface="Times New Roman" panose="02020603050405020304" pitchFamily="18" charset="0"/>
                <a:cs typeface="Times New Roman" panose="02020603050405020304" pitchFamily="18" charset="0"/>
              </a:rPr>
              <a:t>Sum of sales by  Category  Data</a:t>
            </a:r>
            <a:endParaRPr lang="en-US" sz="3200" dirty="0">
              <a:solidFill>
                <a:schemeClr val="bg1"/>
              </a:solidFill>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591963915"/>
              </p:ext>
            </p:extLst>
          </p:nvPr>
        </p:nvGraphicFramePr>
        <p:xfrm>
          <a:off x="152401" y="2074987"/>
          <a:ext cx="11863755" cy="4654062"/>
        </p:xfrm>
        <a:graphic>
          <a:graphicData uri="http://schemas.openxmlformats.org/drawingml/2006/table">
            <a:tbl>
              <a:tblPr>
                <a:tableStyleId>{5C22544A-7EE6-4342-B048-85BDC9FD1C3A}</a:tableStyleId>
              </a:tblPr>
              <a:tblGrid>
                <a:gridCol w="1988565"/>
                <a:gridCol w="1803688"/>
                <a:gridCol w="1226508"/>
                <a:gridCol w="955954"/>
                <a:gridCol w="1226508"/>
                <a:gridCol w="1100250"/>
                <a:gridCol w="1176905"/>
                <a:gridCol w="1100250"/>
                <a:gridCol w="1285127"/>
              </a:tblGrid>
              <a:tr h="664866">
                <a:tc>
                  <a:txBody>
                    <a:bodyPr/>
                    <a:lstStyle/>
                    <a:p>
                      <a:pPr algn="ctr" fontAlgn="b"/>
                      <a:r>
                        <a:rPr lang="en-US" sz="1200" b="1" u="none" strike="noStrike" dirty="0">
                          <a:effectLst/>
                        </a:rPr>
                        <a:t>Sum of </a:t>
                      </a:r>
                      <a:r>
                        <a:rPr lang="en-US" sz="1200" b="1" u="none" strike="noStrike" dirty="0" err="1">
                          <a:effectLst/>
                        </a:rPr>
                        <a:t>OrderValue</a:t>
                      </a:r>
                      <a:endParaRPr lang="en-US" sz="1200" b="1" i="0" u="none" strike="noStrike" dirty="0">
                        <a:solidFill>
                          <a:srgbClr val="000000"/>
                        </a:solidFill>
                        <a:effectLst/>
                        <a:latin typeface="Constantia"/>
                      </a:endParaRPr>
                    </a:p>
                  </a:txBody>
                  <a:tcPr marL="9525" marR="9525" marT="9525" marB="0" anchor="b"/>
                </a:tc>
                <a:tc>
                  <a:txBody>
                    <a:bodyPr/>
                    <a:lstStyle/>
                    <a:p>
                      <a:pPr algn="ctr" fontAlgn="b"/>
                      <a:r>
                        <a:rPr lang="en-US" sz="1200" b="1" u="none" strike="noStrike">
                          <a:effectLst/>
                        </a:rPr>
                        <a:t>Column Labels</a:t>
                      </a:r>
                      <a:endParaRPr lang="en-US" sz="1200" b="1" i="0" u="none" strike="noStrike">
                        <a:solidFill>
                          <a:srgbClr val="000000"/>
                        </a:solidFill>
                        <a:effectLst/>
                        <a:latin typeface="Constantia"/>
                      </a:endParaRPr>
                    </a:p>
                  </a:txBody>
                  <a:tcPr marL="9525" marR="9525" marT="9525" marB="0" anchor="b"/>
                </a:tc>
                <a:tc>
                  <a:txBody>
                    <a:bodyPr/>
                    <a:lstStyle/>
                    <a:p>
                      <a:pPr algn="ctr" fontAlgn="b"/>
                      <a:endParaRPr lang="en-US" sz="1200" b="1" i="0" u="none" strike="noStrike">
                        <a:solidFill>
                          <a:srgbClr val="000000"/>
                        </a:solidFill>
                        <a:effectLst/>
                        <a:latin typeface="Constantia"/>
                      </a:endParaRPr>
                    </a:p>
                  </a:txBody>
                  <a:tcPr marL="9525" marR="9525" marT="9525" marB="0" anchor="b"/>
                </a:tc>
                <a:tc>
                  <a:txBody>
                    <a:bodyPr/>
                    <a:lstStyle/>
                    <a:p>
                      <a:pPr algn="ctr" fontAlgn="b"/>
                      <a:endParaRPr lang="en-US" sz="1200" b="1" i="0" u="none" strike="noStrike">
                        <a:solidFill>
                          <a:srgbClr val="000000"/>
                        </a:solidFill>
                        <a:effectLst/>
                        <a:latin typeface="Constantia"/>
                      </a:endParaRPr>
                    </a:p>
                  </a:txBody>
                  <a:tcPr marL="9525" marR="9525" marT="9525" marB="0" anchor="b"/>
                </a:tc>
                <a:tc>
                  <a:txBody>
                    <a:bodyPr/>
                    <a:lstStyle/>
                    <a:p>
                      <a:pPr algn="ctr" fontAlgn="b"/>
                      <a:endParaRPr lang="en-US" sz="1200" b="1" i="0" u="none" strike="noStrike">
                        <a:solidFill>
                          <a:srgbClr val="000000"/>
                        </a:solidFill>
                        <a:effectLst/>
                        <a:latin typeface="Constantia"/>
                      </a:endParaRPr>
                    </a:p>
                  </a:txBody>
                  <a:tcPr marL="9525" marR="9525" marT="9525" marB="0" anchor="b"/>
                </a:tc>
                <a:tc>
                  <a:txBody>
                    <a:bodyPr/>
                    <a:lstStyle/>
                    <a:p>
                      <a:pPr algn="ctr" fontAlgn="b"/>
                      <a:endParaRPr lang="en-US" sz="1200" b="1" i="0" u="none" strike="noStrike">
                        <a:solidFill>
                          <a:srgbClr val="000000"/>
                        </a:solidFill>
                        <a:effectLst/>
                        <a:latin typeface="Constantia"/>
                      </a:endParaRPr>
                    </a:p>
                  </a:txBody>
                  <a:tcPr marL="9525" marR="9525" marT="9525" marB="0" anchor="b"/>
                </a:tc>
                <a:tc>
                  <a:txBody>
                    <a:bodyPr/>
                    <a:lstStyle/>
                    <a:p>
                      <a:pPr algn="ctr" fontAlgn="b"/>
                      <a:endParaRPr lang="en-US" sz="1200" b="1" i="0" u="none" strike="noStrike">
                        <a:solidFill>
                          <a:srgbClr val="000000"/>
                        </a:solidFill>
                        <a:effectLst/>
                        <a:latin typeface="Constantia"/>
                      </a:endParaRPr>
                    </a:p>
                  </a:txBody>
                  <a:tcPr marL="9525" marR="9525" marT="9525" marB="0" anchor="b"/>
                </a:tc>
                <a:tc>
                  <a:txBody>
                    <a:bodyPr/>
                    <a:lstStyle/>
                    <a:p>
                      <a:pPr algn="ctr" fontAlgn="b"/>
                      <a:endParaRPr lang="en-US" sz="1200" b="1" i="0" u="none" strike="noStrike">
                        <a:solidFill>
                          <a:srgbClr val="000000"/>
                        </a:solidFill>
                        <a:effectLst/>
                        <a:latin typeface="Constantia"/>
                      </a:endParaRPr>
                    </a:p>
                  </a:txBody>
                  <a:tcPr marL="9525" marR="9525" marT="9525" marB="0" anchor="b"/>
                </a:tc>
                <a:tc>
                  <a:txBody>
                    <a:bodyPr/>
                    <a:lstStyle/>
                    <a:p>
                      <a:pPr algn="ctr" fontAlgn="b"/>
                      <a:endParaRPr lang="en-US" sz="1200" b="1" i="0" u="none" strike="noStrike">
                        <a:solidFill>
                          <a:srgbClr val="000000"/>
                        </a:solidFill>
                        <a:effectLst/>
                        <a:latin typeface="Constantia"/>
                      </a:endParaRPr>
                    </a:p>
                  </a:txBody>
                  <a:tcPr marL="9525" marR="9525" marT="9525" marB="0" anchor="b"/>
                </a:tc>
              </a:tr>
              <a:tr h="664866">
                <a:tc>
                  <a:txBody>
                    <a:bodyPr/>
                    <a:lstStyle/>
                    <a:p>
                      <a:pPr algn="ctr" fontAlgn="b"/>
                      <a:r>
                        <a:rPr lang="en-US" sz="1200" b="1" u="none" strike="noStrike">
                          <a:effectLst/>
                        </a:rPr>
                        <a:t>Row Labels</a:t>
                      </a:r>
                      <a:endParaRPr lang="en-US" sz="1200" b="1" i="0" u="none" strike="noStrike">
                        <a:solidFill>
                          <a:srgbClr val="000000"/>
                        </a:solidFill>
                        <a:effectLst/>
                        <a:latin typeface="Constantia"/>
                      </a:endParaRPr>
                    </a:p>
                  </a:txBody>
                  <a:tcPr marL="9525" marR="9525" marT="9525" marB="0" anchor="b"/>
                </a:tc>
                <a:tc>
                  <a:txBody>
                    <a:bodyPr/>
                    <a:lstStyle/>
                    <a:p>
                      <a:pPr algn="ctr" fontAlgn="b"/>
                      <a:r>
                        <a:rPr lang="en-US" sz="1200" b="1" u="none" strike="noStrike">
                          <a:effectLst/>
                        </a:rPr>
                        <a:t>Accessories</a:t>
                      </a:r>
                      <a:endParaRPr lang="en-US" sz="1200" b="1" i="0" u="none" strike="noStrike">
                        <a:solidFill>
                          <a:srgbClr val="000000"/>
                        </a:solidFill>
                        <a:effectLst/>
                        <a:latin typeface="Constantia"/>
                      </a:endParaRPr>
                    </a:p>
                  </a:txBody>
                  <a:tcPr marL="9525" marR="9525" marT="9525" marB="0" anchor="b"/>
                </a:tc>
                <a:tc>
                  <a:txBody>
                    <a:bodyPr/>
                    <a:lstStyle/>
                    <a:p>
                      <a:pPr algn="ctr" fontAlgn="b"/>
                      <a:r>
                        <a:rPr lang="en-US" sz="1200" b="1" u="none" strike="noStrike">
                          <a:effectLst/>
                        </a:rPr>
                        <a:t>Casing</a:t>
                      </a:r>
                      <a:endParaRPr lang="en-US" sz="1200" b="1" i="0" u="none" strike="noStrike">
                        <a:solidFill>
                          <a:srgbClr val="000000"/>
                        </a:solidFill>
                        <a:effectLst/>
                        <a:latin typeface="Constantia"/>
                      </a:endParaRPr>
                    </a:p>
                  </a:txBody>
                  <a:tcPr marL="9525" marR="9525" marT="9525" marB="0" anchor="b"/>
                </a:tc>
                <a:tc>
                  <a:txBody>
                    <a:bodyPr/>
                    <a:lstStyle/>
                    <a:p>
                      <a:pPr algn="ctr" fontAlgn="b"/>
                      <a:r>
                        <a:rPr lang="en-US" sz="1200" b="1" u="none" strike="noStrike">
                          <a:effectLst/>
                        </a:rPr>
                        <a:t>Lighting</a:t>
                      </a:r>
                      <a:endParaRPr lang="en-US" sz="1200" b="1" i="0" u="none" strike="noStrike">
                        <a:solidFill>
                          <a:srgbClr val="000000"/>
                        </a:solidFill>
                        <a:effectLst/>
                        <a:latin typeface="Constantia"/>
                      </a:endParaRPr>
                    </a:p>
                  </a:txBody>
                  <a:tcPr marL="9525" marR="9525" marT="9525" marB="0" anchor="b"/>
                </a:tc>
                <a:tc>
                  <a:txBody>
                    <a:bodyPr/>
                    <a:lstStyle/>
                    <a:p>
                      <a:pPr algn="ctr" fontAlgn="b"/>
                      <a:r>
                        <a:rPr lang="en-US" sz="1200" b="1" u="none" strike="noStrike">
                          <a:effectLst/>
                        </a:rPr>
                        <a:t>Pipes</a:t>
                      </a:r>
                      <a:endParaRPr lang="en-US" sz="1200" b="1" i="0" u="none" strike="noStrike">
                        <a:solidFill>
                          <a:srgbClr val="000000"/>
                        </a:solidFill>
                        <a:effectLst/>
                        <a:latin typeface="Constantia"/>
                      </a:endParaRPr>
                    </a:p>
                  </a:txBody>
                  <a:tcPr marL="9525" marR="9525" marT="9525" marB="0" anchor="b"/>
                </a:tc>
                <a:tc>
                  <a:txBody>
                    <a:bodyPr/>
                    <a:lstStyle/>
                    <a:p>
                      <a:pPr algn="ctr" fontAlgn="b"/>
                      <a:r>
                        <a:rPr lang="en-US" sz="1200" b="1" u="none" strike="noStrike">
                          <a:effectLst/>
                        </a:rPr>
                        <a:t>Switches</a:t>
                      </a:r>
                      <a:endParaRPr lang="en-US" sz="1200" b="1" i="0" u="none" strike="noStrike">
                        <a:solidFill>
                          <a:srgbClr val="000000"/>
                        </a:solidFill>
                        <a:effectLst/>
                        <a:latin typeface="Constantia"/>
                      </a:endParaRPr>
                    </a:p>
                  </a:txBody>
                  <a:tcPr marL="9525" marR="9525" marT="9525" marB="0" anchor="b"/>
                </a:tc>
                <a:tc>
                  <a:txBody>
                    <a:bodyPr/>
                    <a:lstStyle/>
                    <a:p>
                      <a:pPr algn="ctr" fontAlgn="b"/>
                      <a:r>
                        <a:rPr lang="en-US" sz="1200" b="1" u="none" strike="noStrike">
                          <a:effectLst/>
                        </a:rPr>
                        <a:t>Switchgear</a:t>
                      </a:r>
                      <a:endParaRPr lang="en-US" sz="1200" b="1" i="0" u="none" strike="noStrike">
                        <a:solidFill>
                          <a:srgbClr val="000000"/>
                        </a:solidFill>
                        <a:effectLst/>
                        <a:latin typeface="Constantia"/>
                      </a:endParaRPr>
                    </a:p>
                  </a:txBody>
                  <a:tcPr marL="9525" marR="9525" marT="9525" marB="0" anchor="b"/>
                </a:tc>
                <a:tc>
                  <a:txBody>
                    <a:bodyPr/>
                    <a:lstStyle/>
                    <a:p>
                      <a:pPr algn="ctr" fontAlgn="b"/>
                      <a:r>
                        <a:rPr lang="en-US" sz="1200" b="1" u="none" strike="noStrike">
                          <a:effectLst/>
                        </a:rPr>
                        <a:t>Wires</a:t>
                      </a:r>
                      <a:endParaRPr lang="en-US" sz="1200" b="1" i="0" u="none" strike="noStrike">
                        <a:solidFill>
                          <a:srgbClr val="000000"/>
                        </a:solidFill>
                        <a:effectLst/>
                        <a:latin typeface="Constantia"/>
                      </a:endParaRPr>
                    </a:p>
                  </a:txBody>
                  <a:tcPr marL="9525" marR="9525" marT="9525" marB="0" anchor="b"/>
                </a:tc>
                <a:tc>
                  <a:txBody>
                    <a:bodyPr/>
                    <a:lstStyle/>
                    <a:p>
                      <a:pPr algn="ctr" fontAlgn="b"/>
                      <a:r>
                        <a:rPr lang="en-US" sz="1200" b="1" u="none" strike="noStrike">
                          <a:effectLst/>
                        </a:rPr>
                        <a:t>Grand Total</a:t>
                      </a:r>
                      <a:endParaRPr lang="en-US" sz="1200" b="1" i="0" u="none" strike="noStrike">
                        <a:solidFill>
                          <a:srgbClr val="000000"/>
                        </a:solidFill>
                        <a:effectLst/>
                        <a:latin typeface="Constantia"/>
                      </a:endParaRPr>
                    </a:p>
                  </a:txBody>
                  <a:tcPr marL="9525" marR="9525" marT="9525" marB="0" anchor="b"/>
                </a:tc>
              </a:tr>
              <a:tr h="664866">
                <a:tc>
                  <a:txBody>
                    <a:bodyPr/>
                    <a:lstStyle/>
                    <a:p>
                      <a:pPr algn="ctr" fontAlgn="b"/>
                      <a:r>
                        <a:rPr lang="en-US" sz="1200" b="1" u="none" strike="noStrike">
                          <a:effectLst/>
                        </a:rPr>
                        <a:t>2019</a:t>
                      </a:r>
                      <a:endParaRPr lang="en-US" sz="1200" b="1" i="0" u="none" strike="noStrike">
                        <a:solidFill>
                          <a:srgbClr val="000000"/>
                        </a:solidFill>
                        <a:effectLst/>
                        <a:latin typeface="Constantia"/>
                      </a:endParaRPr>
                    </a:p>
                  </a:txBody>
                  <a:tcPr marL="9525" marR="9525" marT="9525" marB="0" anchor="b"/>
                </a:tc>
                <a:tc>
                  <a:txBody>
                    <a:bodyPr/>
                    <a:lstStyle/>
                    <a:p>
                      <a:pPr algn="ctr" fontAlgn="b"/>
                      <a:r>
                        <a:rPr lang="en-US" sz="1200" b="1" u="none" strike="noStrike" dirty="0">
                          <a:effectLst/>
                        </a:rPr>
                        <a:t>59119688</a:t>
                      </a:r>
                      <a:endParaRPr lang="en-US" sz="1200" b="1" i="0" u="none" strike="noStrike" dirty="0">
                        <a:solidFill>
                          <a:srgbClr val="000000"/>
                        </a:solidFill>
                        <a:effectLst/>
                        <a:latin typeface="Constantia"/>
                      </a:endParaRPr>
                    </a:p>
                  </a:txBody>
                  <a:tcPr marL="9525" marR="9525" marT="9525" marB="0" anchor="b"/>
                </a:tc>
                <a:tc>
                  <a:txBody>
                    <a:bodyPr/>
                    <a:lstStyle/>
                    <a:p>
                      <a:pPr algn="ctr" fontAlgn="b"/>
                      <a:r>
                        <a:rPr lang="en-US" sz="1200" b="1" u="none" strike="noStrike">
                          <a:effectLst/>
                        </a:rPr>
                        <a:t>15209927</a:t>
                      </a:r>
                      <a:endParaRPr lang="en-US" sz="1200" b="1" i="0" u="none" strike="noStrike">
                        <a:solidFill>
                          <a:srgbClr val="000000"/>
                        </a:solidFill>
                        <a:effectLst/>
                        <a:latin typeface="Constantia"/>
                      </a:endParaRPr>
                    </a:p>
                  </a:txBody>
                  <a:tcPr marL="9525" marR="9525" marT="9525" marB="0" anchor="b"/>
                </a:tc>
                <a:tc>
                  <a:txBody>
                    <a:bodyPr/>
                    <a:lstStyle/>
                    <a:p>
                      <a:pPr algn="ctr" fontAlgn="b"/>
                      <a:endParaRPr lang="en-US" sz="1200" b="1" i="0" u="none" strike="noStrike">
                        <a:solidFill>
                          <a:srgbClr val="000000"/>
                        </a:solidFill>
                        <a:effectLst/>
                        <a:latin typeface="Constantia"/>
                      </a:endParaRPr>
                    </a:p>
                  </a:txBody>
                  <a:tcPr marL="9525" marR="9525" marT="9525" marB="0" anchor="b"/>
                </a:tc>
                <a:tc>
                  <a:txBody>
                    <a:bodyPr/>
                    <a:lstStyle/>
                    <a:p>
                      <a:pPr algn="ctr" fontAlgn="b"/>
                      <a:r>
                        <a:rPr lang="en-US" sz="1200" b="1" u="none" strike="noStrike">
                          <a:effectLst/>
                        </a:rPr>
                        <a:t>24748378</a:t>
                      </a:r>
                      <a:endParaRPr lang="en-US" sz="1200" b="1" i="0" u="none" strike="noStrike">
                        <a:solidFill>
                          <a:srgbClr val="000000"/>
                        </a:solidFill>
                        <a:effectLst/>
                        <a:latin typeface="Constantia"/>
                      </a:endParaRPr>
                    </a:p>
                  </a:txBody>
                  <a:tcPr marL="9525" marR="9525" marT="9525" marB="0" anchor="b"/>
                </a:tc>
                <a:tc>
                  <a:txBody>
                    <a:bodyPr/>
                    <a:lstStyle/>
                    <a:p>
                      <a:pPr algn="ctr" fontAlgn="b"/>
                      <a:r>
                        <a:rPr lang="en-US" sz="1200" b="1" u="none" strike="noStrike">
                          <a:effectLst/>
                        </a:rPr>
                        <a:t>14987878</a:t>
                      </a:r>
                      <a:endParaRPr lang="en-US" sz="1200" b="1" i="0" u="none" strike="noStrike">
                        <a:solidFill>
                          <a:srgbClr val="000000"/>
                        </a:solidFill>
                        <a:effectLst/>
                        <a:latin typeface="Constantia"/>
                      </a:endParaRPr>
                    </a:p>
                  </a:txBody>
                  <a:tcPr marL="9525" marR="9525" marT="9525" marB="0" anchor="b"/>
                </a:tc>
                <a:tc>
                  <a:txBody>
                    <a:bodyPr/>
                    <a:lstStyle/>
                    <a:p>
                      <a:pPr algn="ctr" fontAlgn="b"/>
                      <a:endParaRPr lang="en-US" sz="1200" b="1" i="0" u="none" strike="noStrike">
                        <a:solidFill>
                          <a:srgbClr val="000000"/>
                        </a:solidFill>
                        <a:effectLst/>
                        <a:latin typeface="Constantia"/>
                      </a:endParaRPr>
                    </a:p>
                  </a:txBody>
                  <a:tcPr marL="9525" marR="9525" marT="9525" marB="0" anchor="b"/>
                </a:tc>
                <a:tc>
                  <a:txBody>
                    <a:bodyPr/>
                    <a:lstStyle/>
                    <a:p>
                      <a:pPr algn="ctr" fontAlgn="b"/>
                      <a:r>
                        <a:rPr lang="en-US" sz="1200" b="1" u="none" strike="noStrike">
                          <a:effectLst/>
                        </a:rPr>
                        <a:t>7617611</a:t>
                      </a:r>
                      <a:endParaRPr lang="en-US" sz="1200" b="1" i="0" u="none" strike="noStrike">
                        <a:solidFill>
                          <a:srgbClr val="000000"/>
                        </a:solidFill>
                        <a:effectLst/>
                        <a:latin typeface="Constantia"/>
                      </a:endParaRPr>
                    </a:p>
                  </a:txBody>
                  <a:tcPr marL="9525" marR="9525" marT="9525" marB="0" anchor="b"/>
                </a:tc>
                <a:tc>
                  <a:txBody>
                    <a:bodyPr/>
                    <a:lstStyle/>
                    <a:p>
                      <a:pPr algn="ctr" fontAlgn="b"/>
                      <a:r>
                        <a:rPr lang="en-US" sz="1200" b="1" u="none" strike="noStrike">
                          <a:effectLst/>
                        </a:rPr>
                        <a:t>121683482</a:t>
                      </a:r>
                      <a:endParaRPr lang="en-US" sz="1200" b="1" i="0" u="none" strike="noStrike">
                        <a:solidFill>
                          <a:srgbClr val="000000"/>
                        </a:solidFill>
                        <a:effectLst/>
                        <a:latin typeface="Constantia"/>
                      </a:endParaRPr>
                    </a:p>
                  </a:txBody>
                  <a:tcPr marL="9525" marR="9525" marT="9525" marB="0" anchor="b"/>
                </a:tc>
              </a:tr>
              <a:tr h="664866">
                <a:tc>
                  <a:txBody>
                    <a:bodyPr/>
                    <a:lstStyle/>
                    <a:p>
                      <a:pPr algn="ctr" fontAlgn="b"/>
                      <a:r>
                        <a:rPr lang="en-US" sz="1200" b="1" u="none" strike="noStrike">
                          <a:effectLst/>
                        </a:rPr>
                        <a:t>2020</a:t>
                      </a:r>
                      <a:endParaRPr lang="en-US" sz="1200" b="1" i="0" u="none" strike="noStrike">
                        <a:solidFill>
                          <a:srgbClr val="000000"/>
                        </a:solidFill>
                        <a:effectLst/>
                        <a:latin typeface="Constantia"/>
                      </a:endParaRPr>
                    </a:p>
                  </a:txBody>
                  <a:tcPr marL="9525" marR="9525" marT="9525" marB="0" anchor="b"/>
                </a:tc>
                <a:tc>
                  <a:txBody>
                    <a:bodyPr/>
                    <a:lstStyle/>
                    <a:p>
                      <a:pPr algn="ctr" fontAlgn="b"/>
                      <a:r>
                        <a:rPr lang="en-US" sz="1200" b="1" u="none" strike="noStrike">
                          <a:effectLst/>
                        </a:rPr>
                        <a:t>75453090</a:t>
                      </a:r>
                      <a:endParaRPr lang="en-US" sz="1200" b="1" i="0" u="none" strike="noStrike">
                        <a:solidFill>
                          <a:srgbClr val="000000"/>
                        </a:solidFill>
                        <a:effectLst/>
                        <a:latin typeface="Constantia"/>
                      </a:endParaRPr>
                    </a:p>
                  </a:txBody>
                  <a:tcPr marL="9525" marR="9525" marT="9525" marB="0" anchor="b"/>
                </a:tc>
                <a:tc>
                  <a:txBody>
                    <a:bodyPr/>
                    <a:lstStyle/>
                    <a:p>
                      <a:pPr algn="ctr" fontAlgn="b"/>
                      <a:r>
                        <a:rPr lang="en-US" sz="1200" b="1" u="none" strike="noStrike">
                          <a:effectLst/>
                        </a:rPr>
                        <a:t>23965550</a:t>
                      </a:r>
                      <a:endParaRPr lang="en-US" sz="1200" b="1" i="0" u="none" strike="noStrike">
                        <a:solidFill>
                          <a:srgbClr val="000000"/>
                        </a:solidFill>
                        <a:effectLst/>
                        <a:latin typeface="Constantia"/>
                      </a:endParaRPr>
                    </a:p>
                  </a:txBody>
                  <a:tcPr marL="9525" marR="9525" marT="9525" marB="0" anchor="b"/>
                </a:tc>
                <a:tc>
                  <a:txBody>
                    <a:bodyPr/>
                    <a:lstStyle/>
                    <a:p>
                      <a:pPr algn="ctr" fontAlgn="b"/>
                      <a:endParaRPr lang="en-US" sz="1200" b="1" i="0" u="none" strike="noStrike">
                        <a:solidFill>
                          <a:srgbClr val="000000"/>
                        </a:solidFill>
                        <a:effectLst/>
                        <a:latin typeface="Constantia"/>
                      </a:endParaRPr>
                    </a:p>
                  </a:txBody>
                  <a:tcPr marL="9525" marR="9525" marT="9525" marB="0" anchor="b"/>
                </a:tc>
                <a:tc>
                  <a:txBody>
                    <a:bodyPr/>
                    <a:lstStyle/>
                    <a:p>
                      <a:pPr algn="ctr" fontAlgn="b"/>
                      <a:r>
                        <a:rPr lang="en-US" sz="1200" b="1" u="none" strike="noStrike">
                          <a:effectLst/>
                        </a:rPr>
                        <a:t>36293033</a:t>
                      </a:r>
                      <a:endParaRPr lang="en-US" sz="1200" b="1" i="0" u="none" strike="noStrike">
                        <a:solidFill>
                          <a:srgbClr val="000000"/>
                        </a:solidFill>
                        <a:effectLst/>
                        <a:latin typeface="Constantia"/>
                      </a:endParaRPr>
                    </a:p>
                  </a:txBody>
                  <a:tcPr marL="9525" marR="9525" marT="9525" marB="0" anchor="b"/>
                </a:tc>
                <a:tc>
                  <a:txBody>
                    <a:bodyPr/>
                    <a:lstStyle/>
                    <a:p>
                      <a:pPr algn="ctr" fontAlgn="b"/>
                      <a:r>
                        <a:rPr lang="en-US" sz="1200" b="1" u="none" strike="noStrike">
                          <a:effectLst/>
                        </a:rPr>
                        <a:t>20858895</a:t>
                      </a:r>
                      <a:endParaRPr lang="en-US" sz="1200" b="1" i="0" u="none" strike="noStrike">
                        <a:solidFill>
                          <a:srgbClr val="000000"/>
                        </a:solidFill>
                        <a:effectLst/>
                        <a:latin typeface="Constantia"/>
                      </a:endParaRPr>
                    </a:p>
                  </a:txBody>
                  <a:tcPr marL="9525" marR="9525" marT="9525" marB="0" anchor="b"/>
                </a:tc>
                <a:tc>
                  <a:txBody>
                    <a:bodyPr/>
                    <a:lstStyle/>
                    <a:p>
                      <a:pPr algn="ctr" fontAlgn="b"/>
                      <a:r>
                        <a:rPr lang="en-US" sz="1200" b="1" u="none" strike="noStrike">
                          <a:effectLst/>
                        </a:rPr>
                        <a:t>133746</a:t>
                      </a:r>
                      <a:endParaRPr lang="en-US" sz="1200" b="1" i="0" u="none" strike="noStrike">
                        <a:solidFill>
                          <a:srgbClr val="000000"/>
                        </a:solidFill>
                        <a:effectLst/>
                        <a:latin typeface="Constantia"/>
                      </a:endParaRPr>
                    </a:p>
                  </a:txBody>
                  <a:tcPr marL="9525" marR="9525" marT="9525" marB="0" anchor="b"/>
                </a:tc>
                <a:tc>
                  <a:txBody>
                    <a:bodyPr/>
                    <a:lstStyle/>
                    <a:p>
                      <a:pPr algn="ctr" fontAlgn="b"/>
                      <a:r>
                        <a:rPr lang="en-US" sz="1200" b="1" u="none" strike="noStrike">
                          <a:effectLst/>
                        </a:rPr>
                        <a:t>8192358</a:t>
                      </a:r>
                      <a:endParaRPr lang="en-US" sz="1200" b="1" i="0" u="none" strike="noStrike">
                        <a:solidFill>
                          <a:srgbClr val="000000"/>
                        </a:solidFill>
                        <a:effectLst/>
                        <a:latin typeface="Constantia"/>
                      </a:endParaRPr>
                    </a:p>
                  </a:txBody>
                  <a:tcPr marL="9525" marR="9525" marT="9525" marB="0" anchor="b"/>
                </a:tc>
                <a:tc>
                  <a:txBody>
                    <a:bodyPr/>
                    <a:lstStyle/>
                    <a:p>
                      <a:pPr algn="ctr" fontAlgn="b"/>
                      <a:r>
                        <a:rPr lang="en-US" sz="1200" b="1" u="none" strike="noStrike">
                          <a:effectLst/>
                        </a:rPr>
                        <a:t>164896672</a:t>
                      </a:r>
                      <a:endParaRPr lang="en-US" sz="1200" b="1" i="0" u="none" strike="noStrike">
                        <a:solidFill>
                          <a:srgbClr val="000000"/>
                        </a:solidFill>
                        <a:effectLst/>
                        <a:latin typeface="Constantia"/>
                      </a:endParaRPr>
                    </a:p>
                  </a:txBody>
                  <a:tcPr marL="9525" marR="9525" marT="9525" marB="0" anchor="b"/>
                </a:tc>
              </a:tr>
              <a:tr h="664866">
                <a:tc>
                  <a:txBody>
                    <a:bodyPr/>
                    <a:lstStyle/>
                    <a:p>
                      <a:pPr algn="ctr" fontAlgn="b"/>
                      <a:r>
                        <a:rPr lang="en-US" sz="1200" b="1" u="none" strike="noStrike">
                          <a:effectLst/>
                        </a:rPr>
                        <a:t>2021</a:t>
                      </a:r>
                      <a:endParaRPr lang="en-US" sz="1200" b="1" i="0" u="none" strike="noStrike">
                        <a:solidFill>
                          <a:srgbClr val="000000"/>
                        </a:solidFill>
                        <a:effectLst/>
                        <a:latin typeface="Constantia"/>
                      </a:endParaRPr>
                    </a:p>
                  </a:txBody>
                  <a:tcPr marL="9525" marR="9525" marT="9525" marB="0" anchor="b"/>
                </a:tc>
                <a:tc>
                  <a:txBody>
                    <a:bodyPr/>
                    <a:lstStyle/>
                    <a:p>
                      <a:pPr algn="ctr" fontAlgn="b"/>
                      <a:r>
                        <a:rPr lang="en-US" sz="1200" b="1" u="none" strike="noStrike">
                          <a:effectLst/>
                        </a:rPr>
                        <a:t>95721569</a:t>
                      </a:r>
                      <a:endParaRPr lang="en-US" sz="1200" b="1" i="0" u="none" strike="noStrike">
                        <a:solidFill>
                          <a:srgbClr val="000000"/>
                        </a:solidFill>
                        <a:effectLst/>
                        <a:latin typeface="Constantia"/>
                      </a:endParaRPr>
                    </a:p>
                  </a:txBody>
                  <a:tcPr marL="9525" marR="9525" marT="9525" marB="0" anchor="b"/>
                </a:tc>
                <a:tc>
                  <a:txBody>
                    <a:bodyPr/>
                    <a:lstStyle/>
                    <a:p>
                      <a:pPr algn="ctr" fontAlgn="b"/>
                      <a:r>
                        <a:rPr lang="en-US" sz="1200" b="1" u="none" strike="noStrike">
                          <a:effectLst/>
                        </a:rPr>
                        <a:t>31979338</a:t>
                      </a:r>
                      <a:endParaRPr lang="en-US" sz="1200" b="1" i="0" u="none" strike="noStrike">
                        <a:solidFill>
                          <a:srgbClr val="000000"/>
                        </a:solidFill>
                        <a:effectLst/>
                        <a:latin typeface="Constantia"/>
                      </a:endParaRPr>
                    </a:p>
                  </a:txBody>
                  <a:tcPr marL="9525" marR="9525" marT="9525" marB="0" anchor="b"/>
                </a:tc>
                <a:tc>
                  <a:txBody>
                    <a:bodyPr/>
                    <a:lstStyle/>
                    <a:p>
                      <a:pPr algn="ctr" fontAlgn="b"/>
                      <a:endParaRPr lang="en-US" sz="1200" b="1" i="0" u="none" strike="noStrike">
                        <a:solidFill>
                          <a:srgbClr val="000000"/>
                        </a:solidFill>
                        <a:effectLst/>
                        <a:latin typeface="Constantia"/>
                      </a:endParaRPr>
                    </a:p>
                  </a:txBody>
                  <a:tcPr marL="9525" marR="9525" marT="9525" marB="0" anchor="b"/>
                </a:tc>
                <a:tc>
                  <a:txBody>
                    <a:bodyPr/>
                    <a:lstStyle/>
                    <a:p>
                      <a:pPr algn="ctr" fontAlgn="b"/>
                      <a:r>
                        <a:rPr lang="en-US" sz="1200" b="1" u="none" strike="noStrike">
                          <a:effectLst/>
                        </a:rPr>
                        <a:t>67467093</a:t>
                      </a:r>
                      <a:endParaRPr lang="en-US" sz="1200" b="1" i="0" u="none" strike="noStrike">
                        <a:solidFill>
                          <a:srgbClr val="000000"/>
                        </a:solidFill>
                        <a:effectLst/>
                        <a:latin typeface="Constantia"/>
                      </a:endParaRPr>
                    </a:p>
                  </a:txBody>
                  <a:tcPr marL="9525" marR="9525" marT="9525" marB="0" anchor="b"/>
                </a:tc>
                <a:tc>
                  <a:txBody>
                    <a:bodyPr/>
                    <a:lstStyle/>
                    <a:p>
                      <a:pPr algn="ctr" fontAlgn="b"/>
                      <a:r>
                        <a:rPr lang="en-US" sz="1200" b="1" u="none" strike="noStrike">
                          <a:effectLst/>
                        </a:rPr>
                        <a:t>20133124</a:t>
                      </a:r>
                      <a:endParaRPr lang="en-US" sz="1200" b="1" i="0" u="none" strike="noStrike">
                        <a:solidFill>
                          <a:srgbClr val="000000"/>
                        </a:solidFill>
                        <a:effectLst/>
                        <a:latin typeface="Constantia"/>
                      </a:endParaRPr>
                    </a:p>
                  </a:txBody>
                  <a:tcPr marL="9525" marR="9525" marT="9525" marB="0" anchor="b"/>
                </a:tc>
                <a:tc>
                  <a:txBody>
                    <a:bodyPr/>
                    <a:lstStyle/>
                    <a:p>
                      <a:pPr algn="ctr" fontAlgn="b"/>
                      <a:r>
                        <a:rPr lang="en-US" sz="1200" b="1" u="none" strike="noStrike">
                          <a:effectLst/>
                        </a:rPr>
                        <a:t>1083689</a:t>
                      </a:r>
                      <a:endParaRPr lang="en-US" sz="1200" b="1" i="0" u="none" strike="noStrike">
                        <a:solidFill>
                          <a:srgbClr val="000000"/>
                        </a:solidFill>
                        <a:effectLst/>
                        <a:latin typeface="Constantia"/>
                      </a:endParaRPr>
                    </a:p>
                  </a:txBody>
                  <a:tcPr marL="9525" marR="9525" marT="9525" marB="0" anchor="b"/>
                </a:tc>
                <a:tc>
                  <a:txBody>
                    <a:bodyPr/>
                    <a:lstStyle/>
                    <a:p>
                      <a:pPr algn="ctr" fontAlgn="b"/>
                      <a:r>
                        <a:rPr lang="en-US" sz="1200" b="1" u="none" strike="noStrike">
                          <a:effectLst/>
                        </a:rPr>
                        <a:t>13889891</a:t>
                      </a:r>
                      <a:endParaRPr lang="en-US" sz="1200" b="1" i="0" u="none" strike="noStrike">
                        <a:solidFill>
                          <a:srgbClr val="000000"/>
                        </a:solidFill>
                        <a:effectLst/>
                        <a:latin typeface="Constantia"/>
                      </a:endParaRPr>
                    </a:p>
                  </a:txBody>
                  <a:tcPr marL="9525" marR="9525" marT="9525" marB="0" anchor="b"/>
                </a:tc>
                <a:tc>
                  <a:txBody>
                    <a:bodyPr/>
                    <a:lstStyle/>
                    <a:p>
                      <a:pPr algn="ctr" fontAlgn="b"/>
                      <a:r>
                        <a:rPr lang="en-US" sz="1200" b="1" u="none" strike="noStrike">
                          <a:effectLst/>
                        </a:rPr>
                        <a:t>230274704</a:t>
                      </a:r>
                      <a:endParaRPr lang="en-US" sz="1200" b="1" i="0" u="none" strike="noStrike">
                        <a:solidFill>
                          <a:srgbClr val="000000"/>
                        </a:solidFill>
                        <a:effectLst/>
                        <a:latin typeface="Constantia"/>
                      </a:endParaRPr>
                    </a:p>
                  </a:txBody>
                  <a:tcPr marL="9525" marR="9525" marT="9525" marB="0" anchor="b"/>
                </a:tc>
              </a:tr>
              <a:tr h="664866">
                <a:tc>
                  <a:txBody>
                    <a:bodyPr/>
                    <a:lstStyle/>
                    <a:p>
                      <a:pPr algn="ctr" fontAlgn="b"/>
                      <a:r>
                        <a:rPr lang="en-US" sz="1200" b="1" u="none" strike="noStrike">
                          <a:effectLst/>
                        </a:rPr>
                        <a:t>2022</a:t>
                      </a:r>
                      <a:endParaRPr lang="en-US" sz="1200" b="1" i="0" u="none" strike="noStrike">
                        <a:solidFill>
                          <a:srgbClr val="000000"/>
                        </a:solidFill>
                        <a:effectLst/>
                        <a:latin typeface="Constantia"/>
                      </a:endParaRPr>
                    </a:p>
                  </a:txBody>
                  <a:tcPr marL="9525" marR="9525" marT="9525" marB="0" anchor="b"/>
                </a:tc>
                <a:tc>
                  <a:txBody>
                    <a:bodyPr/>
                    <a:lstStyle/>
                    <a:p>
                      <a:pPr algn="ctr" fontAlgn="b"/>
                      <a:r>
                        <a:rPr lang="en-US" sz="1200" b="1" u="none" strike="noStrike" dirty="0">
                          <a:effectLst/>
                        </a:rPr>
                        <a:t>102308497</a:t>
                      </a:r>
                      <a:endParaRPr lang="en-US" sz="1200" b="1" i="0" u="none" strike="noStrike" dirty="0">
                        <a:solidFill>
                          <a:srgbClr val="000000"/>
                        </a:solidFill>
                        <a:effectLst/>
                        <a:latin typeface="Constantia"/>
                      </a:endParaRPr>
                    </a:p>
                  </a:txBody>
                  <a:tcPr marL="9525" marR="9525" marT="9525" marB="0" anchor="b"/>
                </a:tc>
                <a:tc>
                  <a:txBody>
                    <a:bodyPr/>
                    <a:lstStyle/>
                    <a:p>
                      <a:pPr algn="ctr" fontAlgn="b"/>
                      <a:r>
                        <a:rPr lang="en-US" sz="1200" b="1" u="none" strike="noStrike">
                          <a:effectLst/>
                        </a:rPr>
                        <a:t>32528024</a:t>
                      </a:r>
                      <a:endParaRPr lang="en-US" sz="1200" b="1" i="0" u="none" strike="noStrike">
                        <a:solidFill>
                          <a:srgbClr val="000000"/>
                        </a:solidFill>
                        <a:effectLst/>
                        <a:latin typeface="Constantia"/>
                      </a:endParaRPr>
                    </a:p>
                  </a:txBody>
                  <a:tcPr marL="9525" marR="9525" marT="9525" marB="0" anchor="b"/>
                </a:tc>
                <a:tc>
                  <a:txBody>
                    <a:bodyPr/>
                    <a:lstStyle/>
                    <a:p>
                      <a:pPr algn="ctr" fontAlgn="b"/>
                      <a:r>
                        <a:rPr lang="en-US" sz="1200" b="1" u="none" strike="noStrike">
                          <a:effectLst/>
                        </a:rPr>
                        <a:t>355599</a:t>
                      </a:r>
                      <a:endParaRPr lang="en-US" sz="1200" b="1" i="0" u="none" strike="noStrike">
                        <a:solidFill>
                          <a:srgbClr val="000000"/>
                        </a:solidFill>
                        <a:effectLst/>
                        <a:latin typeface="Constantia"/>
                      </a:endParaRPr>
                    </a:p>
                  </a:txBody>
                  <a:tcPr marL="9525" marR="9525" marT="9525" marB="0" anchor="b"/>
                </a:tc>
                <a:tc>
                  <a:txBody>
                    <a:bodyPr/>
                    <a:lstStyle/>
                    <a:p>
                      <a:pPr algn="ctr" fontAlgn="b"/>
                      <a:r>
                        <a:rPr lang="en-US" sz="1200" b="1" u="none" strike="noStrike">
                          <a:effectLst/>
                        </a:rPr>
                        <a:t>73425175</a:t>
                      </a:r>
                      <a:endParaRPr lang="en-US" sz="1200" b="1" i="0" u="none" strike="noStrike">
                        <a:solidFill>
                          <a:srgbClr val="000000"/>
                        </a:solidFill>
                        <a:effectLst/>
                        <a:latin typeface="Constantia"/>
                      </a:endParaRPr>
                    </a:p>
                  </a:txBody>
                  <a:tcPr marL="9525" marR="9525" marT="9525" marB="0" anchor="b"/>
                </a:tc>
                <a:tc>
                  <a:txBody>
                    <a:bodyPr/>
                    <a:lstStyle/>
                    <a:p>
                      <a:pPr algn="ctr" fontAlgn="b"/>
                      <a:r>
                        <a:rPr lang="en-US" sz="1200" b="1" u="none" strike="noStrike">
                          <a:effectLst/>
                        </a:rPr>
                        <a:t>19317457</a:t>
                      </a:r>
                      <a:endParaRPr lang="en-US" sz="1200" b="1" i="0" u="none" strike="noStrike">
                        <a:solidFill>
                          <a:srgbClr val="000000"/>
                        </a:solidFill>
                        <a:effectLst/>
                        <a:latin typeface="Constantia"/>
                      </a:endParaRPr>
                    </a:p>
                  </a:txBody>
                  <a:tcPr marL="9525" marR="9525" marT="9525" marB="0" anchor="b"/>
                </a:tc>
                <a:tc>
                  <a:txBody>
                    <a:bodyPr/>
                    <a:lstStyle/>
                    <a:p>
                      <a:pPr algn="ctr" fontAlgn="b"/>
                      <a:r>
                        <a:rPr lang="en-US" sz="1200" b="1" u="none" strike="noStrike">
                          <a:effectLst/>
                        </a:rPr>
                        <a:t>3183705</a:t>
                      </a:r>
                      <a:endParaRPr lang="en-US" sz="1200" b="1" i="0" u="none" strike="noStrike">
                        <a:solidFill>
                          <a:srgbClr val="000000"/>
                        </a:solidFill>
                        <a:effectLst/>
                        <a:latin typeface="Constantia"/>
                      </a:endParaRPr>
                    </a:p>
                  </a:txBody>
                  <a:tcPr marL="9525" marR="9525" marT="9525" marB="0" anchor="b"/>
                </a:tc>
                <a:tc>
                  <a:txBody>
                    <a:bodyPr/>
                    <a:lstStyle/>
                    <a:p>
                      <a:pPr algn="ctr" fontAlgn="b"/>
                      <a:r>
                        <a:rPr lang="en-US" sz="1200" b="1" u="none" strike="noStrike">
                          <a:effectLst/>
                        </a:rPr>
                        <a:t>17468642</a:t>
                      </a:r>
                      <a:endParaRPr lang="en-US" sz="1200" b="1" i="0" u="none" strike="noStrike">
                        <a:solidFill>
                          <a:srgbClr val="000000"/>
                        </a:solidFill>
                        <a:effectLst/>
                        <a:latin typeface="Constantia"/>
                      </a:endParaRPr>
                    </a:p>
                  </a:txBody>
                  <a:tcPr marL="9525" marR="9525" marT="9525" marB="0" anchor="b"/>
                </a:tc>
                <a:tc>
                  <a:txBody>
                    <a:bodyPr/>
                    <a:lstStyle/>
                    <a:p>
                      <a:pPr algn="ctr" fontAlgn="b"/>
                      <a:r>
                        <a:rPr lang="en-US" sz="1200" b="1" u="none" strike="noStrike">
                          <a:effectLst/>
                        </a:rPr>
                        <a:t>248587099</a:t>
                      </a:r>
                      <a:endParaRPr lang="en-US" sz="1200" b="1" i="0" u="none" strike="noStrike">
                        <a:solidFill>
                          <a:srgbClr val="000000"/>
                        </a:solidFill>
                        <a:effectLst/>
                        <a:latin typeface="Constantia"/>
                      </a:endParaRPr>
                    </a:p>
                  </a:txBody>
                  <a:tcPr marL="9525" marR="9525" marT="9525" marB="0" anchor="b"/>
                </a:tc>
              </a:tr>
              <a:tr h="664866">
                <a:tc>
                  <a:txBody>
                    <a:bodyPr/>
                    <a:lstStyle/>
                    <a:p>
                      <a:pPr algn="ctr" fontAlgn="b"/>
                      <a:r>
                        <a:rPr lang="en-US" sz="1200" b="1" u="none" strike="noStrike">
                          <a:effectLst/>
                        </a:rPr>
                        <a:t>Grand Total</a:t>
                      </a:r>
                      <a:endParaRPr lang="en-US" sz="1200" b="1" i="0" u="none" strike="noStrike">
                        <a:solidFill>
                          <a:srgbClr val="000000"/>
                        </a:solidFill>
                        <a:effectLst/>
                        <a:latin typeface="Constantia"/>
                      </a:endParaRPr>
                    </a:p>
                  </a:txBody>
                  <a:tcPr marL="9525" marR="9525" marT="9525" marB="0" anchor="b"/>
                </a:tc>
                <a:tc>
                  <a:txBody>
                    <a:bodyPr/>
                    <a:lstStyle/>
                    <a:p>
                      <a:pPr algn="ctr" fontAlgn="b"/>
                      <a:r>
                        <a:rPr lang="en-US" sz="1200" b="1" u="none" strike="noStrike">
                          <a:effectLst/>
                        </a:rPr>
                        <a:t>332602844</a:t>
                      </a:r>
                      <a:endParaRPr lang="en-US" sz="1200" b="1" i="0" u="none" strike="noStrike">
                        <a:solidFill>
                          <a:srgbClr val="000000"/>
                        </a:solidFill>
                        <a:effectLst/>
                        <a:latin typeface="Constantia"/>
                      </a:endParaRPr>
                    </a:p>
                  </a:txBody>
                  <a:tcPr marL="9525" marR="9525" marT="9525" marB="0" anchor="b"/>
                </a:tc>
                <a:tc>
                  <a:txBody>
                    <a:bodyPr/>
                    <a:lstStyle/>
                    <a:p>
                      <a:pPr algn="ctr" fontAlgn="b"/>
                      <a:r>
                        <a:rPr lang="en-US" sz="1200" b="1" u="none" strike="noStrike">
                          <a:effectLst/>
                        </a:rPr>
                        <a:t>103682839</a:t>
                      </a:r>
                      <a:endParaRPr lang="en-US" sz="1200" b="1" i="0" u="none" strike="noStrike">
                        <a:solidFill>
                          <a:srgbClr val="000000"/>
                        </a:solidFill>
                        <a:effectLst/>
                        <a:latin typeface="Constantia"/>
                      </a:endParaRPr>
                    </a:p>
                  </a:txBody>
                  <a:tcPr marL="9525" marR="9525" marT="9525" marB="0" anchor="b"/>
                </a:tc>
                <a:tc>
                  <a:txBody>
                    <a:bodyPr/>
                    <a:lstStyle/>
                    <a:p>
                      <a:pPr algn="ctr" fontAlgn="b"/>
                      <a:r>
                        <a:rPr lang="en-US" sz="1200" b="1" u="none" strike="noStrike">
                          <a:effectLst/>
                        </a:rPr>
                        <a:t>355599</a:t>
                      </a:r>
                      <a:endParaRPr lang="en-US" sz="1200" b="1" i="0" u="none" strike="noStrike">
                        <a:solidFill>
                          <a:srgbClr val="000000"/>
                        </a:solidFill>
                        <a:effectLst/>
                        <a:latin typeface="Constantia"/>
                      </a:endParaRPr>
                    </a:p>
                  </a:txBody>
                  <a:tcPr marL="9525" marR="9525" marT="9525" marB="0" anchor="b"/>
                </a:tc>
                <a:tc>
                  <a:txBody>
                    <a:bodyPr/>
                    <a:lstStyle/>
                    <a:p>
                      <a:pPr algn="ctr" fontAlgn="b"/>
                      <a:r>
                        <a:rPr lang="en-US" sz="1200" b="1" u="none" strike="noStrike">
                          <a:effectLst/>
                        </a:rPr>
                        <a:t>201933679</a:t>
                      </a:r>
                      <a:endParaRPr lang="en-US" sz="1200" b="1" i="0" u="none" strike="noStrike">
                        <a:solidFill>
                          <a:srgbClr val="000000"/>
                        </a:solidFill>
                        <a:effectLst/>
                        <a:latin typeface="Constantia"/>
                      </a:endParaRPr>
                    </a:p>
                  </a:txBody>
                  <a:tcPr marL="9525" marR="9525" marT="9525" marB="0" anchor="b"/>
                </a:tc>
                <a:tc>
                  <a:txBody>
                    <a:bodyPr/>
                    <a:lstStyle/>
                    <a:p>
                      <a:pPr algn="ctr" fontAlgn="b"/>
                      <a:r>
                        <a:rPr lang="en-US" sz="1200" b="1" u="none" strike="noStrike">
                          <a:effectLst/>
                        </a:rPr>
                        <a:t>75297354</a:t>
                      </a:r>
                      <a:endParaRPr lang="en-US" sz="1200" b="1" i="0" u="none" strike="noStrike">
                        <a:solidFill>
                          <a:srgbClr val="000000"/>
                        </a:solidFill>
                        <a:effectLst/>
                        <a:latin typeface="Constantia"/>
                      </a:endParaRPr>
                    </a:p>
                  </a:txBody>
                  <a:tcPr marL="9525" marR="9525" marT="9525" marB="0" anchor="b"/>
                </a:tc>
                <a:tc>
                  <a:txBody>
                    <a:bodyPr/>
                    <a:lstStyle/>
                    <a:p>
                      <a:pPr algn="ctr" fontAlgn="b"/>
                      <a:r>
                        <a:rPr lang="en-US" sz="1200" b="1" u="none" strike="noStrike">
                          <a:effectLst/>
                        </a:rPr>
                        <a:t>4401140</a:t>
                      </a:r>
                      <a:endParaRPr lang="en-US" sz="1200" b="1" i="0" u="none" strike="noStrike">
                        <a:solidFill>
                          <a:srgbClr val="000000"/>
                        </a:solidFill>
                        <a:effectLst/>
                        <a:latin typeface="Constantia"/>
                      </a:endParaRPr>
                    </a:p>
                  </a:txBody>
                  <a:tcPr marL="9525" marR="9525" marT="9525" marB="0" anchor="b"/>
                </a:tc>
                <a:tc>
                  <a:txBody>
                    <a:bodyPr/>
                    <a:lstStyle/>
                    <a:p>
                      <a:pPr algn="ctr" fontAlgn="b"/>
                      <a:r>
                        <a:rPr lang="en-US" sz="1200" b="1" u="none" strike="noStrike">
                          <a:effectLst/>
                        </a:rPr>
                        <a:t>47168502</a:t>
                      </a:r>
                      <a:endParaRPr lang="en-US" sz="1200" b="1" i="0" u="none" strike="noStrike">
                        <a:solidFill>
                          <a:srgbClr val="000000"/>
                        </a:solidFill>
                        <a:effectLst/>
                        <a:latin typeface="Constantia"/>
                      </a:endParaRPr>
                    </a:p>
                  </a:txBody>
                  <a:tcPr marL="9525" marR="9525" marT="9525" marB="0" anchor="b"/>
                </a:tc>
                <a:tc>
                  <a:txBody>
                    <a:bodyPr/>
                    <a:lstStyle/>
                    <a:p>
                      <a:pPr algn="ctr" fontAlgn="b"/>
                      <a:r>
                        <a:rPr lang="en-US" sz="1200" b="1" u="none" strike="noStrike" dirty="0">
                          <a:effectLst/>
                        </a:rPr>
                        <a:t>765441957</a:t>
                      </a:r>
                      <a:endParaRPr lang="en-US" sz="1200" b="1" i="0" u="none" strike="noStrike" dirty="0">
                        <a:solidFill>
                          <a:srgbClr val="000000"/>
                        </a:solidFill>
                        <a:effectLst/>
                        <a:latin typeface="Constantia"/>
                      </a:endParaRPr>
                    </a:p>
                  </a:txBody>
                  <a:tcPr marL="9525" marR="9525" marT="9525" marB="0" anchor="b"/>
                </a:tc>
              </a:tr>
            </a:tbl>
          </a:graphicData>
        </a:graphic>
      </p:graphicFrame>
    </p:spTree>
    <p:extLst>
      <p:ext uri="{BB962C8B-B14F-4D97-AF65-F5344CB8AC3E}">
        <p14:creationId xmlns:p14="http://schemas.microsoft.com/office/powerpoint/2010/main" val="20651660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200" dirty="0">
                <a:solidFill>
                  <a:schemeClr val="bg1"/>
                </a:solidFill>
                <a:latin typeface="Times New Roman" panose="02020603050405020304" pitchFamily="18" charset="0"/>
                <a:cs typeface="Times New Roman" panose="02020603050405020304" pitchFamily="18" charset="0"/>
              </a:rPr>
              <a:t>Data of Top 10 Average Revenue/Customers</a:t>
            </a:r>
            <a:endParaRPr lang="en-US" sz="3200" dirty="0">
              <a:solidFill>
                <a:schemeClr val="bg1"/>
              </a:solidFill>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247251103"/>
              </p:ext>
            </p:extLst>
          </p:nvPr>
        </p:nvGraphicFramePr>
        <p:xfrm>
          <a:off x="480646" y="2239107"/>
          <a:ext cx="11441723" cy="4267200"/>
        </p:xfrm>
        <a:graphic>
          <a:graphicData uri="http://schemas.openxmlformats.org/drawingml/2006/table">
            <a:tbl>
              <a:tblPr>
                <a:tableStyleId>{5C22544A-7EE6-4342-B048-85BDC9FD1C3A}</a:tableStyleId>
              </a:tblPr>
              <a:tblGrid>
                <a:gridCol w="4454769"/>
                <a:gridCol w="6986954"/>
              </a:tblGrid>
              <a:tr h="355600">
                <a:tc>
                  <a:txBody>
                    <a:bodyPr/>
                    <a:lstStyle/>
                    <a:p>
                      <a:pPr algn="ctr" fontAlgn="b"/>
                      <a:r>
                        <a:rPr lang="en-US" sz="1200" b="1" u="none" strike="noStrike" dirty="0">
                          <a:effectLst/>
                        </a:rPr>
                        <a:t>Row Labels</a:t>
                      </a:r>
                      <a:endParaRPr lang="en-US" sz="1200" b="1" i="0" u="none" strike="noStrike" dirty="0">
                        <a:solidFill>
                          <a:srgbClr val="000000"/>
                        </a:solidFill>
                        <a:effectLst/>
                        <a:latin typeface="Constantia"/>
                      </a:endParaRPr>
                    </a:p>
                  </a:txBody>
                  <a:tcPr marL="9525" marR="9525" marT="9525" marB="0" anchor="b"/>
                </a:tc>
                <a:tc>
                  <a:txBody>
                    <a:bodyPr/>
                    <a:lstStyle/>
                    <a:p>
                      <a:pPr algn="ctr" fontAlgn="b"/>
                      <a:r>
                        <a:rPr lang="en-US" sz="1200" b="1" u="none" strike="noStrike" dirty="0">
                          <a:effectLst/>
                        </a:rPr>
                        <a:t>Average of </a:t>
                      </a:r>
                      <a:r>
                        <a:rPr lang="en-US" sz="1200" b="1" u="none" strike="noStrike" dirty="0" err="1">
                          <a:effectLst/>
                        </a:rPr>
                        <a:t>OrderValue</a:t>
                      </a:r>
                      <a:endParaRPr lang="en-US" sz="1200" b="1" i="0" u="none" strike="noStrike" dirty="0">
                        <a:solidFill>
                          <a:srgbClr val="000000"/>
                        </a:solidFill>
                        <a:effectLst/>
                        <a:latin typeface="Constantia"/>
                      </a:endParaRPr>
                    </a:p>
                  </a:txBody>
                  <a:tcPr marL="9525" marR="9525" marT="9525" marB="0" anchor="b"/>
                </a:tc>
              </a:tr>
              <a:tr h="355600">
                <a:tc>
                  <a:txBody>
                    <a:bodyPr/>
                    <a:lstStyle/>
                    <a:p>
                      <a:pPr algn="ctr" fontAlgn="b"/>
                      <a:r>
                        <a:rPr lang="en-US" sz="1200" b="1" u="none" strike="noStrike">
                          <a:effectLst/>
                        </a:rPr>
                        <a:t>C01-0002</a:t>
                      </a:r>
                      <a:endParaRPr lang="en-US" sz="1200" b="1" i="0" u="none" strike="noStrike">
                        <a:solidFill>
                          <a:srgbClr val="000000"/>
                        </a:solidFill>
                        <a:effectLst/>
                        <a:latin typeface="Constantia"/>
                      </a:endParaRPr>
                    </a:p>
                  </a:txBody>
                  <a:tcPr marL="9525" marR="9525" marT="9525" marB="0" anchor="b"/>
                </a:tc>
                <a:tc>
                  <a:txBody>
                    <a:bodyPr/>
                    <a:lstStyle/>
                    <a:p>
                      <a:pPr algn="ctr" fontAlgn="b"/>
                      <a:r>
                        <a:rPr lang="en-US" sz="1200" b="1" u="none" strike="noStrike">
                          <a:effectLst/>
                        </a:rPr>
                        <a:t>49298.75758</a:t>
                      </a:r>
                      <a:endParaRPr lang="en-US" sz="1200" b="1" i="0" u="none" strike="noStrike">
                        <a:solidFill>
                          <a:srgbClr val="000000"/>
                        </a:solidFill>
                        <a:effectLst/>
                        <a:latin typeface="Constantia"/>
                      </a:endParaRPr>
                    </a:p>
                  </a:txBody>
                  <a:tcPr marL="9525" marR="9525" marT="9525" marB="0" anchor="b"/>
                </a:tc>
              </a:tr>
              <a:tr h="355600">
                <a:tc>
                  <a:txBody>
                    <a:bodyPr/>
                    <a:lstStyle/>
                    <a:p>
                      <a:pPr algn="ctr" fontAlgn="b"/>
                      <a:r>
                        <a:rPr lang="en-US" sz="1200" b="1" u="none" strike="noStrike">
                          <a:effectLst/>
                        </a:rPr>
                        <a:t>C01-0003</a:t>
                      </a:r>
                      <a:endParaRPr lang="en-US" sz="1200" b="1" i="0" u="none" strike="noStrike">
                        <a:solidFill>
                          <a:srgbClr val="000000"/>
                        </a:solidFill>
                        <a:effectLst/>
                        <a:latin typeface="Constantia"/>
                      </a:endParaRPr>
                    </a:p>
                  </a:txBody>
                  <a:tcPr marL="9525" marR="9525" marT="9525" marB="0" anchor="b"/>
                </a:tc>
                <a:tc>
                  <a:txBody>
                    <a:bodyPr/>
                    <a:lstStyle/>
                    <a:p>
                      <a:pPr algn="ctr" fontAlgn="b"/>
                      <a:r>
                        <a:rPr lang="en-US" sz="1200" b="1" u="none" strike="noStrike">
                          <a:effectLst/>
                        </a:rPr>
                        <a:t>73420.69231</a:t>
                      </a:r>
                      <a:endParaRPr lang="en-US" sz="1200" b="1" i="0" u="none" strike="noStrike">
                        <a:solidFill>
                          <a:srgbClr val="000000"/>
                        </a:solidFill>
                        <a:effectLst/>
                        <a:latin typeface="Constantia"/>
                      </a:endParaRPr>
                    </a:p>
                  </a:txBody>
                  <a:tcPr marL="9525" marR="9525" marT="9525" marB="0" anchor="b"/>
                </a:tc>
              </a:tr>
              <a:tr h="355600">
                <a:tc>
                  <a:txBody>
                    <a:bodyPr/>
                    <a:lstStyle/>
                    <a:p>
                      <a:pPr algn="ctr" fontAlgn="b"/>
                      <a:r>
                        <a:rPr lang="en-US" sz="1200" b="1" u="none" strike="noStrike">
                          <a:effectLst/>
                        </a:rPr>
                        <a:t>C06-0003</a:t>
                      </a:r>
                      <a:endParaRPr lang="en-US" sz="1200" b="1" i="0" u="none" strike="noStrike">
                        <a:solidFill>
                          <a:srgbClr val="000000"/>
                        </a:solidFill>
                        <a:effectLst/>
                        <a:latin typeface="Constantia"/>
                      </a:endParaRPr>
                    </a:p>
                  </a:txBody>
                  <a:tcPr marL="9525" marR="9525" marT="9525" marB="0" anchor="b"/>
                </a:tc>
                <a:tc>
                  <a:txBody>
                    <a:bodyPr/>
                    <a:lstStyle/>
                    <a:p>
                      <a:pPr algn="ctr" fontAlgn="b"/>
                      <a:r>
                        <a:rPr lang="en-US" sz="1200" b="1" u="none" strike="noStrike">
                          <a:effectLst/>
                        </a:rPr>
                        <a:t>38089.86667</a:t>
                      </a:r>
                      <a:endParaRPr lang="en-US" sz="1200" b="1" i="0" u="none" strike="noStrike">
                        <a:solidFill>
                          <a:srgbClr val="000000"/>
                        </a:solidFill>
                        <a:effectLst/>
                        <a:latin typeface="Constantia"/>
                      </a:endParaRPr>
                    </a:p>
                  </a:txBody>
                  <a:tcPr marL="9525" marR="9525" marT="9525" marB="0" anchor="b"/>
                </a:tc>
              </a:tr>
              <a:tr h="355600">
                <a:tc>
                  <a:txBody>
                    <a:bodyPr/>
                    <a:lstStyle/>
                    <a:p>
                      <a:pPr algn="ctr" fontAlgn="b"/>
                      <a:r>
                        <a:rPr lang="en-US" sz="1200" b="1" u="none" strike="noStrike">
                          <a:effectLst/>
                        </a:rPr>
                        <a:t>C06-0015</a:t>
                      </a:r>
                      <a:endParaRPr lang="en-US" sz="1200" b="1" i="0" u="none" strike="noStrike">
                        <a:solidFill>
                          <a:srgbClr val="000000"/>
                        </a:solidFill>
                        <a:effectLst/>
                        <a:latin typeface="Constantia"/>
                      </a:endParaRPr>
                    </a:p>
                  </a:txBody>
                  <a:tcPr marL="9525" marR="9525" marT="9525" marB="0" anchor="b"/>
                </a:tc>
                <a:tc>
                  <a:txBody>
                    <a:bodyPr/>
                    <a:lstStyle/>
                    <a:p>
                      <a:pPr algn="ctr" fontAlgn="b"/>
                      <a:r>
                        <a:rPr lang="en-US" sz="1200" b="1" u="none" strike="noStrike">
                          <a:effectLst/>
                        </a:rPr>
                        <a:t>34913</a:t>
                      </a:r>
                      <a:endParaRPr lang="en-US" sz="1200" b="1" i="0" u="none" strike="noStrike">
                        <a:solidFill>
                          <a:srgbClr val="000000"/>
                        </a:solidFill>
                        <a:effectLst/>
                        <a:latin typeface="Constantia"/>
                      </a:endParaRPr>
                    </a:p>
                  </a:txBody>
                  <a:tcPr marL="9525" marR="9525" marT="9525" marB="0" anchor="b"/>
                </a:tc>
              </a:tr>
              <a:tr h="355600">
                <a:tc>
                  <a:txBody>
                    <a:bodyPr/>
                    <a:lstStyle/>
                    <a:p>
                      <a:pPr algn="ctr" fontAlgn="b"/>
                      <a:r>
                        <a:rPr lang="en-US" sz="1200" b="1" u="none" strike="noStrike">
                          <a:effectLst/>
                        </a:rPr>
                        <a:t>C27-2435</a:t>
                      </a:r>
                      <a:endParaRPr lang="en-US" sz="1200" b="1" i="0" u="none" strike="noStrike">
                        <a:solidFill>
                          <a:srgbClr val="000000"/>
                        </a:solidFill>
                        <a:effectLst/>
                        <a:latin typeface="Constantia"/>
                      </a:endParaRPr>
                    </a:p>
                  </a:txBody>
                  <a:tcPr marL="9525" marR="9525" marT="9525" marB="0" anchor="b"/>
                </a:tc>
                <a:tc>
                  <a:txBody>
                    <a:bodyPr/>
                    <a:lstStyle/>
                    <a:p>
                      <a:pPr algn="ctr" fontAlgn="b"/>
                      <a:r>
                        <a:rPr lang="en-US" sz="1200" b="1" u="none" strike="noStrike" dirty="0">
                          <a:effectLst/>
                        </a:rPr>
                        <a:t>47027.39362</a:t>
                      </a:r>
                      <a:endParaRPr lang="en-US" sz="1200" b="1" i="0" u="none" strike="noStrike" dirty="0">
                        <a:solidFill>
                          <a:srgbClr val="000000"/>
                        </a:solidFill>
                        <a:effectLst/>
                        <a:latin typeface="Constantia"/>
                      </a:endParaRPr>
                    </a:p>
                  </a:txBody>
                  <a:tcPr marL="9525" marR="9525" marT="9525" marB="0" anchor="b"/>
                </a:tc>
              </a:tr>
              <a:tr h="355600">
                <a:tc>
                  <a:txBody>
                    <a:bodyPr/>
                    <a:lstStyle/>
                    <a:p>
                      <a:pPr algn="ctr" fontAlgn="b"/>
                      <a:r>
                        <a:rPr lang="en-US" sz="1200" b="1" u="none" strike="noStrike">
                          <a:effectLst/>
                        </a:rPr>
                        <a:t>C27-2707</a:t>
                      </a:r>
                      <a:endParaRPr lang="en-US" sz="1200" b="1" i="0" u="none" strike="noStrike">
                        <a:solidFill>
                          <a:srgbClr val="000000"/>
                        </a:solidFill>
                        <a:effectLst/>
                        <a:latin typeface="Constantia"/>
                      </a:endParaRPr>
                    </a:p>
                  </a:txBody>
                  <a:tcPr marL="9525" marR="9525" marT="9525" marB="0" anchor="b"/>
                </a:tc>
                <a:tc>
                  <a:txBody>
                    <a:bodyPr/>
                    <a:lstStyle/>
                    <a:p>
                      <a:pPr algn="ctr" fontAlgn="b"/>
                      <a:r>
                        <a:rPr lang="en-US" sz="1200" b="1" u="none" strike="noStrike">
                          <a:effectLst/>
                        </a:rPr>
                        <a:t>124844.3077</a:t>
                      </a:r>
                      <a:endParaRPr lang="en-US" sz="1200" b="1" i="0" u="none" strike="noStrike">
                        <a:solidFill>
                          <a:srgbClr val="000000"/>
                        </a:solidFill>
                        <a:effectLst/>
                        <a:latin typeface="Constantia"/>
                      </a:endParaRPr>
                    </a:p>
                  </a:txBody>
                  <a:tcPr marL="9525" marR="9525" marT="9525" marB="0" anchor="b"/>
                </a:tc>
              </a:tr>
              <a:tr h="355600">
                <a:tc>
                  <a:txBody>
                    <a:bodyPr/>
                    <a:lstStyle/>
                    <a:p>
                      <a:pPr algn="ctr" fontAlgn="b"/>
                      <a:r>
                        <a:rPr lang="en-US" sz="1200" b="1" u="none" strike="noStrike">
                          <a:effectLst/>
                        </a:rPr>
                        <a:t>C27-3099</a:t>
                      </a:r>
                      <a:endParaRPr lang="en-US" sz="1200" b="1" i="0" u="none" strike="noStrike">
                        <a:solidFill>
                          <a:srgbClr val="000000"/>
                        </a:solidFill>
                        <a:effectLst/>
                        <a:latin typeface="Constantia"/>
                      </a:endParaRPr>
                    </a:p>
                  </a:txBody>
                  <a:tcPr marL="9525" marR="9525" marT="9525" marB="0" anchor="b"/>
                </a:tc>
                <a:tc>
                  <a:txBody>
                    <a:bodyPr/>
                    <a:lstStyle/>
                    <a:p>
                      <a:pPr algn="ctr" fontAlgn="b"/>
                      <a:r>
                        <a:rPr lang="en-US" sz="1200" b="1" u="none" strike="noStrike">
                          <a:effectLst/>
                        </a:rPr>
                        <a:t>88356</a:t>
                      </a:r>
                      <a:endParaRPr lang="en-US" sz="1200" b="1" i="0" u="none" strike="noStrike">
                        <a:solidFill>
                          <a:srgbClr val="000000"/>
                        </a:solidFill>
                        <a:effectLst/>
                        <a:latin typeface="Constantia"/>
                      </a:endParaRPr>
                    </a:p>
                  </a:txBody>
                  <a:tcPr marL="9525" marR="9525" marT="9525" marB="0" anchor="b"/>
                </a:tc>
              </a:tr>
              <a:tr h="355600">
                <a:tc>
                  <a:txBody>
                    <a:bodyPr/>
                    <a:lstStyle/>
                    <a:p>
                      <a:pPr algn="ctr" fontAlgn="b"/>
                      <a:r>
                        <a:rPr lang="en-US" sz="1200" b="1" u="none" strike="noStrike">
                          <a:effectLst/>
                        </a:rPr>
                        <a:t>C27-3612</a:t>
                      </a:r>
                      <a:endParaRPr lang="en-US" sz="1200" b="1" i="0" u="none" strike="noStrike">
                        <a:solidFill>
                          <a:srgbClr val="000000"/>
                        </a:solidFill>
                        <a:effectLst/>
                        <a:latin typeface="Constantia"/>
                      </a:endParaRPr>
                    </a:p>
                  </a:txBody>
                  <a:tcPr marL="9525" marR="9525" marT="9525" marB="0" anchor="b"/>
                </a:tc>
                <a:tc>
                  <a:txBody>
                    <a:bodyPr/>
                    <a:lstStyle/>
                    <a:p>
                      <a:pPr algn="ctr" fontAlgn="b"/>
                      <a:r>
                        <a:rPr lang="en-US" sz="1200" b="1" u="none" strike="noStrike">
                          <a:effectLst/>
                        </a:rPr>
                        <a:t>58078</a:t>
                      </a:r>
                      <a:endParaRPr lang="en-US" sz="1200" b="1" i="0" u="none" strike="noStrike">
                        <a:solidFill>
                          <a:srgbClr val="000000"/>
                        </a:solidFill>
                        <a:effectLst/>
                        <a:latin typeface="Constantia"/>
                      </a:endParaRPr>
                    </a:p>
                  </a:txBody>
                  <a:tcPr marL="9525" marR="9525" marT="9525" marB="0" anchor="b"/>
                </a:tc>
              </a:tr>
              <a:tr h="355600">
                <a:tc>
                  <a:txBody>
                    <a:bodyPr/>
                    <a:lstStyle/>
                    <a:p>
                      <a:pPr algn="ctr" fontAlgn="b"/>
                      <a:r>
                        <a:rPr lang="en-US" sz="1200" b="1" u="none" strike="noStrike">
                          <a:effectLst/>
                        </a:rPr>
                        <a:t>C29-0134</a:t>
                      </a:r>
                      <a:endParaRPr lang="en-US" sz="1200" b="1" i="0" u="none" strike="noStrike">
                        <a:solidFill>
                          <a:srgbClr val="000000"/>
                        </a:solidFill>
                        <a:effectLst/>
                        <a:latin typeface="Constantia"/>
                      </a:endParaRPr>
                    </a:p>
                  </a:txBody>
                  <a:tcPr marL="9525" marR="9525" marT="9525" marB="0" anchor="b"/>
                </a:tc>
                <a:tc>
                  <a:txBody>
                    <a:bodyPr/>
                    <a:lstStyle/>
                    <a:p>
                      <a:pPr algn="ctr" fontAlgn="b"/>
                      <a:r>
                        <a:rPr lang="en-US" sz="1200" b="1" u="none" strike="noStrike">
                          <a:effectLst/>
                        </a:rPr>
                        <a:t>36961.83333</a:t>
                      </a:r>
                      <a:endParaRPr lang="en-US" sz="1200" b="1" i="0" u="none" strike="noStrike">
                        <a:solidFill>
                          <a:srgbClr val="000000"/>
                        </a:solidFill>
                        <a:effectLst/>
                        <a:latin typeface="Constantia"/>
                      </a:endParaRPr>
                    </a:p>
                  </a:txBody>
                  <a:tcPr marL="9525" marR="9525" marT="9525" marB="0" anchor="b"/>
                </a:tc>
              </a:tr>
              <a:tr h="355600">
                <a:tc>
                  <a:txBody>
                    <a:bodyPr/>
                    <a:lstStyle/>
                    <a:p>
                      <a:pPr algn="ctr" fontAlgn="b"/>
                      <a:r>
                        <a:rPr lang="en-US" sz="1200" b="1" u="none" strike="noStrike">
                          <a:effectLst/>
                        </a:rPr>
                        <a:t>C29-0241</a:t>
                      </a:r>
                      <a:endParaRPr lang="en-US" sz="1200" b="1" i="0" u="none" strike="noStrike">
                        <a:solidFill>
                          <a:srgbClr val="000000"/>
                        </a:solidFill>
                        <a:effectLst/>
                        <a:latin typeface="Constantia"/>
                      </a:endParaRPr>
                    </a:p>
                  </a:txBody>
                  <a:tcPr marL="9525" marR="9525" marT="9525" marB="0" anchor="b"/>
                </a:tc>
                <a:tc>
                  <a:txBody>
                    <a:bodyPr/>
                    <a:lstStyle/>
                    <a:p>
                      <a:pPr algn="ctr" fontAlgn="b"/>
                      <a:r>
                        <a:rPr lang="en-US" sz="1200" b="1" u="none" strike="noStrike">
                          <a:effectLst/>
                        </a:rPr>
                        <a:t>58779</a:t>
                      </a:r>
                      <a:endParaRPr lang="en-US" sz="1200" b="1" i="0" u="none" strike="noStrike">
                        <a:solidFill>
                          <a:srgbClr val="000000"/>
                        </a:solidFill>
                        <a:effectLst/>
                        <a:latin typeface="Constantia"/>
                      </a:endParaRPr>
                    </a:p>
                  </a:txBody>
                  <a:tcPr marL="9525" marR="9525" marT="9525" marB="0" anchor="b"/>
                </a:tc>
              </a:tr>
              <a:tr h="355600">
                <a:tc>
                  <a:txBody>
                    <a:bodyPr/>
                    <a:lstStyle/>
                    <a:p>
                      <a:pPr algn="ctr" fontAlgn="b"/>
                      <a:r>
                        <a:rPr lang="en-US" sz="1200" b="1" u="none" strike="noStrike">
                          <a:effectLst/>
                        </a:rPr>
                        <a:t>Grand Total</a:t>
                      </a:r>
                      <a:endParaRPr lang="en-US" sz="1200" b="1" i="0" u="none" strike="noStrike">
                        <a:solidFill>
                          <a:srgbClr val="000000"/>
                        </a:solidFill>
                        <a:effectLst/>
                        <a:latin typeface="Constantia"/>
                      </a:endParaRPr>
                    </a:p>
                  </a:txBody>
                  <a:tcPr marL="9525" marR="9525" marT="9525" marB="0" anchor="b"/>
                </a:tc>
                <a:tc>
                  <a:txBody>
                    <a:bodyPr/>
                    <a:lstStyle/>
                    <a:p>
                      <a:pPr algn="ctr" fontAlgn="b"/>
                      <a:r>
                        <a:rPr lang="en-US" sz="1200" b="1" u="none" strike="noStrike" dirty="0">
                          <a:effectLst/>
                        </a:rPr>
                        <a:t>53527.10811</a:t>
                      </a:r>
                      <a:endParaRPr lang="en-US" sz="1200" b="1" i="0" u="none" strike="noStrike" dirty="0">
                        <a:solidFill>
                          <a:srgbClr val="000000"/>
                        </a:solidFill>
                        <a:effectLst/>
                        <a:latin typeface="Constantia"/>
                      </a:endParaRPr>
                    </a:p>
                  </a:txBody>
                  <a:tcPr marL="9525" marR="9525" marT="9525" marB="0" anchor="b"/>
                </a:tc>
              </a:tr>
            </a:tbl>
          </a:graphicData>
        </a:graphic>
      </p:graphicFrame>
    </p:spTree>
    <p:extLst>
      <p:ext uri="{BB962C8B-B14F-4D97-AF65-F5344CB8AC3E}">
        <p14:creationId xmlns:p14="http://schemas.microsoft.com/office/powerpoint/2010/main" val="26947843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200" dirty="0">
                <a:solidFill>
                  <a:schemeClr val="bg1"/>
                </a:solidFill>
                <a:latin typeface="Times New Roman" panose="02020603050405020304" pitchFamily="18" charset="0"/>
                <a:cs typeface="Times New Roman" panose="02020603050405020304" pitchFamily="18" charset="0"/>
              </a:rPr>
              <a:t>Top 10 Sale State</a:t>
            </a:r>
            <a:endParaRPr lang="en-US" sz="3200" dirty="0">
              <a:solidFill>
                <a:schemeClr val="bg1"/>
              </a:solidFill>
              <a:latin typeface="Times New Roman" panose="02020603050405020304" pitchFamily="18" charset="0"/>
              <a:cs typeface="Times New Roman" panose="02020603050405020304" pitchFamily="18"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844845817"/>
              </p:ext>
            </p:extLst>
          </p:nvPr>
        </p:nvGraphicFramePr>
        <p:xfrm>
          <a:off x="117232" y="2180497"/>
          <a:ext cx="11934091" cy="4536831"/>
        </p:xfrm>
        <a:graphic>
          <a:graphicData uri="http://schemas.openxmlformats.org/drawingml/2006/table">
            <a:tbl>
              <a:tblPr>
                <a:tableStyleId>{5C22544A-7EE6-4342-B048-85BDC9FD1C3A}</a:tableStyleId>
              </a:tblPr>
              <a:tblGrid>
                <a:gridCol w="2710058"/>
                <a:gridCol w="2458103"/>
                <a:gridCol w="1671511"/>
                <a:gridCol w="1671511"/>
                <a:gridCol w="1671511"/>
                <a:gridCol w="1751397"/>
              </a:tblGrid>
              <a:tr h="348987">
                <a:tc>
                  <a:txBody>
                    <a:bodyPr/>
                    <a:lstStyle/>
                    <a:p>
                      <a:pPr algn="ctr" fontAlgn="b"/>
                      <a:r>
                        <a:rPr lang="en-US" sz="1200" b="1" u="none" strike="noStrike" dirty="0">
                          <a:solidFill>
                            <a:schemeClr val="bg1"/>
                          </a:solidFill>
                          <a:effectLst/>
                        </a:rPr>
                        <a:t>Sum of </a:t>
                      </a:r>
                      <a:r>
                        <a:rPr lang="en-US" sz="1200" b="1" u="none" strike="noStrike" dirty="0" err="1">
                          <a:solidFill>
                            <a:schemeClr val="bg1"/>
                          </a:solidFill>
                          <a:effectLst/>
                        </a:rPr>
                        <a:t>OrderValue</a:t>
                      </a:r>
                      <a:endParaRPr lang="en-US" sz="1200" b="1" i="0" u="none" strike="noStrike" dirty="0">
                        <a:solidFill>
                          <a:schemeClr val="bg1"/>
                        </a:solidFill>
                        <a:effectLst/>
                        <a:latin typeface="Constantia"/>
                      </a:endParaRPr>
                    </a:p>
                  </a:txBody>
                  <a:tcPr marL="9525" marR="9525" marT="9525" marB="0" anchor="b"/>
                </a:tc>
                <a:tc>
                  <a:txBody>
                    <a:bodyPr/>
                    <a:lstStyle/>
                    <a:p>
                      <a:pPr algn="ctr" fontAlgn="b"/>
                      <a:r>
                        <a:rPr lang="en-US" sz="1200" b="1" u="none" strike="noStrike">
                          <a:solidFill>
                            <a:schemeClr val="bg1"/>
                          </a:solidFill>
                          <a:effectLst/>
                        </a:rPr>
                        <a:t>Column Labels</a:t>
                      </a:r>
                      <a:endParaRPr lang="en-US" sz="1200" b="1" i="0" u="none" strike="noStrike">
                        <a:solidFill>
                          <a:schemeClr val="bg1"/>
                        </a:solidFill>
                        <a:effectLst/>
                        <a:latin typeface="Constantia"/>
                      </a:endParaRPr>
                    </a:p>
                  </a:txBody>
                  <a:tcPr marL="9525" marR="9525" marT="9525" marB="0" anchor="b"/>
                </a:tc>
                <a:tc>
                  <a:txBody>
                    <a:bodyPr/>
                    <a:lstStyle/>
                    <a:p>
                      <a:pPr algn="ctr" fontAlgn="b"/>
                      <a:endParaRPr lang="en-US" sz="1200" b="1" i="0" u="none" strike="noStrike">
                        <a:solidFill>
                          <a:schemeClr val="bg1"/>
                        </a:solidFill>
                        <a:effectLst/>
                        <a:latin typeface="Constantia"/>
                      </a:endParaRPr>
                    </a:p>
                  </a:txBody>
                  <a:tcPr marL="9525" marR="9525" marT="9525" marB="0" anchor="b"/>
                </a:tc>
                <a:tc>
                  <a:txBody>
                    <a:bodyPr/>
                    <a:lstStyle/>
                    <a:p>
                      <a:pPr algn="ctr" fontAlgn="b"/>
                      <a:endParaRPr lang="en-US" sz="1200" b="1" i="0" u="none" strike="noStrike">
                        <a:solidFill>
                          <a:schemeClr val="bg1"/>
                        </a:solidFill>
                        <a:effectLst/>
                        <a:latin typeface="Constantia"/>
                      </a:endParaRPr>
                    </a:p>
                  </a:txBody>
                  <a:tcPr marL="9525" marR="9525" marT="9525" marB="0" anchor="b"/>
                </a:tc>
                <a:tc>
                  <a:txBody>
                    <a:bodyPr/>
                    <a:lstStyle/>
                    <a:p>
                      <a:pPr algn="ctr" fontAlgn="b"/>
                      <a:endParaRPr lang="en-US" sz="1200" b="1" i="0" u="none" strike="noStrike">
                        <a:solidFill>
                          <a:schemeClr val="bg1"/>
                        </a:solidFill>
                        <a:effectLst/>
                        <a:latin typeface="Constantia"/>
                      </a:endParaRPr>
                    </a:p>
                  </a:txBody>
                  <a:tcPr marL="9525" marR="9525" marT="9525" marB="0" anchor="b"/>
                </a:tc>
                <a:tc>
                  <a:txBody>
                    <a:bodyPr/>
                    <a:lstStyle/>
                    <a:p>
                      <a:pPr algn="ctr" fontAlgn="b"/>
                      <a:endParaRPr lang="en-US" sz="1200" b="1" i="0" u="none" strike="noStrike">
                        <a:solidFill>
                          <a:schemeClr val="bg1"/>
                        </a:solidFill>
                        <a:effectLst/>
                        <a:latin typeface="Constantia"/>
                      </a:endParaRPr>
                    </a:p>
                  </a:txBody>
                  <a:tcPr marL="9525" marR="9525" marT="9525" marB="0" anchor="b"/>
                </a:tc>
              </a:tr>
              <a:tr h="348987">
                <a:tc>
                  <a:txBody>
                    <a:bodyPr/>
                    <a:lstStyle/>
                    <a:p>
                      <a:pPr algn="ctr" fontAlgn="b"/>
                      <a:r>
                        <a:rPr lang="en-US" sz="1200" b="1" u="none" strike="noStrike">
                          <a:solidFill>
                            <a:schemeClr val="bg1"/>
                          </a:solidFill>
                          <a:effectLst/>
                        </a:rPr>
                        <a:t>Row Labels</a:t>
                      </a:r>
                      <a:endParaRPr lang="en-US" sz="1200" b="1" i="0" u="none" strike="noStrike">
                        <a:solidFill>
                          <a:schemeClr val="bg1"/>
                        </a:solidFill>
                        <a:effectLst/>
                        <a:latin typeface="Constantia"/>
                      </a:endParaRPr>
                    </a:p>
                  </a:txBody>
                  <a:tcPr marL="9525" marR="9525" marT="9525" marB="0" anchor="b"/>
                </a:tc>
                <a:tc>
                  <a:txBody>
                    <a:bodyPr/>
                    <a:lstStyle/>
                    <a:p>
                      <a:pPr algn="ctr" fontAlgn="b"/>
                      <a:r>
                        <a:rPr lang="en-US" sz="1200" b="1" u="none" strike="noStrike">
                          <a:solidFill>
                            <a:schemeClr val="bg1"/>
                          </a:solidFill>
                          <a:effectLst/>
                        </a:rPr>
                        <a:t>2019</a:t>
                      </a:r>
                      <a:endParaRPr lang="en-US" sz="1200" b="1" i="0" u="none" strike="noStrike">
                        <a:solidFill>
                          <a:schemeClr val="bg1"/>
                        </a:solidFill>
                        <a:effectLst/>
                        <a:latin typeface="Constantia"/>
                      </a:endParaRPr>
                    </a:p>
                  </a:txBody>
                  <a:tcPr marL="9525" marR="9525" marT="9525" marB="0" anchor="b"/>
                </a:tc>
                <a:tc>
                  <a:txBody>
                    <a:bodyPr/>
                    <a:lstStyle/>
                    <a:p>
                      <a:pPr algn="ctr" fontAlgn="b"/>
                      <a:r>
                        <a:rPr lang="en-US" sz="1200" b="1" u="none" strike="noStrike">
                          <a:solidFill>
                            <a:schemeClr val="bg1"/>
                          </a:solidFill>
                          <a:effectLst/>
                        </a:rPr>
                        <a:t>2020</a:t>
                      </a:r>
                      <a:endParaRPr lang="en-US" sz="1200" b="1" i="0" u="none" strike="noStrike">
                        <a:solidFill>
                          <a:schemeClr val="bg1"/>
                        </a:solidFill>
                        <a:effectLst/>
                        <a:latin typeface="Constantia"/>
                      </a:endParaRPr>
                    </a:p>
                  </a:txBody>
                  <a:tcPr marL="9525" marR="9525" marT="9525" marB="0" anchor="b"/>
                </a:tc>
                <a:tc>
                  <a:txBody>
                    <a:bodyPr/>
                    <a:lstStyle/>
                    <a:p>
                      <a:pPr algn="ctr" fontAlgn="b"/>
                      <a:r>
                        <a:rPr lang="en-US" sz="1200" b="1" u="none" strike="noStrike">
                          <a:solidFill>
                            <a:schemeClr val="bg1"/>
                          </a:solidFill>
                          <a:effectLst/>
                        </a:rPr>
                        <a:t>2021</a:t>
                      </a:r>
                      <a:endParaRPr lang="en-US" sz="1200" b="1" i="0" u="none" strike="noStrike">
                        <a:solidFill>
                          <a:schemeClr val="bg1"/>
                        </a:solidFill>
                        <a:effectLst/>
                        <a:latin typeface="Constantia"/>
                      </a:endParaRPr>
                    </a:p>
                  </a:txBody>
                  <a:tcPr marL="9525" marR="9525" marT="9525" marB="0" anchor="b"/>
                </a:tc>
                <a:tc>
                  <a:txBody>
                    <a:bodyPr/>
                    <a:lstStyle/>
                    <a:p>
                      <a:pPr algn="ctr" fontAlgn="b"/>
                      <a:r>
                        <a:rPr lang="en-US" sz="1200" b="1" u="none" strike="noStrike">
                          <a:solidFill>
                            <a:schemeClr val="bg1"/>
                          </a:solidFill>
                          <a:effectLst/>
                        </a:rPr>
                        <a:t>2022</a:t>
                      </a:r>
                      <a:endParaRPr lang="en-US" sz="1200" b="1" i="0" u="none" strike="noStrike">
                        <a:solidFill>
                          <a:schemeClr val="bg1"/>
                        </a:solidFill>
                        <a:effectLst/>
                        <a:latin typeface="Constantia"/>
                      </a:endParaRPr>
                    </a:p>
                  </a:txBody>
                  <a:tcPr marL="9525" marR="9525" marT="9525" marB="0" anchor="b"/>
                </a:tc>
                <a:tc>
                  <a:txBody>
                    <a:bodyPr/>
                    <a:lstStyle/>
                    <a:p>
                      <a:pPr algn="ctr" fontAlgn="b"/>
                      <a:r>
                        <a:rPr lang="en-US" sz="1200" b="1" u="none" strike="noStrike">
                          <a:solidFill>
                            <a:schemeClr val="bg1"/>
                          </a:solidFill>
                          <a:effectLst/>
                        </a:rPr>
                        <a:t>Grand Total</a:t>
                      </a:r>
                      <a:endParaRPr lang="en-US" sz="1200" b="1" i="0" u="none" strike="noStrike">
                        <a:solidFill>
                          <a:schemeClr val="bg1"/>
                        </a:solidFill>
                        <a:effectLst/>
                        <a:latin typeface="Constantia"/>
                      </a:endParaRPr>
                    </a:p>
                  </a:txBody>
                  <a:tcPr marL="9525" marR="9525" marT="9525" marB="0" anchor="b"/>
                </a:tc>
              </a:tr>
              <a:tr h="348987">
                <a:tc>
                  <a:txBody>
                    <a:bodyPr/>
                    <a:lstStyle/>
                    <a:p>
                      <a:pPr algn="ctr" fontAlgn="b"/>
                      <a:r>
                        <a:rPr lang="en-US" sz="1200" b="1" u="none" strike="noStrike">
                          <a:solidFill>
                            <a:schemeClr val="bg1"/>
                          </a:solidFill>
                          <a:effectLst/>
                        </a:rPr>
                        <a:t>Bihar</a:t>
                      </a:r>
                      <a:endParaRPr lang="en-US" sz="1200" b="1" i="0" u="none" strike="noStrike">
                        <a:solidFill>
                          <a:schemeClr val="bg1"/>
                        </a:solidFill>
                        <a:effectLst/>
                        <a:latin typeface="Constantia"/>
                      </a:endParaRPr>
                    </a:p>
                  </a:txBody>
                  <a:tcPr marL="9525" marR="9525" marT="9525" marB="0" anchor="b"/>
                </a:tc>
                <a:tc>
                  <a:txBody>
                    <a:bodyPr/>
                    <a:lstStyle/>
                    <a:p>
                      <a:pPr algn="ctr" fontAlgn="b"/>
                      <a:r>
                        <a:rPr lang="en-US" sz="1200" b="1" u="none" strike="noStrike">
                          <a:solidFill>
                            <a:schemeClr val="bg1"/>
                          </a:solidFill>
                          <a:effectLst/>
                        </a:rPr>
                        <a:t>1639602</a:t>
                      </a:r>
                      <a:endParaRPr lang="en-US" sz="1200" b="1" i="0" u="none" strike="noStrike">
                        <a:solidFill>
                          <a:schemeClr val="bg1"/>
                        </a:solidFill>
                        <a:effectLst/>
                        <a:latin typeface="Constantia"/>
                      </a:endParaRPr>
                    </a:p>
                  </a:txBody>
                  <a:tcPr marL="9525" marR="9525" marT="9525" marB="0" anchor="b"/>
                </a:tc>
                <a:tc>
                  <a:txBody>
                    <a:bodyPr/>
                    <a:lstStyle/>
                    <a:p>
                      <a:pPr algn="ctr" fontAlgn="b"/>
                      <a:r>
                        <a:rPr lang="en-US" sz="1200" b="1" u="none" strike="noStrike">
                          <a:solidFill>
                            <a:schemeClr val="bg1"/>
                          </a:solidFill>
                          <a:effectLst/>
                        </a:rPr>
                        <a:t>1639302</a:t>
                      </a:r>
                      <a:endParaRPr lang="en-US" sz="1200" b="1" i="0" u="none" strike="noStrike">
                        <a:solidFill>
                          <a:schemeClr val="bg1"/>
                        </a:solidFill>
                        <a:effectLst/>
                        <a:latin typeface="Constantia"/>
                      </a:endParaRPr>
                    </a:p>
                  </a:txBody>
                  <a:tcPr marL="9525" marR="9525" marT="9525" marB="0" anchor="b"/>
                </a:tc>
                <a:tc>
                  <a:txBody>
                    <a:bodyPr/>
                    <a:lstStyle/>
                    <a:p>
                      <a:pPr algn="ctr" fontAlgn="b"/>
                      <a:r>
                        <a:rPr lang="en-US" sz="1200" b="1" u="none" strike="noStrike">
                          <a:solidFill>
                            <a:schemeClr val="bg1"/>
                          </a:solidFill>
                          <a:effectLst/>
                        </a:rPr>
                        <a:t>1233945</a:t>
                      </a:r>
                      <a:endParaRPr lang="en-US" sz="1200" b="1" i="0" u="none" strike="noStrike">
                        <a:solidFill>
                          <a:schemeClr val="bg1"/>
                        </a:solidFill>
                        <a:effectLst/>
                        <a:latin typeface="Constantia"/>
                      </a:endParaRPr>
                    </a:p>
                  </a:txBody>
                  <a:tcPr marL="9525" marR="9525" marT="9525" marB="0" anchor="b"/>
                </a:tc>
                <a:tc>
                  <a:txBody>
                    <a:bodyPr/>
                    <a:lstStyle/>
                    <a:p>
                      <a:pPr algn="ctr" fontAlgn="b"/>
                      <a:r>
                        <a:rPr lang="en-US" sz="1200" b="1" u="none" strike="noStrike">
                          <a:solidFill>
                            <a:schemeClr val="bg1"/>
                          </a:solidFill>
                          <a:effectLst/>
                        </a:rPr>
                        <a:t>6346531</a:t>
                      </a:r>
                      <a:endParaRPr lang="en-US" sz="1200" b="1" i="0" u="none" strike="noStrike">
                        <a:solidFill>
                          <a:schemeClr val="bg1"/>
                        </a:solidFill>
                        <a:effectLst/>
                        <a:latin typeface="Constantia"/>
                      </a:endParaRPr>
                    </a:p>
                  </a:txBody>
                  <a:tcPr marL="9525" marR="9525" marT="9525" marB="0" anchor="b"/>
                </a:tc>
                <a:tc>
                  <a:txBody>
                    <a:bodyPr/>
                    <a:lstStyle/>
                    <a:p>
                      <a:pPr algn="ctr" fontAlgn="b"/>
                      <a:r>
                        <a:rPr lang="en-US" sz="1200" b="1" u="none" strike="noStrike">
                          <a:solidFill>
                            <a:schemeClr val="bg1"/>
                          </a:solidFill>
                          <a:effectLst/>
                        </a:rPr>
                        <a:t>10859380</a:t>
                      </a:r>
                      <a:endParaRPr lang="en-US" sz="1200" b="1" i="0" u="none" strike="noStrike">
                        <a:solidFill>
                          <a:schemeClr val="bg1"/>
                        </a:solidFill>
                        <a:effectLst/>
                        <a:latin typeface="Constantia"/>
                      </a:endParaRPr>
                    </a:p>
                  </a:txBody>
                  <a:tcPr marL="9525" marR="9525" marT="9525" marB="0" anchor="b"/>
                </a:tc>
              </a:tr>
              <a:tr h="348987">
                <a:tc>
                  <a:txBody>
                    <a:bodyPr/>
                    <a:lstStyle/>
                    <a:p>
                      <a:pPr algn="ctr" fontAlgn="b"/>
                      <a:r>
                        <a:rPr lang="en-US" sz="1200" b="1" u="none" strike="noStrike">
                          <a:solidFill>
                            <a:schemeClr val="bg1"/>
                          </a:solidFill>
                          <a:effectLst/>
                        </a:rPr>
                        <a:t>Chhattisgarh</a:t>
                      </a:r>
                      <a:endParaRPr lang="en-US" sz="1200" b="1" i="0" u="none" strike="noStrike">
                        <a:solidFill>
                          <a:schemeClr val="bg1"/>
                        </a:solidFill>
                        <a:effectLst/>
                        <a:latin typeface="Constantia"/>
                      </a:endParaRPr>
                    </a:p>
                  </a:txBody>
                  <a:tcPr marL="9525" marR="9525" marT="9525" marB="0" anchor="b"/>
                </a:tc>
                <a:tc>
                  <a:txBody>
                    <a:bodyPr/>
                    <a:lstStyle/>
                    <a:p>
                      <a:pPr algn="ctr" fontAlgn="b"/>
                      <a:r>
                        <a:rPr lang="en-US" sz="1200" b="1" u="none" strike="noStrike">
                          <a:solidFill>
                            <a:schemeClr val="bg1"/>
                          </a:solidFill>
                          <a:effectLst/>
                        </a:rPr>
                        <a:t>2675855</a:t>
                      </a:r>
                      <a:endParaRPr lang="en-US" sz="1200" b="1" i="0" u="none" strike="noStrike">
                        <a:solidFill>
                          <a:schemeClr val="bg1"/>
                        </a:solidFill>
                        <a:effectLst/>
                        <a:latin typeface="Constantia"/>
                      </a:endParaRPr>
                    </a:p>
                  </a:txBody>
                  <a:tcPr marL="9525" marR="9525" marT="9525" marB="0" anchor="b"/>
                </a:tc>
                <a:tc>
                  <a:txBody>
                    <a:bodyPr/>
                    <a:lstStyle/>
                    <a:p>
                      <a:pPr algn="ctr" fontAlgn="b"/>
                      <a:r>
                        <a:rPr lang="en-US" sz="1200" b="1" u="none" strike="noStrike">
                          <a:solidFill>
                            <a:schemeClr val="bg1"/>
                          </a:solidFill>
                          <a:effectLst/>
                        </a:rPr>
                        <a:t>2774240</a:t>
                      </a:r>
                      <a:endParaRPr lang="en-US" sz="1200" b="1" i="0" u="none" strike="noStrike">
                        <a:solidFill>
                          <a:schemeClr val="bg1"/>
                        </a:solidFill>
                        <a:effectLst/>
                        <a:latin typeface="Constantia"/>
                      </a:endParaRPr>
                    </a:p>
                  </a:txBody>
                  <a:tcPr marL="9525" marR="9525" marT="9525" marB="0" anchor="b"/>
                </a:tc>
                <a:tc>
                  <a:txBody>
                    <a:bodyPr/>
                    <a:lstStyle/>
                    <a:p>
                      <a:pPr algn="ctr" fontAlgn="b"/>
                      <a:r>
                        <a:rPr lang="en-US" sz="1200" b="1" u="none" strike="noStrike">
                          <a:solidFill>
                            <a:schemeClr val="bg1"/>
                          </a:solidFill>
                          <a:effectLst/>
                        </a:rPr>
                        <a:t>1782029</a:t>
                      </a:r>
                      <a:endParaRPr lang="en-US" sz="1200" b="1" i="0" u="none" strike="noStrike">
                        <a:solidFill>
                          <a:schemeClr val="bg1"/>
                        </a:solidFill>
                        <a:effectLst/>
                        <a:latin typeface="Constantia"/>
                      </a:endParaRPr>
                    </a:p>
                  </a:txBody>
                  <a:tcPr marL="9525" marR="9525" marT="9525" marB="0" anchor="b"/>
                </a:tc>
                <a:tc>
                  <a:txBody>
                    <a:bodyPr/>
                    <a:lstStyle/>
                    <a:p>
                      <a:pPr algn="ctr" fontAlgn="b"/>
                      <a:r>
                        <a:rPr lang="en-US" sz="1200" b="1" u="none" strike="noStrike">
                          <a:solidFill>
                            <a:schemeClr val="bg1"/>
                          </a:solidFill>
                          <a:effectLst/>
                        </a:rPr>
                        <a:t>3034531</a:t>
                      </a:r>
                      <a:endParaRPr lang="en-US" sz="1200" b="1" i="0" u="none" strike="noStrike">
                        <a:solidFill>
                          <a:schemeClr val="bg1"/>
                        </a:solidFill>
                        <a:effectLst/>
                        <a:latin typeface="Constantia"/>
                      </a:endParaRPr>
                    </a:p>
                  </a:txBody>
                  <a:tcPr marL="9525" marR="9525" marT="9525" marB="0" anchor="b"/>
                </a:tc>
                <a:tc>
                  <a:txBody>
                    <a:bodyPr/>
                    <a:lstStyle/>
                    <a:p>
                      <a:pPr algn="ctr" fontAlgn="b"/>
                      <a:r>
                        <a:rPr lang="en-US" sz="1200" b="1" u="none" strike="noStrike">
                          <a:solidFill>
                            <a:schemeClr val="bg1"/>
                          </a:solidFill>
                          <a:effectLst/>
                        </a:rPr>
                        <a:t>10266655</a:t>
                      </a:r>
                      <a:endParaRPr lang="en-US" sz="1200" b="1" i="0" u="none" strike="noStrike">
                        <a:solidFill>
                          <a:schemeClr val="bg1"/>
                        </a:solidFill>
                        <a:effectLst/>
                        <a:latin typeface="Constantia"/>
                      </a:endParaRPr>
                    </a:p>
                  </a:txBody>
                  <a:tcPr marL="9525" marR="9525" marT="9525" marB="0" anchor="b"/>
                </a:tc>
              </a:tr>
              <a:tr h="348987">
                <a:tc>
                  <a:txBody>
                    <a:bodyPr/>
                    <a:lstStyle/>
                    <a:p>
                      <a:pPr algn="ctr" fontAlgn="b"/>
                      <a:r>
                        <a:rPr lang="en-US" sz="1200" b="1" u="none" strike="noStrike">
                          <a:solidFill>
                            <a:schemeClr val="bg1"/>
                          </a:solidFill>
                          <a:effectLst/>
                        </a:rPr>
                        <a:t>Gujarat</a:t>
                      </a:r>
                      <a:endParaRPr lang="en-US" sz="1200" b="1" i="0" u="none" strike="noStrike">
                        <a:solidFill>
                          <a:schemeClr val="bg1"/>
                        </a:solidFill>
                        <a:effectLst/>
                        <a:latin typeface="Constantia"/>
                      </a:endParaRPr>
                    </a:p>
                  </a:txBody>
                  <a:tcPr marL="9525" marR="9525" marT="9525" marB="0" anchor="b"/>
                </a:tc>
                <a:tc>
                  <a:txBody>
                    <a:bodyPr/>
                    <a:lstStyle/>
                    <a:p>
                      <a:pPr algn="ctr" fontAlgn="b"/>
                      <a:r>
                        <a:rPr lang="en-US" sz="1200" b="1" u="none" strike="noStrike">
                          <a:solidFill>
                            <a:schemeClr val="bg1"/>
                          </a:solidFill>
                          <a:effectLst/>
                        </a:rPr>
                        <a:t>9289399</a:t>
                      </a:r>
                      <a:endParaRPr lang="en-US" sz="1200" b="1" i="0" u="none" strike="noStrike">
                        <a:solidFill>
                          <a:schemeClr val="bg1"/>
                        </a:solidFill>
                        <a:effectLst/>
                        <a:latin typeface="Constantia"/>
                      </a:endParaRPr>
                    </a:p>
                  </a:txBody>
                  <a:tcPr marL="9525" marR="9525" marT="9525" marB="0" anchor="b"/>
                </a:tc>
                <a:tc>
                  <a:txBody>
                    <a:bodyPr/>
                    <a:lstStyle/>
                    <a:p>
                      <a:pPr algn="ctr" fontAlgn="b"/>
                      <a:r>
                        <a:rPr lang="en-US" sz="1200" b="1" u="none" strike="noStrike">
                          <a:solidFill>
                            <a:schemeClr val="bg1"/>
                          </a:solidFill>
                          <a:effectLst/>
                        </a:rPr>
                        <a:t>12455196</a:t>
                      </a:r>
                      <a:endParaRPr lang="en-US" sz="1200" b="1" i="0" u="none" strike="noStrike">
                        <a:solidFill>
                          <a:schemeClr val="bg1"/>
                        </a:solidFill>
                        <a:effectLst/>
                        <a:latin typeface="Constantia"/>
                      </a:endParaRPr>
                    </a:p>
                  </a:txBody>
                  <a:tcPr marL="9525" marR="9525" marT="9525" marB="0" anchor="b"/>
                </a:tc>
                <a:tc>
                  <a:txBody>
                    <a:bodyPr/>
                    <a:lstStyle/>
                    <a:p>
                      <a:pPr algn="ctr" fontAlgn="b"/>
                      <a:r>
                        <a:rPr lang="en-US" sz="1200" b="1" u="none" strike="noStrike">
                          <a:solidFill>
                            <a:schemeClr val="bg1"/>
                          </a:solidFill>
                          <a:effectLst/>
                        </a:rPr>
                        <a:t>16592595</a:t>
                      </a:r>
                      <a:endParaRPr lang="en-US" sz="1200" b="1" i="0" u="none" strike="noStrike">
                        <a:solidFill>
                          <a:schemeClr val="bg1"/>
                        </a:solidFill>
                        <a:effectLst/>
                        <a:latin typeface="Constantia"/>
                      </a:endParaRPr>
                    </a:p>
                  </a:txBody>
                  <a:tcPr marL="9525" marR="9525" marT="9525" marB="0" anchor="b"/>
                </a:tc>
                <a:tc>
                  <a:txBody>
                    <a:bodyPr/>
                    <a:lstStyle/>
                    <a:p>
                      <a:pPr algn="ctr" fontAlgn="b"/>
                      <a:r>
                        <a:rPr lang="en-US" sz="1200" b="1" u="none" strike="noStrike">
                          <a:solidFill>
                            <a:schemeClr val="bg1"/>
                          </a:solidFill>
                          <a:effectLst/>
                        </a:rPr>
                        <a:t>15506849</a:t>
                      </a:r>
                      <a:endParaRPr lang="en-US" sz="1200" b="1" i="0" u="none" strike="noStrike">
                        <a:solidFill>
                          <a:schemeClr val="bg1"/>
                        </a:solidFill>
                        <a:effectLst/>
                        <a:latin typeface="Constantia"/>
                      </a:endParaRPr>
                    </a:p>
                  </a:txBody>
                  <a:tcPr marL="9525" marR="9525" marT="9525" marB="0" anchor="b"/>
                </a:tc>
                <a:tc>
                  <a:txBody>
                    <a:bodyPr/>
                    <a:lstStyle/>
                    <a:p>
                      <a:pPr algn="ctr" fontAlgn="b"/>
                      <a:r>
                        <a:rPr lang="en-US" sz="1200" b="1" u="none" strike="noStrike">
                          <a:solidFill>
                            <a:schemeClr val="bg1"/>
                          </a:solidFill>
                          <a:effectLst/>
                        </a:rPr>
                        <a:t>53844039</a:t>
                      </a:r>
                      <a:endParaRPr lang="en-US" sz="1200" b="1" i="0" u="none" strike="noStrike">
                        <a:solidFill>
                          <a:schemeClr val="bg1"/>
                        </a:solidFill>
                        <a:effectLst/>
                        <a:latin typeface="Constantia"/>
                      </a:endParaRPr>
                    </a:p>
                  </a:txBody>
                  <a:tcPr marL="9525" marR="9525" marT="9525" marB="0" anchor="b"/>
                </a:tc>
              </a:tr>
              <a:tr h="348987">
                <a:tc>
                  <a:txBody>
                    <a:bodyPr/>
                    <a:lstStyle/>
                    <a:p>
                      <a:pPr algn="ctr" fontAlgn="b"/>
                      <a:r>
                        <a:rPr lang="en-US" sz="1200" b="1" u="none" strike="noStrike">
                          <a:solidFill>
                            <a:schemeClr val="bg1"/>
                          </a:solidFill>
                          <a:effectLst/>
                        </a:rPr>
                        <a:t>Jharkhand</a:t>
                      </a:r>
                      <a:endParaRPr lang="en-US" sz="1200" b="1" i="0" u="none" strike="noStrike">
                        <a:solidFill>
                          <a:schemeClr val="bg1"/>
                        </a:solidFill>
                        <a:effectLst/>
                        <a:latin typeface="Constantia"/>
                      </a:endParaRPr>
                    </a:p>
                  </a:txBody>
                  <a:tcPr marL="9525" marR="9525" marT="9525" marB="0" anchor="b"/>
                </a:tc>
                <a:tc>
                  <a:txBody>
                    <a:bodyPr/>
                    <a:lstStyle/>
                    <a:p>
                      <a:pPr algn="ctr" fontAlgn="b"/>
                      <a:r>
                        <a:rPr lang="en-US" sz="1200" b="1" u="none" strike="noStrike">
                          <a:solidFill>
                            <a:schemeClr val="bg1"/>
                          </a:solidFill>
                          <a:effectLst/>
                        </a:rPr>
                        <a:t>7062151</a:t>
                      </a:r>
                      <a:endParaRPr lang="en-US" sz="1200" b="1" i="0" u="none" strike="noStrike">
                        <a:solidFill>
                          <a:schemeClr val="bg1"/>
                        </a:solidFill>
                        <a:effectLst/>
                        <a:latin typeface="Constantia"/>
                      </a:endParaRPr>
                    </a:p>
                  </a:txBody>
                  <a:tcPr marL="9525" marR="9525" marT="9525" marB="0" anchor="b"/>
                </a:tc>
                <a:tc>
                  <a:txBody>
                    <a:bodyPr/>
                    <a:lstStyle/>
                    <a:p>
                      <a:pPr algn="ctr" fontAlgn="b"/>
                      <a:r>
                        <a:rPr lang="en-US" sz="1200" b="1" u="none" strike="noStrike">
                          <a:solidFill>
                            <a:schemeClr val="bg1"/>
                          </a:solidFill>
                          <a:effectLst/>
                        </a:rPr>
                        <a:t>7840625</a:t>
                      </a:r>
                      <a:endParaRPr lang="en-US" sz="1200" b="1" i="0" u="none" strike="noStrike">
                        <a:solidFill>
                          <a:schemeClr val="bg1"/>
                        </a:solidFill>
                        <a:effectLst/>
                        <a:latin typeface="Constantia"/>
                      </a:endParaRPr>
                    </a:p>
                  </a:txBody>
                  <a:tcPr marL="9525" marR="9525" marT="9525" marB="0" anchor="b"/>
                </a:tc>
                <a:tc>
                  <a:txBody>
                    <a:bodyPr/>
                    <a:lstStyle/>
                    <a:p>
                      <a:pPr algn="ctr" fontAlgn="b"/>
                      <a:r>
                        <a:rPr lang="en-US" sz="1200" b="1" u="none" strike="noStrike">
                          <a:solidFill>
                            <a:schemeClr val="bg1"/>
                          </a:solidFill>
                          <a:effectLst/>
                        </a:rPr>
                        <a:t>7805030</a:t>
                      </a:r>
                      <a:endParaRPr lang="en-US" sz="1200" b="1" i="0" u="none" strike="noStrike">
                        <a:solidFill>
                          <a:schemeClr val="bg1"/>
                        </a:solidFill>
                        <a:effectLst/>
                        <a:latin typeface="Constantia"/>
                      </a:endParaRPr>
                    </a:p>
                  </a:txBody>
                  <a:tcPr marL="9525" marR="9525" marT="9525" marB="0" anchor="b"/>
                </a:tc>
                <a:tc>
                  <a:txBody>
                    <a:bodyPr/>
                    <a:lstStyle/>
                    <a:p>
                      <a:pPr algn="ctr" fontAlgn="b"/>
                      <a:r>
                        <a:rPr lang="en-US" sz="1200" b="1" u="none" strike="noStrike">
                          <a:solidFill>
                            <a:schemeClr val="bg1"/>
                          </a:solidFill>
                          <a:effectLst/>
                        </a:rPr>
                        <a:t>11449145</a:t>
                      </a:r>
                      <a:endParaRPr lang="en-US" sz="1200" b="1" i="0" u="none" strike="noStrike">
                        <a:solidFill>
                          <a:schemeClr val="bg1"/>
                        </a:solidFill>
                        <a:effectLst/>
                        <a:latin typeface="Constantia"/>
                      </a:endParaRPr>
                    </a:p>
                  </a:txBody>
                  <a:tcPr marL="9525" marR="9525" marT="9525" marB="0" anchor="b"/>
                </a:tc>
                <a:tc>
                  <a:txBody>
                    <a:bodyPr/>
                    <a:lstStyle/>
                    <a:p>
                      <a:pPr algn="ctr" fontAlgn="b"/>
                      <a:r>
                        <a:rPr lang="en-US" sz="1200" b="1" u="none" strike="noStrike">
                          <a:solidFill>
                            <a:schemeClr val="bg1"/>
                          </a:solidFill>
                          <a:effectLst/>
                        </a:rPr>
                        <a:t>34156951</a:t>
                      </a:r>
                      <a:endParaRPr lang="en-US" sz="1200" b="1" i="0" u="none" strike="noStrike">
                        <a:solidFill>
                          <a:schemeClr val="bg1"/>
                        </a:solidFill>
                        <a:effectLst/>
                        <a:latin typeface="Constantia"/>
                      </a:endParaRPr>
                    </a:p>
                  </a:txBody>
                  <a:tcPr marL="9525" marR="9525" marT="9525" marB="0" anchor="b"/>
                </a:tc>
              </a:tr>
              <a:tr h="348987">
                <a:tc>
                  <a:txBody>
                    <a:bodyPr/>
                    <a:lstStyle/>
                    <a:p>
                      <a:pPr algn="ctr" fontAlgn="b"/>
                      <a:r>
                        <a:rPr lang="en-US" sz="1200" b="1" u="none" strike="noStrike">
                          <a:solidFill>
                            <a:schemeClr val="bg1"/>
                          </a:solidFill>
                          <a:effectLst/>
                        </a:rPr>
                        <a:t>Karnataka</a:t>
                      </a:r>
                      <a:endParaRPr lang="en-US" sz="1200" b="1" i="0" u="none" strike="noStrike">
                        <a:solidFill>
                          <a:schemeClr val="bg1"/>
                        </a:solidFill>
                        <a:effectLst/>
                        <a:latin typeface="Constantia"/>
                      </a:endParaRPr>
                    </a:p>
                  </a:txBody>
                  <a:tcPr marL="9525" marR="9525" marT="9525" marB="0" anchor="b"/>
                </a:tc>
                <a:tc>
                  <a:txBody>
                    <a:bodyPr/>
                    <a:lstStyle/>
                    <a:p>
                      <a:pPr algn="ctr" fontAlgn="b"/>
                      <a:r>
                        <a:rPr lang="en-US" sz="1200" b="1" u="none" strike="noStrike">
                          <a:solidFill>
                            <a:schemeClr val="bg1"/>
                          </a:solidFill>
                          <a:effectLst/>
                        </a:rPr>
                        <a:t>4126263</a:t>
                      </a:r>
                      <a:endParaRPr lang="en-US" sz="1200" b="1" i="0" u="none" strike="noStrike">
                        <a:solidFill>
                          <a:schemeClr val="bg1"/>
                        </a:solidFill>
                        <a:effectLst/>
                        <a:latin typeface="Constantia"/>
                      </a:endParaRPr>
                    </a:p>
                  </a:txBody>
                  <a:tcPr marL="9525" marR="9525" marT="9525" marB="0" anchor="b"/>
                </a:tc>
                <a:tc>
                  <a:txBody>
                    <a:bodyPr/>
                    <a:lstStyle/>
                    <a:p>
                      <a:pPr algn="ctr" fontAlgn="b"/>
                      <a:r>
                        <a:rPr lang="en-US" sz="1200" b="1" u="none" strike="noStrike">
                          <a:solidFill>
                            <a:schemeClr val="bg1"/>
                          </a:solidFill>
                          <a:effectLst/>
                        </a:rPr>
                        <a:t>6301907</a:t>
                      </a:r>
                      <a:endParaRPr lang="en-US" sz="1200" b="1" i="0" u="none" strike="noStrike">
                        <a:solidFill>
                          <a:schemeClr val="bg1"/>
                        </a:solidFill>
                        <a:effectLst/>
                        <a:latin typeface="Constantia"/>
                      </a:endParaRPr>
                    </a:p>
                  </a:txBody>
                  <a:tcPr marL="9525" marR="9525" marT="9525" marB="0" anchor="b"/>
                </a:tc>
                <a:tc>
                  <a:txBody>
                    <a:bodyPr/>
                    <a:lstStyle/>
                    <a:p>
                      <a:pPr algn="ctr" fontAlgn="b"/>
                      <a:r>
                        <a:rPr lang="en-US" sz="1200" b="1" u="none" strike="noStrike">
                          <a:solidFill>
                            <a:schemeClr val="bg1"/>
                          </a:solidFill>
                          <a:effectLst/>
                        </a:rPr>
                        <a:t>7937702</a:t>
                      </a:r>
                      <a:endParaRPr lang="en-US" sz="1200" b="1" i="0" u="none" strike="noStrike">
                        <a:solidFill>
                          <a:schemeClr val="bg1"/>
                        </a:solidFill>
                        <a:effectLst/>
                        <a:latin typeface="Constantia"/>
                      </a:endParaRPr>
                    </a:p>
                  </a:txBody>
                  <a:tcPr marL="9525" marR="9525" marT="9525" marB="0" anchor="b"/>
                </a:tc>
                <a:tc>
                  <a:txBody>
                    <a:bodyPr/>
                    <a:lstStyle/>
                    <a:p>
                      <a:pPr algn="ctr" fontAlgn="b"/>
                      <a:r>
                        <a:rPr lang="en-US" sz="1200" b="1" u="none" strike="noStrike">
                          <a:solidFill>
                            <a:schemeClr val="bg1"/>
                          </a:solidFill>
                          <a:effectLst/>
                        </a:rPr>
                        <a:t>7342078</a:t>
                      </a:r>
                      <a:endParaRPr lang="en-US" sz="1200" b="1" i="0" u="none" strike="noStrike">
                        <a:solidFill>
                          <a:schemeClr val="bg1"/>
                        </a:solidFill>
                        <a:effectLst/>
                        <a:latin typeface="Constantia"/>
                      </a:endParaRPr>
                    </a:p>
                  </a:txBody>
                  <a:tcPr marL="9525" marR="9525" marT="9525" marB="0" anchor="b"/>
                </a:tc>
                <a:tc>
                  <a:txBody>
                    <a:bodyPr/>
                    <a:lstStyle/>
                    <a:p>
                      <a:pPr algn="ctr" fontAlgn="b"/>
                      <a:r>
                        <a:rPr lang="en-US" sz="1200" b="1" u="none" strike="noStrike">
                          <a:solidFill>
                            <a:schemeClr val="bg1"/>
                          </a:solidFill>
                          <a:effectLst/>
                        </a:rPr>
                        <a:t>25707950</a:t>
                      </a:r>
                      <a:endParaRPr lang="en-US" sz="1200" b="1" i="0" u="none" strike="noStrike">
                        <a:solidFill>
                          <a:schemeClr val="bg1"/>
                        </a:solidFill>
                        <a:effectLst/>
                        <a:latin typeface="Constantia"/>
                      </a:endParaRPr>
                    </a:p>
                  </a:txBody>
                  <a:tcPr marL="9525" marR="9525" marT="9525" marB="0" anchor="b"/>
                </a:tc>
              </a:tr>
              <a:tr h="348987">
                <a:tc>
                  <a:txBody>
                    <a:bodyPr/>
                    <a:lstStyle/>
                    <a:p>
                      <a:pPr algn="ctr" fontAlgn="b"/>
                      <a:r>
                        <a:rPr lang="en-US" sz="1200" b="1" u="none" strike="noStrike">
                          <a:solidFill>
                            <a:schemeClr val="bg1"/>
                          </a:solidFill>
                          <a:effectLst/>
                        </a:rPr>
                        <a:t>Madhya Pradesh</a:t>
                      </a:r>
                      <a:endParaRPr lang="en-US" sz="1200" b="1" i="0" u="none" strike="noStrike">
                        <a:solidFill>
                          <a:schemeClr val="bg1"/>
                        </a:solidFill>
                        <a:effectLst/>
                        <a:latin typeface="Constantia"/>
                      </a:endParaRPr>
                    </a:p>
                  </a:txBody>
                  <a:tcPr marL="9525" marR="9525" marT="9525" marB="0" anchor="b"/>
                </a:tc>
                <a:tc>
                  <a:txBody>
                    <a:bodyPr/>
                    <a:lstStyle/>
                    <a:p>
                      <a:pPr algn="ctr" fontAlgn="b"/>
                      <a:r>
                        <a:rPr lang="en-US" sz="1200" b="1" u="none" strike="noStrike">
                          <a:solidFill>
                            <a:schemeClr val="bg1"/>
                          </a:solidFill>
                          <a:effectLst/>
                        </a:rPr>
                        <a:t>12878099</a:t>
                      </a:r>
                      <a:endParaRPr lang="en-US" sz="1200" b="1" i="0" u="none" strike="noStrike">
                        <a:solidFill>
                          <a:schemeClr val="bg1"/>
                        </a:solidFill>
                        <a:effectLst/>
                        <a:latin typeface="Constantia"/>
                      </a:endParaRPr>
                    </a:p>
                  </a:txBody>
                  <a:tcPr marL="9525" marR="9525" marT="9525" marB="0" anchor="b"/>
                </a:tc>
                <a:tc>
                  <a:txBody>
                    <a:bodyPr/>
                    <a:lstStyle/>
                    <a:p>
                      <a:pPr algn="ctr" fontAlgn="b"/>
                      <a:r>
                        <a:rPr lang="en-US" sz="1200" b="1" u="none" strike="noStrike">
                          <a:solidFill>
                            <a:schemeClr val="bg1"/>
                          </a:solidFill>
                          <a:effectLst/>
                        </a:rPr>
                        <a:t>17448579</a:t>
                      </a:r>
                      <a:endParaRPr lang="en-US" sz="1200" b="1" i="0" u="none" strike="noStrike">
                        <a:solidFill>
                          <a:schemeClr val="bg1"/>
                        </a:solidFill>
                        <a:effectLst/>
                        <a:latin typeface="Constantia"/>
                      </a:endParaRPr>
                    </a:p>
                  </a:txBody>
                  <a:tcPr marL="9525" marR="9525" marT="9525" marB="0" anchor="b"/>
                </a:tc>
                <a:tc>
                  <a:txBody>
                    <a:bodyPr/>
                    <a:lstStyle/>
                    <a:p>
                      <a:pPr algn="ctr" fontAlgn="b"/>
                      <a:r>
                        <a:rPr lang="en-US" sz="1200" b="1" u="none" strike="noStrike">
                          <a:solidFill>
                            <a:schemeClr val="bg1"/>
                          </a:solidFill>
                          <a:effectLst/>
                        </a:rPr>
                        <a:t>20784599</a:t>
                      </a:r>
                      <a:endParaRPr lang="en-US" sz="1200" b="1" i="0" u="none" strike="noStrike">
                        <a:solidFill>
                          <a:schemeClr val="bg1"/>
                        </a:solidFill>
                        <a:effectLst/>
                        <a:latin typeface="Constantia"/>
                      </a:endParaRPr>
                    </a:p>
                  </a:txBody>
                  <a:tcPr marL="9525" marR="9525" marT="9525" marB="0" anchor="b"/>
                </a:tc>
                <a:tc>
                  <a:txBody>
                    <a:bodyPr/>
                    <a:lstStyle/>
                    <a:p>
                      <a:pPr algn="ctr" fontAlgn="b"/>
                      <a:r>
                        <a:rPr lang="en-US" sz="1200" b="1" u="none" strike="noStrike">
                          <a:solidFill>
                            <a:schemeClr val="bg1"/>
                          </a:solidFill>
                          <a:effectLst/>
                        </a:rPr>
                        <a:t>18519723</a:t>
                      </a:r>
                      <a:endParaRPr lang="en-US" sz="1200" b="1" i="0" u="none" strike="noStrike">
                        <a:solidFill>
                          <a:schemeClr val="bg1"/>
                        </a:solidFill>
                        <a:effectLst/>
                        <a:latin typeface="Constantia"/>
                      </a:endParaRPr>
                    </a:p>
                  </a:txBody>
                  <a:tcPr marL="9525" marR="9525" marT="9525" marB="0" anchor="b"/>
                </a:tc>
                <a:tc>
                  <a:txBody>
                    <a:bodyPr/>
                    <a:lstStyle/>
                    <a:p>
                      <a:pPr algn="ctr" fontAlgn="b"/>
                      <a:r>
                        <a:rPr lang="en-US" sz="1200" b="1" u="none" strike="noStrike">
                          <a:solidFill>
                            <a:schemeClr val="bg1"/>
                          </a:solidFill>
                          <a:effectLst/>
                        </a:rPr>
                        <a:t>69631000</a:t>
                      </a:r>
                      <a:endParaRPr lang="en-US" sz="1200" b="1" i="0" u="none" strike="noStrike">
                        <a:solidFill>
                          <a:schemeClr val="bg1"/>
                        </a:solidFill>
                        <a:effectLst/>
                        <a:latin typeface="Constantia"/>
                      </a:endParaRPr>
                    </a:p>
                  </a:txBody>
                  <a:tcPr marL="9525" marR="9525" marT="9525" marB="0" anchor="b"/>
                </a:tc>
              </a:tr>
              <a:tr h="348987">
                <a:tc>
                  <a:txBody>
                    <a:bodyPr/>
                    <a:lstStyle/>
                    <a:p>
                      <a:pPr algn="ctr" fontAlgn="b"/>
                      <a:r>
                        <a:rPr lang="en-US" sz="1200" b="1" u="none" strike="noStrike">
                          <a:solidFill>
                            <a:schemeClr val="bg1"/>
                          </a:solidFill>
                          <a:effectLst/>
                        </a:rPr>
                        <a:t>Maharashtra</a:t>
                      </a:r>
                      <a:endParaRPr lang="en-US" sz="1200" b="1" i="0" u="none" strike="noStrike">
                        <a:solidFill>
                          <a:schemeClr val="bg1"/>
                        </a:solidFill>
                        <a:effectLst/>
                        <a:latin typeface="Constantia"/>
                      </a:endParaRPr>
                    </a:p>
                  </a:txBody>
                  <a:tcPr marL="9525" marR="9525" marT="9525" marB="0" anchor="b"/>
                </a:tc>
                <a:tc>
                  <a:txBody>
                    <a:bodyPr/>
                    <a:lstStyle/>
                    <a:p>
                      <a:pPr algn="ctr" fontAlgn="b"/>
                      <a:r>
                        <a:rPr lang="en-US" sz="1200" b="1" u="none" strike="noStrike">
                          <a:solidFill>
                            <a:schemeClr val="bg1"/>
                          </a:solidFill>
                          <a:effectLst/>
                        </a:rPr>
                        <a:t>55859345</a:t>
                      </a:r>
                      <a:endParaRPr lang="en-US" sz="1200" b="1" i="0" u="none" strike="noStrike">
                        <a:solidFill>
                          <a:schemeClr val="bg1"/>
                        </a:solidFill>
                        <a:effectLst/>
                        <a:latin typeface="Constantia"/>
                      </a:endParaRPr>
                    </a:p>
                  </a:txBody>
                  <a:tcPr marL="9525" marR="9525" marT="9525" marB="0" anchor="b"/>
                </a:tc>
                <a:tc>
                  <a:txBody>
                    <a:bodyPr/>
                    <a:lstStyle/>
                    <a:p>
                      <a:pPr algn="ctr" fontAlgn="b"/>
                      <a:r>
                        <a:rPr lang="en-US" sz="1200" b="1" u="none" strike="noStrike">
                          <a:solidFill>
                            <a:schemeClr val="bg1"/>
                          </a:solidFill>
                          <a:effectLst/>
                        </a:rPr>
                        <a:t>78449722</a:t>
                      </a:r>
                      <a:endParaRPr lang="en-US" sz="1200" b="1" i="0" u="none" strike="noStrike">
                        <a:solidFill>
                          <a:schemeClr val="bg1"/>
                        </a:solidFill>
                        <a:effectLst/>
                        <a:latin typeface="Constantia"/>
                      </a:endParaRPr>
                    </a:p>
                  </a:txBody>
                  <a:tcPr marL="9525" marR="9525" marT="9525" marB="0" anchor="b"/>
                </a:tc>
                <a:tc>
                  <a:txBody>
                    <a:bodyPr/>
                    <a:lstStyle/>
                    <a:p>
                      <a:pPr algn="ctr" fontAlgn="b"/>
                      <a:r>
                        <a:rPr lang="en-US" sz="1200" b="1" u="none" strike="noStrike">
                          <a:solidFill>
                            <a:schemeClr val="bg1"/>
                          </a:solidFill>
                          <a:effectLst/>
                        </a:rPr>
                        <a:t>119867941</a:t>
                      </a:r>
                      <a:endParaRPr lang="en-US" sz="1200" b="1" i="0" u="none" strike="noStrike">
                        <a:solidFill>
                          <a:schemeClr val="bg1"/>
                        </a:solidFill>
                        <a:effectLst/>
                        <a:latin typeface="Constantia"/>
                      </a:endParaRPr>
                    </a:p>
                  </a:txBody>
                  <a:tcPr marL="9525" marR="9525" marT="9525" marB="0" anchor="b"/>
                </a:tc>
                <a:tc>
                  <a:txBody>
                    <a:bodyPr/>
                    <a:lstStyle/>
                    <a:p>
                      <a:pPr algn="ctr" fontAlgn="b"/>
                      <a:r>
                        <a:rPr lang="en-US" sz="1200" b="1" u="none" strike="noStrike">
                          <a:solidFill>
                            <a:schemeClr val="bg1"/>
                          </a:solidFill>
                          <a:effectLst/>
                        </a:rPr>
                        <a:t>123927205</a:t>
                      </a:r>
                      <a:endParaRPr lang="en-US" sz="1200" b="1" i="0" u="none" strike="noStrike">
                        <a:solidFill>
                          <a:schemeClr val="bg1"/>
                        </a:solidFill>
                        <a:effectLst/>
                        <a:latin typeface="Constantia"/>
                      </a:endParaRPr>
                    </a:p>
                  </a:txBody>
                  <a:tcPr marL="9525" marR="9525" marT="9525" marB="0" anchor="b"/>
                </a:tc>
                <a:tc>
                  <a:txBody>
                    <a:bodyPr/>
                    <a:lstStyle/>
                    <a:p>
                      <a:pPr algn="ctr" fontAlgn="b"/>
                      <a:r>
                        <a:rPr lang="en-US" sz="1200" b="1" u="none" strike="noStrike">
                          <a:solidFill>
                            <a:schemeClr val="bg1"/>
                          </a:solidFill>
                          <a:effectLst/>
                        </a:rPr>
                        <a:t>378104213</a:t>
                      </a:r>
                      <a:endParaRPr lang="en-US" sz="1200" b="1" i="0" u="none" strike="noStrike">
                        <a:solidFill>
                          <a:schemeClr val="bg1"/>
                        </a:solidFill>
                        <a:effectLst/>
                        <a:latin typeface="Constantia"/>
                      </a:endParaRPr>
                    </a:p>
                  </a:txBody>
                  <a:tcPr marL="9525" marR="9525" marT="9525" marB="0" anchor="b"/>
                </a:tc>
              </a:tr>
              <a:tr h="348987">
                <a:tc>
                  <a:txBody>
                    <a:bodyPr/>
                    <a:lstStyle/>
                    <a:p>
                      <a:pPr algn="ctr" fontAlgn="b"/>
                      <a:r>
                        <a:rPr lang="en-US" sz="1200" b="1" u="none" strike="noStrike">
                          <a:solidFill>
                            <a:schemeClr val="bg1"/>
                          </a:solidFill>
                          <a:effectLst/>
                        </a:rPr>
                        <a:t>Odisha</a:t>
                      </a:r>
                      <a:endParaRPr lang="en-US" sz="1200" b="1" i="0" u="none" strike="noStrike">
                        <a:solidFill>
                          <a:schemeClr val="bg1"/>
                        </a:solidFill>
                        <a:effectLst/>
                        <a:latin typeface="Constantia"/>
                      </a:endParaRPr>
                    </a:p>
                  </a:txBody>
                  <a:tcPr marL="9525" marR="9525" marT="9525" marB="0" anchor="b"/>
                </a:tc>
                <a:tc>
                  <a:txBody>
                    <a:bodyPr/>
                    <a:lstStyle/>
                    <a:p>
                      <a:pPr algn="ctr" fontAlgn="b"/>
                      <a:r>
                        <a:rPr lang="en-US" sz="1200" b="1" u="none" strike="noStrike">
                          <a:solidFill>
                            <a:schemeClr val="bg1"/>
                          </a:solidFill>
                          <a:effectLst/>
                        </a:rPr>
                        <a:t>5445347</a:t>
                      </a:r>
                      <a:endParaRPr lang="en-US" sz="1200" b="1" i="0" u="none" strike="noStrike">
                        <a:solidFill>
                          <a:schemeClr val="bg1"/>
                        </a:solidFill>
                        <a:effectLst/>
                        <a:latin typeface="Constantia"/>
                      </a:endParaRPr>
                    </a:p>
                  </a:txBody>
                  <a:tcPr marL="9525" marR="9525" marT="9525" marB="0" anchor="b"/>
                </a:tc>
                <a:tc>
                  <a:txBody>
                    <a:bodyPr/>
                    <a:lstStyle/>
                    <a:p>
                      <a:pPr algn="ctr" fontAlgn="b"/>
                      <a:r>
                        <a:rPr lang="en-US" sz="1200" b="1" u="none" strike="noStrike">
                          <a:solidFill>
                            <a:schemeClr val="bg1"/>
                          </a:solidFill>
                          <a:effectLst/>
                        </a:rPr>
                        <a:t>11355849</a:t>
                      </a:r>
                      <a:endParaRPr lang="en-US" sz="1200" b="1" i="0" u="none" strike="noStrike">
                        <a:solidFill>
                          <a:schemeClr val="bg1"/>
                        </a:solidFill>
                        <a:effectLst/>
                        <a:latin typeface="Constantia"/>
                      </a:endParaRPr>
                    </a:p>
                  </a:txBody>
                  <a:tcPr marL="9525" marR="9525" marT="9525" marB="0" anchor="b"/>
                </a:tc>
                <a:tc>
                  <a:txBody>
                    <a:bodyPr/>
                    <a:lstStyle/>
                    <a:p>
                      <a:pPr algn="ctr" fontAlgn="b"/>
                      <a:r>
                        <a:rPr lang="en-US" sz="1200" b="1" u="none" strike="noStrike">
                          <a:solidFill>
                            <a:schemeClr val="bg1"/>
                          </a:solidFill>
                          <a:effectLst/>
                        </a:rPr>
                        <a:t>21184024</a:t>
                      </a:r>
                      <a:endParaRPr lang="en-US" sz="1200" b="1" i="0" u="none" strike="noStrike">
                        <a:solidFill>
                          <a:schemeClr val="bg1"/>
                        </a:solidFill>
                        <a:effectLst/>
                        <a:latin typeface="Constantia"/>
                      </a:endParaRPr>
                    </a:p>
                  </a:txBody>
                  <a:tcPr marL="9525" marR="9525" marT="9525" marB="0" anchor="b"/>
                </a:tc>
                <a:tc>
                  <a:txBody>
                    <a:bodyPr/>
                    <a:lstStyle/>
                    <a:p>
                      <a:pPr algn="ctr" fontAlgn="b"/>
                      <a:r>
                        <a:rPr lang="en-US" sz="1200" b="1" u="none" strike="noStrike">
                          <a:solidFill>
                            <a:schemeClr val="bg1"/>
                          </a:solidFill>
                          <a:effectLst/>
                        </a:rPr>
                        <a:t>23628060</a:t>
                      </a:r>
                      <a:endParaRPr lang="en-US" sz="1200" b="1" i="0" u="none" strike="noStrike">
                        <a:solidFill>
                          <a:schemeClr val="bg1"/>
                        </a:solidFill>
                        <a:effectLst/>
                        <a:latin typeface="Constantia"/>
                      </a:endParaRPr>
                    </a:p>
                  </a:txBody>
                  <a:tcPr marL="9525" marR="9525" marT="9525" marB="0" anchor="b"/>
                </a:tc>
                <a:tc>
                  <a:txBody>
                    <a:bodyPr/>
                    <a:lstStyle/>
                    <a:p>
                      <a:pPr algn="ctr" fontAlgn="b"/>
                      <a:r>
                        <a:rPr lang="en-US" sz="1200" b="1" u="none" strike="noStrike">
                          <a:solidFill>
                            <a:schemeClr val="bg1"/>
                          </a:solidFill>
                          <a:effectLst/>
                        </a:rPr>
                        <a:t>61613280</a:t>
                      </a:r>
                      <a:endParaRPr lang="en-US" sz="1200" b="1" i="0" u="none" strike="noStrike">
                        <a:solidFill>
                          <a:schemeClr val="bg1"/>
                        </a:solidFill>
                        <a:effectLst/>
                        <a:latin typeface="Constantia"/>
                      </a:endParaRPr>
                    </a:p>
                  </a:txBody>
                  <a:tcPr marL="9525" marR="9525" marT="9525" marB="0" anchor="b"/>
                </a:tc>
              </a:tr>
              <a:tr h="348987">
                <a:tc>
                  <a:txBody>
                    <a:bodyPr/>
                    <a:lstStyle/>
                    <a:p>
                      <a:pPr algn="ctr" fontAlgn="b"/>
                      <a:r>
                        <a:rPr lang="en-US" sz="1200" b="1" u="none" strike="noStrike">
                          <a:solidFill>
                            <a:schemeClr val="bg1"/>
                          </a:solidFill>
                          <a:effectLst/>
                        </a:rPr>
                        <a:t>Tamil Nadu</a:t>
                      </a:r>
                      <a:endParaRPr lang="en-US" sz="1200" b="1" i="0" u="none" strike="noStrike">
                        <a:solidFill>
                          <a:schemeClr val="bg1"/>
                        </a:solidFill>
                        <a:effectLst/>
                        <a:latin typeface="Constantia"/>
                      </a:endParaRPr>
                    </a:p>
                  </a:txBody>
                  <a:tcPr marL="9525" marR="9525" marT="9525" marB="0" anchor="b"/>
                </a:tc>
                <a:tc>
                  <a:txBody>
                    <a:bodyPr/>
                    <a:lstStyle/>
                    <a:p>
                      <a:pPr algn="ctr" fontAlgn="b"/>
                      <a:r>
                        <a:rPr lang="en-US" sz="1200" b="1" u="none" strike="noStrike">
                          <a:solidFill>
                            <a:schemeClr val="bg1"/>
                          </a:solidFill>
                          <a:effectLst/>
                        </a:rPr>
                        <a:t>6867918</a:t>
                      </a:r>
                      <a:endParaRPr lang="en-US" sz="1200" b="1" i="0" u="none" strike="noStrike">
                        <a:solidFill>
                          <a:schemeClr val="bg1"/>
                        </a:solidFill>
                        <a:effectLst/>
                        <a:latin typeface="Constantia"/>
                      </a:endParaRPr>
                    </a:p>
                  </a:txBody>
                  <a:tcPr marL="9525" marR="9525" marT="9525" marB="0" anchor="b"/>
                </a:tc>
                <a:tc>
                  <a:txBody>
                    <a:bodyPr/>
                    <a:lstStyle/>
                    <a:p>
                      <a:pPr algn="ctr" fontAlgn="b"/>
                      <a:r>
                        <a:rPr lang="en-US" sz="1200" b="1" u="none" strike="noStrike">
                          <a:solidFill>
                            <a:schemeClr val="bg1"/>
                          </a:solidFill>
                          <a:effectLst/>
                        </a:rPr>
                        <a:t>8653055</a:t>
                      </a:r>
                      <a:endParaRPr lang="en-US" sz="1200" b="1" i="0" u="none" strike="noStrike">
                        <a:solidFill>
                          <a:schemeClr val="bg1"/>
                        </a:solidFill>
                        <a:effectLst/>
                        <a:latin typeface="Constantia"/>
                      </a:endParaRPr>
                    </a:p>
                  </a:txBody>
                  <a:tcPr marL="9525" marR="9525" marT="9525" marB="0" anchor="b"/>
                </a:tc>
                <a:tc>
                  <a:txBody>
                    <a:bodyPr/>
                    <a:lstStyle/>
                    <a:p>
                      <a:pPr algn="ctr" fontAlgn="b"/>
                      <a:r>
                        <a:rPr lang="en-US" sz="1200" b="1" u="none" strike="noStrike">
                          <a:solidFill>
                            <a:schemeClr val="bg1"/>
                          </a:solidFill>
                          <a:effectLst/>
                        </a:rPr>
                        <a:t>10841289</a:t>
                      </a:r>
                      <a:endParaRPr lang="en-US" sz="1200" b="1" i="0" u="none" strike="noStrike">
                        <a:solidFill>
                          <a:schemeClr val="bg1"/>
                        </a:solidFill>
                        <a:effectLst/>
                        <a:latin typeface="Constantia"/>
                      </a:endParaRPr>
                    </a:p>
                  </a:txBody>
                  <a:tcPr marL="9525" marR="9525" marT="9525" marB="0" anchor="b"/>
                </a:tc>
                <a:tc>
                  <a:txBody>
                    <a:bodyPr/>
                    <a:lstStyle/>
                    <a:p>
                      <a:pPr algn="ctr" fontAlgn="b"/>
                      <a:r>
                        <a:rPr lang="en-US" sz="1200" b="1" u="none" strike="noStrike">
                          <a:solidFill>
                            <a:schemeClr val="bg1"/>
                          </a:solidFill>
                          <a:effectLst/>
                        </a:rPr>
                        <a:t>12719781</a:t>
                      </a:r>
                      <a:endParaRPr lang="en-US" sz="1200" b="1" i="0" u="none" strike="noStrike">
                        <a:solidFill>
                          <a:schemeClr val="bg1"/>
                        </a:solidFill>
                        <a:effectLst/>
                        <a:latin typeface="Constantia"/>
                      </a:endParaRPr>
                    </a:p>
                  </a:txBody>
                  <a:tcPr marL="9525" marR="9525" marT="9525" marB="0" anchor="b"/>
                </a:tc>
                <a:tc>
                  <a:txBody>
                    <a:bodyPr/>
                    <a:lstStyle/>
                    <a:p>
                      <a:pPr algn="ctr" fontAlgn="b"/>
                      <a:r>
                        <a:rPr lang="en-US" sz="1200" b="1" u="none" strike="noStrike">
                          <a:solidFill>
                            <a:schemeClr val="bg1"/>
                          </a:solidFill>
                          <a:effectLst/>
                        </a:rPr>
                        <a:t>39082043</a:t>
                      </a:r>
                      <a:endParaRPr lang="en-US" sz="1200" b="1" i="0" u="none" strike="noStrike">
                        <a:solidFill>
                          <a:schemeClr val="bg1"/>
                        </a:solidFill>
                        <a:effectLst/>
                        <a:latin typeface="Constantia"/>
                      </a:endParaRPr>
                    </a:p>
                  </a:txBody>
                  <a:tcPr marL="9525" marR="9525" marT="9525" marB="0" anchor="b"/>
                </a:tc>
              </a:tr>
              <a:tr h="348987">
                <a:tc>
                  <a:txBody>
                    <a:bodyPr/>
                    <a:lstStyle/>
                    <a:p>
                      <a:pPr algn="ctr" fontAlgn="b"/>
                      <a:r>
                        <a:rPr lang="en-US" sz="1200" b="1" u="none" strike="noStrike">
                          <a:solidFill>
                            <a:schemeClr val="bg1"/>
                          </a:solidFill>
                          <a:effectLst/>
                        </a:rPr>
                        <a:t>Uttar Pradesh</a:t>
                      </a:r>
                      <a:endParaRPr lang="en-US" sz="1200" b="1" i="0" u="none" strike="noStrike">
                        <a:solidFill>
                          <a:schemeClr val="bg1"/>
                        </a:solidFill>
                        <a:effectLst/>
                        <a:latin typeface="Constantia"/>
                      </a:endParaRPr>
                    </a:p>
                  </a:txBody>
                  <a:tcPr marL="9525" marR="9525" marT="9525" marB="0" anchor="b"/>
                </a:tc>
                <a:tc>
                  <a:txBody>
                    <a:bodyPr/>
                    <a:lstStyle/>
                    <a:p>
                      <a:pPr algn="ctr" fontAlgn="b"/>
                      <a:r>
                        <a:rPr lang="en-US" sz="1200" b="1" u="none" strike="noStrike">
                          <a:solidFill>
                            <a:schemeClr val="bg1"/>
                          </a:solidFill>
                          <a:effectLst/>
                        </a:rPr>
                        <a:t>7773188</a:t>
                      </a:r>
                      <a:endParaRPr lang="en-US" sz="1200" b="1" i="0" u="none" strike="noStrike">
                        <a:solidFill>
                          <a:schemeClr val="bg1"/>
                        </a:solidFill>
                        <a:effectLst/>
                        <a:latin typeface="Constantia"/>
                      </a:endParaRPr>
                    </a:p>
                  </a:txBody>
                  <a:tcPr marL="9525" marR="9525" marT="9525" marB="0" anchor="b"/>
                </a:tc>
                <a:tc>
                  <a:txBody>
                    <a:bodyPr/>
                    <a:lstStyle/>
                    <a:p>
                      <a:pPr algn="ctr" fontAlgn="b"/>
                      <a:r>
                        <a:rPr lang="en-US" sz="1200" b="1" u="none" strike="noStrike">
                          <a:solidFill>
                            <a:schemeClr val="bg1"/>
                          </a:solidFill>
                          <a:effectLst/>
                        </a:rPr>
                        <a:t>9983006</a:t>
                      </a:r>
                      <a:endParaRPr lang="en-US" sz="1200" b="1" i="0" u="none" strike="noStrike">
                        <a:solidFill>
                          <a:schemeClr val="bg1"/>
                        </a:solidFill>
                        <a:effectLst/>
                        <a:latin typeface="Constantia"/>
                      </a:endParaRPr>
                    </a:p>
                  </a:txBody>
                  <a:tcPr marL="9525" marR="9525" marT="9525" marB="0" anchor="b"/>
                </a:tc>
                <a:tc>
                  <a:txBody>
                    <a:bodyPr/>
                    <a:lstStyle/>
                    <a:p>
                      <a:pPr algn="ctr" fontAlgn="b"/>
                      <a:r>
                        <a:rPr lang="en-US" sz="1200" b="1" u="none" strike="noStrike">
                          <a:solidFill>
                            <a:schemeClr val="bg1"/>
                          </a:solidFill>
                          <a:effectLst/>
                        </a:rPr>
                        <a:t>12268163</a:t>
                      </a:r>
                      <a:endParaRPr lang="en-US" sz="1200" b="1" i="0" u="none" strike="noStrike">
                        <a:solidFill>
                          <a:schemeClr val="bg1"/>
                        </a:solidFill>
                        <a:effectLst/>
                        <a:latin typeface="Constantia"/>
                      </a:endParaRPr>
                    </a:p>
                  </a:txBody>
                  <a:tcPr marL="9525" marR="9525" marT="9525" marB="0" anchor="b"/>
                </a:tc>
                <a:tc>
                  <a:txBody>
                    <a:bodyPr/>
                    <a:lstStyle/>
                    <a:p>
                      <a:pPr algn="ctr" fontAlgn="b"/>
                      <a:r>
                        <a:rPr lang="en-US" sz="1200" b="1" u="none" strike="noStrike">
                          <a:solidFill>
                            <a:schemeClr val="bg1"/>
                          </a:solidFill>
                          <a:effectLst/>
                        </a:rPr>
                        <a:t>15714686</a:t>
                      </a:r>
                      <a:endParaRPr lang="en-US" sz="1200" b="1" i="0" u="none" strike="noStrike">
                        <a:solidFill>
                          <a:schemeClr val="bg1"/>
                        </a:solidFill>
                        <a:effectLst/>
                        <a:latin typeface="Constantia"/>
                      </a:endParaRPr>
                    </a:p>
                  </a:txBody>
                  <a:tcPr marL="9525" marR="9525" marT="9525" marB="0" anchor="b"/>
                </a:tc>
                <a:tc>
                  <a:txBody>
                    <a:bodyPr/>
                    <a:lstStyle/>
                    <a:p>
                      <a:pPr algn="ctr" fontAlgn="b"/>
                      <a:r>
                        <a:rPr lang="en-US" sz="1200" b="1" u="none" strike="noStrike">
                          <a:solidFill>
                            <a:schemeClr val="bg1"/>
                          </a:solidFill>
                          <a:effectLst/>
                        </a:rPr>
                        <a:t>45739043</a:t>
                      </a:r>
                      <a:endParaRPr lang="en-US" sz="1200" b="1" i="0" u="none" strike="noStrike">
                        <a:solidFill>
                          <a:schemeClr val="bg1"/>
                        </a:solidFill>
                        <a:effectLst/>
                        <a:latin typeface="Constantia"/>
                      </a:endParaRPr>
                    </a:p>
                  </a:txBody>
                  <a:tcPr marL="9525" marR="9525" marT="9525" marB="0" anchor="b"/>
                </a:tc>
              </a:tr>
              <a:tr h="348987">
                <a:tc>
                  <a:txBody>
                    <a:bodyPr/>
                    <a:lstStyle/>
                    <a:p>
                      <a:pPr algn="ctr" fontAlgn="b"/>
                      <a:r>
                        <a:rPr lang="en-US" sz="1200" b="1" u="none" strike="noStrike">
                          <a:solidFill>
                            <a:schemeClr val="bg1"/>
                          </a:solidFill>
                          <a:effectLst/>
                        </a:rPr>
                        <a:t>Grand Total</a:t>
                      </a:r>
                      <a:endParaRPr lang="en-US" sz="1200" b="1" i="0" u="none" strike="noStrike">
                        <a:solidFill>
                          <a:schemeClr val="bg1"/>
                        </a:solidFill>
                        <a:effectLst/>
                        <a:latin typeface="Constantia"/>
                      </a:endParaRPr>
                    </a:p>
                  </a:txBody>
                  <a:tcPr marL="9525" marR="9525" marT="9525" marB="0" anchor="b"/>
                </a:tc>
                <a:tc>
                  <a:txBody>
                    <a:bodyPr/>
                    <a:lstStyle/>
                    <a:p>
                      <a:pPr algn="ctr" fontAlgn="b"/>
                      <a:r>
                        <a:rPr lang="en-US" sz="1200" b="1" u="none" strike="noStrike">
                          <a:solidFill>
                            <a:schemeClr val="bg1"/>
                          </a:solidFill>
                          <a:effectLst/>
                        </a:rPr>
                        <a:t>113617167</a:t>
                      </a:r>
                      <a:endParaRPr lang="en-US" sz="1200" b="1" i="0" u="none" strike="noStrike">
                        <a:solidFill>
                          <a:schemeClr val="bg1"/>
                        </a:solidFill>
                        <a:effectLst/>
                        <a:latin typeface="Constantia"/>
                      </a:endParaRPr>
                    </a:p>
                  </a:txBody>
                  <a:tcPr marL="9525" marR="9525" marT="9525" marB="0" anchor="b"/>
                </a:tc>
                <a:tc>
                  <a:txBody>
                    <a:bodyPr/>
                    <a:lstStyle/>
                    <a:p>
                      <a:pPr algn="ctr" fontAlgn="b"/>
                      <a:r>
                        <a:rPr lang="en-US" sz="1200" b="1" u="none" strike="noStrike">
                          <a:solidFill>
                            <a:schemeClr val="bg1"/>
                          </a:solidFill>
                          <a:effectLst/>
                        </a:rPr>
                        <a:t>156901481</a:t>
                      </a:r>
                      <a:endParaRPr lang="en-US" sz="1200" b="1" i="0" u="none" strike="noStrike">
                        <a:solidFill>
                          <a:schemeClr val="bg1"/>
                        </a:solidFill>
                        <a:effectLst/>
                        <a:latin typeface="Constantia"/>
                      </a:endParaRPr>
                    </a:p>
                  </a:txBody>
                  <a:tcPr marL="9525" marR="9525" marT="9525" marB="0" anchor="b"/>
                </a:tc>
                <a:tc>
                  <a:txBody>
                    <a:bodyPr/>
                    <a:lstStyle/>
                    <a:p>
                      <a:pPr algn="ctr" fontAlgn="b"/>
                      <a:r>
                        <a:rPr lang="en-US" sz="1200" b="1" u="none" strike="noStrike">
                          <a:solidFill>
                            <a:schemeClr val="bg1"/>
                          </a:solidFill>
                          <a:effectLst/>
                        </a:rPr>
                        <a:t>220297317</a:t>
                      </a:r>
                      <a:endParaRPr lang="en-US" sz="1200" b="1" i="0" u="none" strike="noStrike">
                        <a:solidFill>
                          <a:schemeClr val="bg1"/>
                        </a:solidFill>
                        <a:effectLst/>
                        <a:latin typeface="Constantia"/>
                      </a:endParaRPr>
                    </a:p>
                  </a:txBody>
                  <a:tcPr marL="9525" marR="9525" marT="9525" marB="0" anchor="b"/>
                </a:tc>
                <a:tc>
                  <a:txBody>
                    <a:bodyPr/>
                    <a:lstStyle/>
                    <a:p>
                      <a:pPr algn="ctr" fontAlgn="b"/>
                      <a:r>
                        <a:rPr lang="en-US" sz="1200" b="1" u="none" strike="noStrike">
                          <a:solidFill>
                            <a:schemeClr val="bg1"/>
                          </a:solidFill>
                          <a:effectLst/>
                        </a:rPr>
                        <a:t>238188589</a:t>
                      </a:r>
                      <a:endParaRPr lang="en-US" sz="1200" b="1" i="0" u="none" strike="noStrike">
                        <a:solidFill>
                          <a:schemeClr val="bg1"/>
                        </a:solidFill>
                        <a:effectLst/>
                        <a:latin typeface="Constantia"/>
                      </a:endParaRPr>
                    </a:p>
                  </a:txBody>
                  <a:tcPr marL="9525" marR="9525" marT="9525" marB="0" anchor="b"/>
                </a:tc>
                <a:tc>
                  <a:txBody>
                    <a:bodyPr/>
                    <a:lstStyle/>
                    <a:p>
                      <a:pPr algn="ctr" fontAlgn="b"/>
                      <a:r>
                        <a:rPr lang="en-US" sz="1200" b="1" u="none" strike="noStrike" dirty="0">
                          <a:solidFill>
                            <a:schemeClr val="bg1"/>
                          </a:solidFill>
                          <a:effectLst/>
                        </a:rPr>
                        <a:t>729004554</a:t>
                      </a:r>
                      <a:endParaRPr lang="en-US" sz="1200" b="1" i="0" u="none" strike="noStrike" dirty="0">
                        <a:solidFill>
                          <a:schemeClr val="bg1"/>
                        </a:solidFill>
                        <a:effectLst/>
                        <a:latin typeface="Constantia"/>
                      </a:endParaRPr>
                    </a:p>
                  </a:txBody>
                  <a:tcPr marL="9525" marR="9525" marT="9525" marB="0" anchor="b"/>
                </a:tc>
              </a:tr>
            </a:tbl>
          </a:graphicData>
        </a:graphic>
      </p:graphicFrame>
    </p:spTree>
    <p:extLst>
      <p:ext uri="{BB962C8B-B14F-4D97-AF65-F5344CB8AC3E}">
        <p14:creationId xmlns:p14="http://schemas.microsoft.com/office/powerpoint/2010/main" val="8492570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200" dirty="0">
                <a:solidFill>
                  <a:schemeClr val="bg1"/>
                </a:solidFill>
                <a:latin typeface="Times New Roman" panose="02020603050405020304" pitchFamily="18" charset="0"/>
                <a:cs typeface="Times New Roman" panose="02020603050405020304" pitchFamily="18" charset="0"/>
              </a:rPr>
              <a:t>Top 10 Count of Customers</a:t>
            </a:r>
            <a:endParaRPr lang="en-US" sz="3200" dirty="0">
              <a:solidFill>
                <a:schemeClr val="bg1"/>
              </a:solidFill>
              <a:latin typeface="Times New Roman" panose="02020603050405020304" pitchFamily="18" charset="0"/>
              <a:cs typeface="Times New Roman" panose="02020603050405020304" pitchFamily="18"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745345261"/>
              </p:ext>
            </p:extLst>
          </p:nvPr>
        </p:nvGraphicFramePr>
        <p:xfrm>
          <a:off x="187569" y="2250823"/>
          <a:ext cx="11805139" cy="4419612"/>
        </p:xfrm>
        <a:graphic>
          <a:graphicData uri="http://schemas.openxmlformats.org/drawingml/2006/table">
            <a:tbl>
              <a:tblPr>
                <a:tableStyleId>{5C22544A-7EE6-4342-B048-85BDC9FD1C3A}</a:tableStyleId>
              </a:tblPr>
              <a:tblGrid>
                <a:gridCol w="4722055"/>
                <a:gridCol w="7083084"/>
              </a:tblGrid>
              <a:tr h="368301">
                <a:tc>
                  <a:txBody>
                    <a:bodyPr/>
                    <a:lstStyle/>
                    <a:p>
                      <a:pPr algn="ctr" fontAlgn="b"/>
                      <a:r>
                        <a:rPr lang="en-US" sz="1200" b="1" u="none" strike="noStrike" dirty="0">
                          <a:effectLst/>
                        </a:rPr>
                        <a:t>Row Labels</a:t>
                      </a:r>
                      <a:endParaRPr lang="en-US" sz="1200" b="1" i="0" u="none" strike="noStrike" dirty="0">
                        <a:solidFill>
                          <a:srgbClr val="000000"/>
                        </a:solidFill>
                        <a:effectLst/>
                        <a:latin typeface="Constantia"/>
                      </a:endParaRPr>
                    </a:p>
                  </a:txBody>
                  <a:tcPr marL="9525" marR="9525" marT="9525" marB="0" anchor="b"/>
                </a:tc>
                <a:tc>
                  <a:txBody>
                    <a:bodyPr/>
                    <a:lstStyle/>
                    <a:p>
                      <a:pPr algn="ctr" fontAlgn="b"/>
                      <a:r>
                        <a:rPr lang="en-US" sz="1200" b="1" u="none" strike="noStrike">
                          <a:effectLst/>
                        </a:rPr>
                        <a:t>Count of OrderValue</a:t>
                      </a:r>
                      <a:endParaRPr lang="en-US" sz="1200" b="1" i="0" u="none" strike="noStrike">
                        <a:solidFill>
                          <a:srgbClr val="000000"/>
                        </a:solidFill>
                        <a:effectLst/>
                        <a:latin typeface="Constantia"/>
                      </a:endParaRPr>
                    </a:p>
                  </a:txBody>
                  <a:tcPr marL="9525" marR="9525" marT="9525" marB="0" anchor="b"/>
                </a:tc>
              </a:tr>
              <a:tr h="368301">
                <a:tc>
                  <a:txBody>
                    <a:bodyPr/>
                    <a:lstStyle/>
                    <a:p>
                      <a:pPr algn="ctr" fontAlgn="b"/>
                      <a:r>
                        <a:rPr lang="en-US" sz="1200" b="1" u="none" strike="noStrike">
                          <a:effectLst/>
                        </a:rPr>
                        <a:t>C21-0006</a:t>
                      </a:r>
                      <a:endParaRPr lang="en-US" sz="1200" b="1" i="0" u="none" strike="noStrike">
                        <a:solidFill>
                          <a:srgbClr val="000000"/>
                        </a:solidFill>
                        <a:effectLst/>
                        <a:latin typeface="Constantia"/>
                      </a:endParaRPr>
                    </a:p>
                  </a:txBody>
                  <a:tcPr marL="9525" marR="9525" marT="9525" marB="0" anchor="b"/>
                </a:tc>
                <a:tc>
                  <a:txBody>
                    <a:bodyPr/>
                    <a:lstStyle/>
                    <a:p>
                      <a:pPr algn="ctr" fontAlgn="b"/>
                      <a:r>
                        <a:rPr lang="en-US" sz="1200" b="1" u="none" strike="noStrike">
                          <a:effectLst/>
                        </a:rPr>
                        <a:t>3516</a:t>
                      </a:r>
                      <a:endParaRPr lang="en-US" sz="1200" b="1" i="0" u="none" strike="noStrike">
                        <a:solidFill>
                          <a:srgbClr val="000000"/>
                        </a:solidFill>
                        <a:effectLst/>
                        <a:latin typeface="Constantia"/>
                      </a:endParaRPr>
                    </a:p>
                  </a:txBody>
                  <a:tcPr marL="9525" marR="9525" marT="9525" marB="0" anchor="b"/>
                </a:tc>
              </a:tr>
              <a:tr h="368301">
                <a:tc>
                  <a:txBody>
                    <a:bodyPr/>
                    <a:lstStyle/>
                    <a:p>
                      <a:pPr algn="ctr" fontAlgn="b"/>
                      <a:r>
                        <a:rPr lang="en-US" sz="1200" b="1" u="none" strike="noStrike">
                          <a:effectLst/>
                        </a:rPr>
                        <a:t>C23-0006</a:t>
                      </a:r>
                      <a:endParaRPr lang="en-US" sz="1200" b="1" i="0" u="none" strike="noStrike">
                        <a:solidFill>
                          <a:srgbClr val="000000"/>
                        </a:solidFill>
                        <a:effectLst/>
                        <a:latin typeface="Constantia"/>
                      </a:endParaRPr>
                    </a:p>
                  </a:txBody>
                  <a:tcPr marL="9525" marR="9525" marT="9525" marB="0" anchor="b"/>
                </a:tc>
                <a:tc>
                  <a:txBody>
                    <a:bodyPr/>
                    <a:lstStyle/>
                    <a:p>
                      <a:pPr algn="ctr" fontAlgn="b"/>
                      <a:r>
                        <a:rPr lang="en-US" sz="1200" b="1" u="none" strike="noStrike">
                          <a:effectLst/>
                        </a:rPr>
                        <a:t>7188</a:t>
                      </a:r>
                      <a:endParaRPr lang="en-US" sz="1200" b="1" i="0" u="none" strike="noStrike">
                        <a:solidFill>
                          <a:srgbClr val="000000"/>
                        </a:solidFill>
                        <a:effectLst/>
                        <a:latin typeface="Constantia"/>
                      </a:endParaRPr>
                    </a:p>
                  </a:txBody>
                  <a:tcPr marL="9525" marR="9525" marT="9525" marB="0" anchor="b"/>
                </a:tc>
              </a:tr>
              <a:tr h="368301">
                <a:tc>
                  <a:txBody>
                    <a:bodyPr/>
                    <a:lstStyle/>
                    <a:p>
                      <a:pPr algn="ctr" fontAlgn="b"/>
                      <a:r>
                        <a:rPr lang="en-US" sz="1200" b="1" u="none" strike="noStrike">
                          <a:effectLst/>
                        </a:rPr>
                        <a:t>C24-0007</a:t>
                      </a:r>
                      <a:endParaRPr lang="en-US" sz="1200" b="1" i="0" u="none" strike="noStrike">
                        <a:solidFill>
                          <a:srgbClr val="000000"/>
                        </a:solidFill>
                        <a:effectLst/>
                        <a:latin typeface="Constantia"/>
                      </a:endParaRPr>
                    </a:p>
                  </a:txBody>
                  <a:tcPr marL="9525" marR="9525" marT="9525" marB="0" anchor="b"/>
                </a:tc>
                <a:tc>
                  <a:txBody>
                    <a:bodyPr/>
                    <a:lstStyle/>
                    <a:p>
                      <a:pPr algn="ctr" fontAlgn="b"/>
                      <a:r>
                        <a:rPr lang="en-US" sz="1200" b="1" u="none" strike="noStrike">
                          <a:effectLst/>
                        </a:rPr>
                        <a:t>4828</a:t>
                      </a:r>
                      <a:endParaRPr lang="en-US" sz="1200" b="1" i="0" u="none" strike="noStrike">
                        <a:solidFill>
                          <a:srgbClr val="000000"/>
                        </a:solidFill>
                        <a:effectLst/>
                        <a:latin typeface="Constantia"/>
                      </a:endParaRPr>
                    </a:p>
                  </a:txBody>
                  <a:tcPr marL="9525" marR="9525" marT="9525" marB="0" anchor="b"/>
                </a:tc>
              </a:tr>
              <a:tr h="368301">
                <a:tc>
                  <a:txBody>
                    <a:bodyPr/>
                    <a:lstStyle/>
                    <a:p>
                      <a:pPr algn="ctr" fontAlgn="b"/>
                      <a:r>
                        <a:rPr lang="en-US" sz="1200" b="1" u="none" strike="noStrike">
                          <a:effectLst/>
                        </a:rPr>
                        <a:t>C24-0010</a:t>
                      </a:r>
                      <a:endParaRPr lang="en-US" sz="1200" b="1" i="0" u="none" strike="noStrike">
                        <a:solidFill>
                          <a:srgbClr val="000000"/>
                        </a:solidFill>
                        <a:effectLst/>
                        <a:latin typeface="Constantia"/>
                      </a:endParaRPr>
                    </a:p>
                  </a:txBody>
                  <a:tcPr marL="9525" marR="9525" marT="9525" marB="0" anchor="b"/>
                </a:tc>
                <a:tc>
                  <a:txBody>
                    <a:bodyPr/>
                    <a:lstStyle/>
                    <a:p>
                      <a:pPr algn="ctr" fontAlgn="b"/>
                      <a:r>
                        <a:rPr lang="en-US" sz="1200" b="1" u="none" strike="noStrike">
                          <a:effectLst/>
                        </a:rPr>
                        <a:t>3845</a:t>
                      </a:r>
                      <a:endParaRPr lang="en-US" sz="1200" b="1" i="0" u="none" strike="noStrike">
                        <a:solidFill>
                          <a:srgbClr val="000000"/>
                        </a:solidFill>
                        <a:effectLst/>
                        <a:latin typeface="Constantia"/>
                      </a:endParaRPr>
                    </a:p>
                  </a:txBody>
                  <a:tcPr marL="9525" marR="9525" marT="9525" marB="0" anchor="b"/>
                </a:tc>
              </a:tr>
              <a:tr h="368301">
                <a:tc>
                  <a:txBody>
                    <a:bodyPr/>
                    <a:lstStyle/>
                    <a:p>
                      <a:pPr algn="ctr" fontAlgn="b"/>
                      <a:r>
                        <a:rPr lang="en-US" sz="1200" b="1" u="none" strike="noStrike">
                          <a:effectLst/>
                        </a:rPr>
                        <a:t>C24-0079</a:t>
                      </a:r>
                      <a:endParaRPr lang="en-US" sz="1200" b="1" i="0" u="none" strike="noStrike">
                        <a:solidFill>
                          <a:srgbClr val="000000"/>
                        </a:solidFill>
                        <a:effectLst/>
                        <a:latin typeface="Constantia"/>
                      </a:endParaRPr>
                    </a:p>
                  </a:txBody>
                  <a:tcPr marL="9525" marR="9525" marT="9525" marB="0" anchor="b"/>
                </a:tc>
                <a:tc>
                  <a:txBody>
                    <a:bodyPr/>
                    <a:lstStyle/>
                    <a:p>
                      <a:pPr algn="ctr" fontAlgn="b"/>
                      <a:r>
                        <a:rPr lang="en-US" sz="1200" b="1" u="none" strike="noStrike" dirty="0">
                          <a:effectLst/>
                        </a:rPr>
                        <a:t>4367</a:t>
                      </a:r>
                      <a:endParaRPr lang="en-US" sz="1200" b="1" i="0" u="none" strike="noStrike" dirty="0">
                        <a:solidFill>
                          <a:srgbClr val="000000"/>
                        </a:solidFill>
                        <a:effectLst/>
                        <a:latin typeface="Constantia"/>
                      </a:endParaRPr>
                    </a:p>
                  </a:txBody>
                  <a:tcPr marL="9525" marR="9525" marT="9525" marB="0" anchor="b"/>
                </a:tc>
              </a:tr>
              <a:tr h="368301">
                <a:tc>
                  <a:txBody>
                    <a:bodyPr/>
                    <a:lstStyle/>
                    <a:p>
                      <a:pPr algn="ctr" fontAlgn="b"/>
                      <a:r>
                        <a:rPr lang="en-US" sz="1200" b="1" u="none" strike="noStrike">
                          <a:effectLst/>
                        </a:rPr>
                        <a:t>C27-0052</a:t>
                      </a:r>
                      <a:endParaRPr lang="en-US" sz="1200" b="1" i="0" u="none" strike="noStrike">
                        <a:solidFill>
                          <a:srgbClr val="000000"/>
                        </a:solidFill>
                        <a:effectLst/>
                        <a:latin typeface="Constantia"/>
                      </a:endParaRPr>
                    </a:p>
                  </a:txBody>
                  <a:tcPr marL="9525" marR="9525" marT="9525" marB="0" anchor="b"/>
                </a:tc>
                <a:tc>
                  <a:txBody>
                    <a:bodyPr/>
                    <a:lstStyle/>
                    <a:p>
                      <a:pPr algn="ctr" fontAlgn="b"/>
                      <a:r>
                        <a:rPr lang="en-US" sz="1200" b="1" u="none" strike="noStrike">
                          <a:effectLst/>
                        </a:rPr>
                        <a:t>3412</a:t>
                      </a:r>
                      <a:endParaRPr lang="en-US" sz="1200" b="1" i="0" u="none" strike="noStrike">
                        <a:solidFill>
                          <a:srgbClr val="000000"/>
                        </a:solidFill>
                        <a:effectLst/>
                        <a:latin typeface="Constantia"/>
                      </a:endParaRPr>
                    </a:p>
                  </a:txBody>
                  <a:tcPr marL="9525" marR="9525" marT="9525" marB="0" anchor="b"/>
                </a:tc>
              </a:tr>
              <a:tr h="368301">
                <a:tc>
                  <a:txBody>
                    <a:bodyPr/>
                    <a:lstStyle/>
                    <a:p>
                      <a:pPr algn="ctr" fontAlgn="b"/>
                      <a:r>
                        <a:rPr lang="en-US" sz="1200" b="1" u="none" strike="noStrike">
                          <a:effectLst/>
                        </a:rPr>
                        <a:t>C27-0207</a:t>
                      </a:r>
                      <a:endParaRPr lang="en-US" sz="1200" b="1" i="0" u="none" strike="noStrike">
                        <a:solidFill>
                          <a:srgbClr val="000000"/>
                        </a:solidFill>
                        <a:effectLst/>
                        <a:latin typeface="Constantia"/>
                      </a:endParaRPr>
                    </a:p>
                  </a:txBody>
                  <a:tcPr marL="9525" marR="9525" marT="9525" marB="0" anchor="b"/>
                </a:tc>
                <a:tc>
                  <a:txBody>
                    <a:bodyPr/>
                    <a:lstStyle/>
                    <a:p>
                      <a:pPr algn="ctr" fontAlgn="b"/>
                      <a:r>
                        <a:rPr lang="en-US" sz="1200" b="1" u="none" strike="noStrike">
                          <a:effectLst/>
                        </a:rPr>
                        <a:t>7097</a:t>
                      </a:r>
                      <a:endParaRPr lang="en-US" sz="1200" b="1" i="0" u="none" strike="noStrike">
                        <a:solidFill>
                          <a:srgbClr val="000000"/>
                        </a:solidFill>
                        <a:effectLst/>
                        <a:latin typeface="Constantia"/>
                      </a:endParaRPr>
                    </a:p>
                  </a:txBody>
                  <a:tcPr marL="9525" marR="9525" marT="9525" marB="0" anchor="b"/>
                </a:tc>
              </a:tr>
              <a:tr h="368301">
                <a:tc>
                  <a:txBody>
                    <a:bodyPr/>
                    <a:lstStyle/>
                    <a:p>
                      <a:pPr algn="ctr" fontAlgn="b"/>
                      <a:r>
                        <a:rPr lang="en-US" sz="1200" b="1" u="none" strike="noStrike">
                          <a:effectLst/>
                        </a:rPr>
                        <a:t>C27-0376</a:t>
                      </a:r>
                      <a:endParaRPr lang="en-US" sz="1200" b="1" i="0" u="none" strike="noStrike">
                        <a:solidFill>
                          <a:srgbClr val="000000"/>
                        </a:solidFill>
                        <a:effectLst/>
                        <a:latin typeface="Constantia"/>
                      </a:endParaRPr>
                    </a:p>
                  </a:txBody>
                  <a:tcPr marL="9525" marR="9525" marT="9525" marB="0" anchor="b"/>
                </a:tc>
                <a:tc>
                  <a:txBody>
                    <a:bodyPr/>
                    <a:lstStyle/>
                    <a:p>
                      <a:pPr algn="ctr" fontAlgn="b"/>
                      <a:r>
                        <a:rPr lang="en-US" sz="1200" b="1" u="none" strike="noStrike">
                          <a:effectLst/>
                        </a:rPr>
                        <a:t>8802</a:t>
                      </a:r>
                      <a:endParaRPr lang="en-US" sz="1200" b="1" i="0" u="none" strike="noStrike">
                        <a:solidFill>
                          <a:srgbClr val="000000"/>
                        </a:solidFill>
                        <a:effectLst/>
                        <a:latin typeface="Constantia"/>
                      </a:endParaRPr>
                    </a:p>
                  </a:txBody>
                  <a:tcPr marL="9525" marR="9525" marT="9525" marB="0" anchor="b"/>
                </a:tc>
              </a:tr>
              <a:tr h="368301">
                <a:tc>
                  <a:txBody>
                    <a:bodyPr/>
                    <a:lstStyle/>
                    <a:p>
                      <a:pPr algn="ctr" fontAlgn="b"/>
                      <a:r>
                        <a:rPr lang="en-US" sz="1200" b="1" u="none" strike="noStrike">
                          <a:effectLst/>
                        </a:rPr>
                        <a:t>C27-0416</a:t>
                      </a:r>
                      <a:endParaRPr lang="en-US" sz="1200" b="1" i="0" u="none" strike="noStrike">
                        <a:solidFill>
                          <a:srgbClr val="000000"/>
                        </a:solidFill>
                        <a:effectLst/>
                        <a:latin typeface="Constantia"/>
                      </a:endParaRPr>
                    </a:p>
                  </a:txBody>
                  <a:tcPr marL="9525" marR="9525" marT="9525" marB="0" anchor="b"/>
                </a:tc>
                <a:tc>
                  <a:txBody>
                    <a:bodyPr/>
                    <a:lstStyle/>
                    <a:p>
                      <a:pPr algn="ctr" fontAlgn="b"/>
                      <a:r>
                        <a:rPr lang="en-US" sz="1200" b="1" u="none" strike="noStrike">
                          <a:effectLst/>
                        </a:rPr>
                        <a:t>6303</a:t>
                      </a:r>
                      <a:endParaRPr lang="en-US" sz="1200" b="1" i="0" u="none" strike="noStrike">
                        <a:solidFill>
                          <a:srgbClr val="000000"/>
                        </a:solidFill>
                        <a:effectLst/>
                        <a:latin typeface="Constantia"/>
                      </a:endParaRPr>
                    </a:p>
                  </a:txBody>
                  <a:tcPr marL="9525" marR="9525" marT="9525" marB="0" anchor="b"/>
                </a:tc>
              </a:tr>
              <a:tr h="368301">
                <a:tc>
                  <a:txBody>
                    <a:bodyPr/>
                    <a:lstStyle/>
                    <a:p>
                      <a:pPr algn="ctr" fontAlgn="b"/>
                      <a:r>
                        <a:rPr lang="en-US" sz="1200" b="1" u="none" strike="noStrike">
                          <a:effectLst/>
                        </a:rPr>
                        <a:t>C33-0068</a:t>
                      </a:r>
                      <a:endParaRPr lang="en-US" sz="1200" b="1" i="0" u="none" strike="noStrike">
                        <a:solidFill>
                          <a:srgbClr val="000000"/>
                        </a:solidFill>
                        <a:effectLst/>
                        <a:latin typeface="Constantia"/>
                      </a:endParaRPr>
                    </a:p>
                  </a:txBody>
                  <a:tcPr marL="9525" marR="9525" marT="9525" marB="0" anchor="b"/>
                </a:tc>
                <a:tc>
                  <a:txBody>
                    <a:bodyPr/>
                    <a:lstStyle/>
                    <a:p>
                      <a:pPr algn="ctr" fontAlgn="b"/>
                      <a:r>
                        <a:rPr lang="en-US" sz="1200" b="1" u="none" strike="noStrike">
                          <a:effectLst/>
                        </a:rPr>
                        <a:t>4841</a:t>
                      </a:r>
                      <a:endParaRPr lang="en-US" sz="1200" b="1" i="0" u="none" strike="noStrike">
                        <a:solidFill>
                          <a:srgbClr val="000000"/>
                        </a:solidFill>
                        <a:effectLst/>
                        <a:latin typeface="Constantia"/>
                      </a:endParaRPr>
                    </a:p>
                  </a:txBody>
                  <a:tcPr marL="9525" marR="9525" marT="9525" marB="0" anchor="b"/>
                </a:tc>
              </a:tr>
              <a:tr h="368301">
                <a:tc>
                  <a:txBody>
                    <a:bodyPr/>
                    <a:lstStyle/>
                    <a:p>
                      <a:pPr algn="ctr" fontAlgn="b"/>
                      <a:r>
                        <a:rPr lang="en-US" sz="1200" b="1" u="none" strike="noStrike">
                          <a:effectLst/>
                        </a:rPr>
                        <a:t>Grand Total</a:t>
                      </a:r>
                      <a:endParaRPr lang="en-US" sz="1200" b="1" i="0" u="none" strike="noStrike">
                        <a:solidFill>
                          <a:srgbClr val="000000"/>
                        </a:solidFill>
                        <a:effectLst/>
                        <a:latin typeface="Constantia"/>
                      </a:endParaRPr>
                    </a:p>
                  </a:txBody>
                  <a:tcPr marL="9525" marR="9525" marT="9525" marB="0" anchor="b"/>
                </a:tc>
                <a:tc>
                  <a:txBody>
                    <a:bodyPr/>
                    <a:lstStyle/>
                    <a:p>
                      <a:pPr algn="ctr" fontAlgn="b"/>
                      <a:r>
                        <a:rPr lang="en-US" sz="1200" b="1" u="none" strike="noStrike" dirty="0">
                          <a:effectLst/>
                        </a:rPr>
                        <a:t>54199</a:t>
                      </a:r>
                      <a:endParaRPr lang="en-US" sz="1200" b="1" i="0" u="none" strike="noStrike" dirty="0">
                        <a:solidFill>
                          <a:srgbClr val="000000"/>
                        </a:solidFill>
                        <a:effectLst/>
                        <a:latin typeface="Constantia"/>
                      </a:endParaRPr>
                    </a:p>
                  </a:txBody>
                  <a:tcPr marL="9525" marR="9525" marT="9525" marB="0" anchor="b"/>
                </a:tc>
              </a:tr>
            </a:tbl>
          </a:graphicData>
        </a:graphic>
      </p:graphicFrame>
    </p:spTree>
    <p:extLst>
      <p:ext uri="{BB962C8B-B14F-4D97-AF65-F5344CB8AC3E}">
        <p14:creationId xmlns:p14="http://schemas.microsoft.com/office/powerpoint/2010/main" val="3028516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
          <p:cNvSpPr>
            <a:spLocks noGrp="1"/>
          </p:cNvSpPr>
          <p:nvPr>
            <p:ph type="title"/>
          </p:nvPr>
        </p:nvSpPr>
        <p:spPr>
          <a:xfrm>
            <a:off x="786554" y="1664677"/>
            <a:ext cx="10561418" cy="2438996"/>
          </a:xfrm>
        </p:spPr>
        <p:txBody>
          <a:bodyPr/>
          <a:lstStyle/>
          <a:p>
            <a:pPr algn="ctr"/>
            <a:r>
              <a:rPr lang="en-US" sz="3200" dirty="0">
                <a:solidFill>
                  <a:schemeClr val="bg1"/>
                </a:solidFill>
                <a:latin typeface="Times New Roman" panose="02020603050405020304" pitchFamily="18" charset="0"/>
                <a:cs typeface="Times New Roman" panose="02020603050405020304" pitchFamily="18" charset="0"/>
              </a:rPr>
              <a:t>2. Aggregations and  visualization of Data</a:t>
            </a:r>
            <a:br>
              <a:rPr lang="en-US" sz="3200" dirty="0">
                <a:solidFill>
                  <a:schemeClr val="bg1"/>
                </a:solidFill>
                <a:latin typeface="Times New Roman" panose="02020603050405020304" pitchFamily="18" charset="0"/>
                <a:cs typeface="Times New Roman" panose="02020603050405020304" pitchFamily="18" charset="0"/>
              </a:rPr>
            </a:br>
            <a:r>
              <a:rPr lang="en-US" sz="3200" dirty="0">
                <a:solidFill>
                  <a:schemeClr val="bg1"/>
                </a:solidFill>
                <a:latin typeface="Times New Roman" panose="02020603050405020304" pitchFamily="18" charset="0"/>
                <a:cs typeface="Times New Roman" panose="02020603050405020304" pitchFamily="18" charset="0"/>
              </a:rPr>
              <a:t/>
            </a:r>
            <a:br>
              <a:rPr lang="en-US" sz="3200" dirty="0">
                <a:solidFill>
                  <a:schemeClr val="bg1"/>
                </a:solidFill>
                <a:latin typeface="Times New Roman" panose="02020603050405020304" pitchFamily="18" charset="0"/>
                <a:cs typeface="Times New Roman" panose="02020603050405020304" pitchFamily="18" charset="0"/>
              </a:rPr>
            </a:br>
            <a:endParaRPr lang="en-US" sz="32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057757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200" dirty="0">
                <a:solidFill>
                  <a:schemeClr val="bg1"/>
                </a:solidFill>
                <a:latin typeface="Times New Roman" panose="02020603050405020304" pitchFamily="18" charset="0"/>
                <a:cs typeface="Times New Roman" panose="02020603050405020304" pitchFamily="18" charset="0"/>
              </a:rPr>
              <a:t> Maximum and Minimum Revenue</a:t>
            </a:r>
            <a:endParaRPr lang="en-US" sz="3200" dirty="0">
              <a:solidFill>
                <a:schemeClr val="bg1"/>
              </a:solidFill>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562830123"/>
              </p:ext>
            </p:extLst>
          </p:nvPr>
        </p:nvGraphicFramePr>
        <p:xfrm>
          <a:off x="398584" y="2046652"/>
          <a:ext cx="11125200" cy="469411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9965871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6216" y="586155"/>
            <a:ext cx="10571998" cy="831484"/>
          </a:xfrm>
        </p:spPr>
        <p:txBody>
          <a:bodyPr/>
          <a:lstStyle/>
          <a:p>
            <a:pPr algn="ctr"/>
            <a:r>
              <a:rPr lang="en-US" sz="3200" dirty="0">
                <a:solidFill>
                  <a:schemeClr val="bg1"/>
                </a:solidFill>
                <a:latin typeface="Times New Roman" panose="02020603050405020304" pitchFamily="18" charset="0"/>
                <a:cs typeface="Times New Roman" panose="02020603050405020304" pitchFamily="18" charset="0"/>
              </a:rPr>
              <a:t>Revenue Generate</a:t>
            </a:r>
            <a:r>
              <a:rPr lang="en-US" sz="3200" dirty="0">
                <a:latin typeface="Times New Roman" panose="02020603050405020304" pitchFamily="18" charset="0"/>
                <a:cs typeface="Times New Roman" panose="02020603050405020304" pitchFamily="18" charset="0"/>
              </a:rPr>
              <a:t/>
            </a:r>
            <a:br>
              <a:rPr lang="en-US" sz="3200" dirty="0">
                <a:latin typeface="Times New Roman" panose="02020603050405020304" pitchFamily="18" charset="0"/>
                <a:cs typeface="Times New Roman" panose="02020603050405020304" pitchFamily="18" charset="0"/>
              </a:rPr>
            </a:br>
            <a:endParaRPr lang="en-US" sz="3200"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739870451"/>
              </p:ext>
            </p:extLst>
          </p:nvPr>
        </p:nvGraphicFramePr>
        <p:xfrm>
          <a:off x="351691" y="1957753"/>
          <a:ext cx="10925908" cy="478301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9057464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200" dirty="0">
                <a:solidFill>
                  <a:schemeClr val="bg1"/>
                </a:solidFill>
                <a:latin typeface="Times New Roman" panose="02020603050405020304" pitchFamily="18" charset="0"/>
                <a:cs typeface="Times New Roman" panose="02020603050405020304" pitchFamily="18" charset="0"/>
              </a:rPr>
              <a:t>Profit %  of  Total Revenue</a:t>
            </a:r>
            <a:endParaRPr lang="en-US" sz="3200" dirty="0">
              <a:solidFill>
                <a:schemeClr val="bg1"/>
              </a:solidFill>
            </a:endParaRPr>
          </a:p>
        </p:txBody>
      </p:sp>
      <p:graphicFrame>
        <p:nvGraphicFramePr>
          <p:cNvPr id="5" name="Content Placeholder 3"/>
          <p:cNvGraphicFramePr>
            <a:graphicFrameLocks noGrp="1"/>
          </p:cNvGraphicFramePr>
          <p:nvPr>
            <p:ph idx="1"/>
            <p:extLst>
              <p:ext uri="{D42A27DB-BD31-4B8C-83A1-F6EECF244321}">
                <p14:modId xmlns:p14="http://schemas.microsoft.com/office/powerpoint/2010/main" val="1920644540"/>
              </p:ext>
            </p:extLst>
          </p:nvPr>
        </p:nvGraphicFramePr>
        <p:xfrm>
          <a:off x="93785" y="2028092"/>
          <a:ext cx="11605846" cy="470095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5852668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200" dirty="0">
                <a:solidFill>
                  <a:schemeClr val="bg1"/>
                </a:solidFill>
                <a:latin typeface="Times New Roman" panose="02020603050405020304" pitchFamily="18" charset="0"/>
                <a:cs typeface="Times New Roman" panose="02020603050405020304" pitchFamily="18" charset="0"/>
              </a:rPr>
              <a:t>Sum of Sales by Category</a:t>
            </a:r>
            <a:endParaRPr lang="en-US" sz="3200" dirty="0">
              <a:solidFill>
                <a:schemeClr val="bg1"/>
              </a:solidFill>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884629503"/>
              </p:ext>
            </p:extLst>
          </p:nvPr>
        </p:nvGraphicFramePr>
        <p:xfrm>
          <a:off x="93785" y="2004645"/>
          <a:ext cx="11910646" cy="4607169"/>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7006748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200" dirty="0">
                <a:solidFill>
                  <a:schemeClr val="bg1"/>
                </a:solidFill>
                <a:latin typeface="Times New Roman" panose="02020603050405020304" pitchFamily="18" charset="0"/>
                <a:cs typeface="Times New Roman" panose="02020603050405020304" pitchFamily="18" charset="0"/>
              </a:rPr>
              <a:t>Top 10 Average Revenue/Customers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111955539"/>
              </p:ext>
            </p:extLst>
          </p:nvPr>
        </p:nvGraphicFramePr>
        <p:xfrm>
          <a:off x="140677" y="1957754"/>
          <a:ext cx="11957538" cy="474784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0122448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200" dirty="0">
                <a:solidFill>
                  <a:schemeClr val="bg1"/>
                </a:solidFill>
                <a:latin typeface="Times New Roman" panose="02020603050405020304" pitchFamily="18" charset="0"/>
                <a:cs typeface="Times New Roman" panose="02020603050405020304" pitchFamily="18" charset="0"/>
              </a:rPr>
              <a:t>Top 10 State</a:t>
            </a:r>
            <a:endParaRPr lang="en-US" sz="3200" dirty="0">
              <a:solidFill>
                <a:schemeClr val="bg1"/>
              </a:solidFill>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951820507"/>
              </p:ext>
            </p:extLst>
          </p:nvPr>
        </p:nvGraphicFramePr>
        <p:xfrm>
          <a:off x="105508" y="2004647"/>
          <a:ext cx="11957538" cy="475956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9032675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200" dirty="0">
                <a:solidFill>
                  <a:schemeClr val="bg1"/>
                </a:solidFill>
                <a:latin typeface="Times New Roman" panose="02020603050405020304" pitchFamily="18" charset="0"/>
                <a:cs typeface="Times New Roman" panose="02020603050405020304" pitchFamily="18" charset="0"/>
              </a:rPr>
              <a:t>Top 10 Count of Customers</a:t>
            </a:r>
            <a:endParaRPr lang="en-US" sz="3200" dirty="0">
              <a:solidFill>
                <a:schemeClr val="bg1"/>
              </a:solidFill>
            </a:endParaRPr>
          </a:p>
        </p:txBody>
      </p:sp>
      <p:sp>
        <p:nvSpPr>
          <p:cNvPr id="8" name="Content Placeholder 7"/>
          <p:cNvSpPr>
            <a:spLocks noGrp="1"/>
          </p:cNvSpPr>
          <p:nvPr>
            <p:ph idx="1"/>
          </p:nvPr>
        </p:nvSpPr>
        <p:spPr/>
        <p:txBody>
          <a:bodyPr/>
          <a:lstStyle/>
          <a:p>
            <a:endParaRPr lang="en-US"/>
          </a:p>
        </p:txBody>
      </p:sp>
      <p:graphicFrame>
        <p:nvGraphicFramePr>
          <p:cNvPr id="9" name="Chart 8"/>
          <p:cNvGraphicFramePr>
            <a:graphicFrameLocks/>
          </p:cNvGraphicFramePr>
          <p:nvPr>
            <p:extLst>
              <p:ext uri="{D42A27DB-BD31-4B8C-83A1-F6EECF244321}">
                <p14:modId xmlns:p14="http://schemas.microsoft.com/office/powerpoint/2010/main" val="3166351236"/>
              </p:ext>
            </p:extLst>
          </p:nvPr>
        </p:nvGraphicFramePr>
        <p:xfrm>
          <a:off x="93784" y="1910862"/>
          <a:ext cx="11992707" cy="485335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2571614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0707" y="2353519"/>
            <a:ext cx="10561418" cy="1468800"/>
          </a:xfrm>
        </p:spPr>
        <p:txBody>
          <a:bodyPr/>
          <a:lstStyle/>
          <a:p>
            <a:pPr algn="ctr"/>
            <a:r>
              <a:rPr lang="en-US" sz="3200" dirty="0" smtClean="0">
                <a:solidFill>
                  <a:schemeClr val="bg1"/>
                </a:solidFill>
                <a:latin typeface="Times New Roman" panose="02020603050405020304" pitchFamily="18" charset="0"/>
                <a:cs typeface="Times New Roman" panose="02020603050405020304" pitchFamily="18" charset="0"/>
              </a:rPr>
              <a:t>3.Dashboard</a:t>
            </a:r>
            <a:r>
              <a:rPr lang="en-US" dirty="0">
                <a:solidFill>
                  <a:schemeClr val="bg1"/>
                </a:solidFill>
                <a:latin typeface="Times New Roman" panose="02020603050405020304" pitchFamily="18" charset="0"/>
                <a:cs typeface="Times New Roman" panose="02020603050405020304" pitchFamily="18" charset="0"/>
              </a:rPr>
              <a:t/>
            </a:r>
            <a:br>
              <a:rPr lang="en-US" dirty="0">
                <a:solidFill>
                  <a:schemeClr val="bg1"/>
                </a:solidFill>
                <a:latin typeface="Times New Roman" panose="02020603050405020304" pitchFamily="18" charset="0"/>
                <a:cs typeface="Times New Roman" panose="02020603050405020304" pitchFamily="18" charset="0"/>
              </a:rPr>
            </a:br>
            <a:endParaRPr lang="en-US" dirty="0"/>
          </a:p>
        </p:txBody>
      </p:sp>
    </p:spTree>
    <p:extLst>
      <p:ext uri="{BB962C8B-B14F-4D97-AF65-F5344CB8AC3E}">
        <p14:creationId xmlns:p14="http://schemas.microsoft.com/office/powerpoint/2010/main" val="17374827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200" dirty="0" smtClean="0">
                <a:solidFill>
                  <a:schemeClr val="bg1"/>
                </a:solidFill>
                <a:latin typeface="Times New Roman" panose="02020603050405020304" pitchFamily="18" charset="0"/>
                <a:cs typeface="Times New Roman" panose="02020603050405020304" pitchFamily="18" charset="0"/>
              </a:rPr>
              <a:t>Sales KPI Analysis Dashboard</a:t>
            </a:r>
            <a:endParaRPr lang="en-US" sz="3200" dirty="0">
              <a:solidFill>
                <a:schemeClr val="bg1"/>
              </a:solidFill>
              <a:latin typeface="Times New Roman" panose="02020603050405020304" pitchFamily="18" charset="0"/>
              <a:cs typeface="Times New Roman" panose="02020603050405020304" pitchFamily="18" charset="0"/>
            </a:endParaRPr>
          </a:p>
        </p:txBody>
      </p:sp>
      <p:pic>
        <p:nvPicPr>
          <p:cNvPr id="10252" name="Picture 1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1934309"/>
            <a:ext cx="12192001" cy="49236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988019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200" dirty="0">
                <a:solidFill>
                  <a:schemeClr val="bg1"/>
                </a:solidFill>
                <a:latin typeface="Times New Roman" panose="02020603050405020304" pitchFamily="18" charset="0"/>
                <a:cs typeface="Times New Roman" panose="02020603050405020304" pitchFamily="18" charset="0"/>
              </a:rPr>
              <a:t> </a:t>
            </a:r>
            <a:r>
              <a:rPr lang="en-US" sz="3200" dirty="0" smtClean="0">
                <a:solidFill>
                  <a:schemeClr val="bg1"/>
                </a:solidFill>
                <a:latin typeface="Times New Roman" panose="02020603050405020304" pitchFamily="18" charset="0"/>
                <a:cs typeface="Times New Roman" panose="02020603050405020304" pitchFamily="18" charset="0"/>
              </a:rPr>
              <a:t>4. </a:t>
            </a:r>
            <a:r>
              <a:rPr lang="en-US" sz="3200" dirty="0">
                <a:solidFill>
                  <a:schemeClr val="bg1"/>
                </a:solidFill>
                <a:latin typeface="Times New Roman" panose="02020603050405020304" pitchFamily="18" charset="0"/>
                <a:cs typeface="Times New Roman" panose="02020603050405020304" pitchFamily="18" charset="0"/>
              </a:rPr>
              <a:t>Overview of  Sales Data</a:t>
            </a:r>
            <a:endParaRPr lang="en-US" dirty="0">
              <a:solidFill>
                <a:schemeClr val="bg1"/>
              </a:solidFill>
            </a:endParaRPr>
          </a:p>
        </p:txBody>
      </p:sp>
      <p:sp>
        <p:nvSpPr>
          <p:cNvPr id="3" name="Content Placeholder 2"/>
          <p:cNvSpPr>
            <a:spLocks noGrp="1"/>
          </p:cNvSpPr>
          <p:nvPr>
            <p:ph idx="1"/>
          </p:nvPr>
        </p:nvSpPr>
        <p:spPr>
          <a:xfrm>
            <a:off x="689758" y="2069887"/>
            <a:ext cx="10554574" cy="3636511"/>
          </a:xfrm>
        </p:spPr>
        <p:txBody>
          <a:bodyPr>
            <a:normAutofit/>
          </a:bodyPr>
          <a:lstStyle/>
          <a:p>
            <a:r>
              <a:rPr lang="en-US" dirty="0">
                <a:latin typeface="Times New Roman" panose="02020603050405020304" pitchFamily="18" charset="0"/>
                <a:cs typeface="Times New Roman" panose="02020603050405020304" pitchFamily="18" charset="0"/>
              </a:rPr>
              <a:t>By using VLOOKUP functions we combined  all the dataset entity by matching column data</a:t>
            </a:r>
            <a:r>
              <a:rPr lang="en-US" dirty="0"/>
              <a:t>.</a:t>
            </a:r>
          </a:p>
          <a:p>
            <a:pPr marL="0" indent="0">
              <a:buNone/>
            </a:pPr>
            <a:endParaRPr lang="en-US" dirty="0"/>
          </a:p>
        </p:txBody>
      </p:sp>
    </p:spTree>
    <p:extLst>
      <p:ext uri="{BB962C8B-B14F-4D97-AF65-F5344CB8AC3E}">
        <p14:creationId xmlns:p14="http://schemas.microsoft.com/office/powerpoint/2010/main" val="730150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lnSpc>
                <a:spcPct val="150000"/>
              </a:lnSpc>
            </a:pPr>
            <a:r>
              <a:rPr lang="en-US" dirty="0" smtClean="0"/>
              <a:t/>
            </a:r>
            <a:br>
              <a:rPr lang="en-US" dirty="0" smtClean="0"/>
            </a:br>
            <a:r>
              <a:rPr lang="en-US" sz="3200" dirty="0" smtClean="0">
                <a:solidFill>
                  <a:schemeClr val="bg1"/>
                </a:solidFill>
                <a:latin typeface="Times New Roman" panose="02020603050405020304" pitchFamily="18" charset="0"/>
                <a:cs typeface="Times New Roman" panose="02020603050405020304" pitchFamily="18" charset="0"/>
              </a:rPr>
              <a:t>5. </a:t>
            </a:r>
            <a:r>
              <a:rPr lang="en-US" sz="3200" dirty="0">
                <a:solidFill>
                  <a:schemeClr val="bg1"/>
                </a:solidFill>
                <a:latin typeface="Times New Roman" panose="02020603050405020304" pitchFamily="18" charset="0"/>
                <a:cs typeface="Times New Roman" panose="02020603050405020304" pitchFamily="18" charset="0"/>
              </a:rPr>
              <a:t>Sales Performance or Some Insights </a:t>
            </a:r>
            <a:endParaRPr lang="en-US" sz="3200" dirty="0">
              <a:solidFill>
                <a:schemeClr val="bg1"/>
              </a:solidFill>
            </a:endParaRPr>
          </a:p>
        </p:txBody>
      </p:sp>
      <p:sp>
        <p:nvSpPr>
          <p:cNvPr id="3" name="Content Placeholder 2"/>
          <p:cNvSpPr>
            <a:spLocks noGrp="1"/>
          </p:cNvSpPr>
          <p:nvPr>
            <p:ph idx="1"/>
          </p:nvPr>
        </p:nvSpPr>
        <p:spPr>
          <a:xfrm>
            <a:off x="689758" y="2069887"/>
            <a:ext cx="10554574" cy="3636511"/>
          </a:xfrm>
        </p:spPr>
        <p:txBody>
          <a:bodyPr>
            <a:normAutofit/>
          </a:bodyPr>
          <a:lstStyle/>
          <a:p>
            <a:pPr>
              <a:lnSpc>
                <a:spcPct val="150000"/>
              </a:lnSpc>
            </a:pPr>
            <a:r>
              <a:rPr lang="en-US" dirty="0"/>
              <a:t>Comparison of Sales Data</a:t>
            </a:r>
          </a:p>
          <a:p>
            <a:pPr>
              <a:lnSpc>
                <a:spcPct val="150000"/>
              </a:lnSpc>
            </a:pPr>
            <a:r>
              <a:rPr lang="en-US" dirty="0"/>
              <a:t>Total Revenue vs  Items</a:t>
            </a:r>
          </a:p>
          <a:p>
            <a:pPr marL="457200" indent="-457200" algn="l">
              <a:lnSpc>
                <a:spcPct val="150000"/>
              </a:lnSpc>
              <a:buFont typeface="Wingdings" panose="05000000000000000000" pitchFamily="2" charset="2"/>
              <a:buChar char="Ø"/>
            </a:pPr>
            <a:r>
              <a:rPr lang="en-US" dirty="0"/>
              <a:t>Highest Revenue generated item is HMS-Pipe(Consistently Increased sales growth percentage over the years)</a:t>
            </a:r>
          </a:p>
          <a:p>
            <a:pPr marL="457200" indent="-457200" algn="l">
              <a:lnSpc>
                <a:spcPct val="150000"/>
              </a:lnSpc>
              <a:buFont typeface="Wingdings" panose="05000000000000000000" pitchFamily="2" charset="2"/>
              <a:buChar char="Ø"/>
            </a:pPr>
            <a:r>
              <a:rPr lang="en-US" dirty="0"/>
              <a:t>Lowest Revenue generated item is FRLSH House wire(Sales growth percentage is very low over the years)</a:t>
            </a:r>
          </a:p>
          <a:p>
            <a:pPr marL="457200" indent="-457200" algn="l">
              <a:lnSpc>
                <a:spcPct val="150000"/>
              </a:lnSpc>
              <a:buFont typeface="Wingdings" panose="05000000000000000000" pitchFamily="2" charset="2"/>
              <a:buChar char="Ø"/>
            </a:pPr>
            <a:r>
              <a:rPr lang="en-US" dirty="0"/>
              <a:t>Revenue generated of all other items are  gradually up and down over the years.</a:t>
            </a:r>
          </a:p>
          <a:p>
            <a:pPr marL="0" indent="0">
              <a:buNone/>
            </a:pPr>
            <a:endParaRPr lang="en-US" dirty="0"/>
          </a:p>
        </p:txBody>
      </p:sp>
    </p:spTree>
    <p:extLst>
      <p:ext uri="{BB962C8B-B14F-4D97-AF65-F5344CB8AC3E}">
        <p14:creationId xmlns:p14="http://schemas.microsoft.com/office/powerpoint/2010/main" val="34579167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200" dirty="0">
                <a:solidFill>
                  <a:schemeClr val="bg1"/>
                </a:solidFill>
              </a:rPr>
              <a:t>	</a:t>
            </a:r>
            <a:r>
              <a:rPr lang="en-US" sz="3200" dirty="0">
                <a:solidFill>
                  <a:schemeClr val="bg1"/>
                </a:solidFill>
                <a:latin typeface="Times New Roman" panose="02020603050405020304" pitchFamily="18" charset="0"/>
                <a:cs typeface="Times New Roman" panose="02020603050405020304" pitchFamily="18" charset="0"/>
              </a:rPr>
              <a:t>Total Revenue vs Category</a:t>
            </a:r>
            <a:endParaRPr lang="en-US" dirty="0">
              <a:solidFill>
                <a:schemeClr val="bg1"/>
              </a:solidFill>
            </a:endParaRPr>
          </a:p>
        </p:txBody>
      </p:sp>
      <p:sp>
        <p:nvSpPr>
          <p:cNvPr id="3" name="Content Placeholder 2"/>
          <p:cNvSpPr>
            <a:spLocks noGrp="1"/>
          </p:cNvSpPr>
          <p:nvPr>
            <p:ph idx="1"/>
          </p:nvPr>
        </p:nvSpPr>
        <p:spPr>
          <a:xfrm>
            <a:off x="689758" y="2069887"/>
            <a:ext cx="10554574" cy="3636511"/>
          </a:xfrm>
        </p:spPr>
        <p:txBody>
          <a:bodyPr>
            <a:normAutofit/>
          </a:bodyPr>
          <a:lstStyle/>
          <a:p>
            <a:pPr marL="457200" indent="-457200">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Highest Revenue generated category is Accessories(Consistently increased sales growth over the years).</a:t>
            </a:r>
          </a:p>
          <a:p>
            <a:pPr marL="457200" indent="-457200">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Lowest Revenue generated category is Switchgear.</a:t>
            </a:r>
          </a:p>
          <a:p>
            <a:pPr marL="457200" indent="-457200">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Most of the category was not introduced in 2019 but in next year it was launched </a:t>
            </a:r>
            <a:r>
              <a:rPr lang="en-US" dirty="0"/>
              <a:t>.</a:t>
            </a:r>
            <a:r>
              <a:rPr lang="en-US" dirty="0">
                <a:latin typeface="Times New Roman" panose="02020603050405020304" pitchFamily="18" charset="0"/>
                <a:cs typeface="Times New Roman" panose="02020603050405020304" pitchFamily="18" charset="0"/>
              </a:rPr>
              <a:t>The sales of Switches fall down  up to 4%. Percentage of sales Growth is not at the same level compared to the 2022 year.</a:t>
            </a:r>
          </a:p>
          <a:p>
            <a:pPr marL="457200" indent="-457200">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Company required to have a proper analysis to achieve its  target Customers and satisfying their customers needs to supply best items in terms of Quality.</a:t>
            </a:r>
          </a:p>
          <a:p>
            <a:pPr marL="0" indent="0">
              <a:buNone/>
            </a:pPr>
            <a:endParaRPr lang="en-US" dirty="0"/>
          </a:p>
        </p:txBody>
      </p:sp>
    </p:spTree>
    <p:extLst>
      <p:ext uri="{BB962C8B-B14F-4D97-AF65-F5344CB8AC3E}">
        <p14:creationId xmlns:p14="http://schemas.microsoft.com/office/powerpoint/2010/main" val="25432530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200" dirty="0">
                <a:solidFill>
                  <a:schemeClr val="bg1"/>
                </a:solidFill>
                <a:latin typeface="Times New Roman" panose="02020603050405020304" pitchFamily="18" charset="0"/>
                <a:cs typeface="Times New Roman" panose="02020603050405020304" pitchFamily="18" charset="0"/>
              </a:rPr>
              <a:t>Total Revenue vs State</a:t>
            </a:r>
            <a:endParaRPr lang="en-US" dirty="0">
              <a:solidFill>
                <a:schemeClr val="bg1"/>
              </a:solidFill>
            </a:endParaRPr>
          </a:p>
        </p:txBody>
      </p:sp>
      <p:sp>
        <p:nvSpPr>
          <p:cNvPr id="3" name="Content Placeholder 2"/>
          <p:cNvSpPr>
            <a:spLocks noGrp="1"/>
          </p:cNvSpPr>
          <p:nvPr>
            <p:ph idx="1"/>
          </p:nvPr>
        </p:nvSpPr>
        <p:spPr>
          <a:xfrm>
            <a:off x="689758" y="2069887"/>
            <a:ext cx="10554574" cy="3636511"/>
          </a:xfrm>
        </p:spPr>
        <p:txBody>
          <a:bodyPr>
            <a:normAutofit/>
          </a:bodyPr>
          <a:lstStyle/>
          <a:p>
            <a:pPr marL="514350" indent="-514350">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Highest Revenue generated State is Maharashtra.</a:t>
            </a:r>
          </a:p>
          <a:p>
            <a:pPr marL="514350" indent="-514350">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Lowest Revenue generated State is Mizoram.</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Company mainly focuses on  loss making states like Manipur, Mizoram, Nagaland etc. where less revenue is generated gradually per year. Company needs to analyze the reason behind less sales in West Bengal, Punjab, Delhi, Kerala etc.</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Company have to take immediate steps to increase Turnover and convert them into Profit making States.</a:t>
            </a:r>
          </a:p>
          <a:p>
            <a:pPr marL="0" indent="0">
              <a:buNone/>
            </a:pPr>
            <a:endParaRPr lang="en-US" dirty="0"/>
          </a:p>
        </p:txBody>
      </p:sp>
    </p:spTree>
    <p:extLst>
      <p:ext uri="{BB962C8B-B14F-4D97-AF65-F5344CB8AC3E}">
        <p14:creationId xmlns:p14="http://schemas.microsoft.com/office/powerpoint/2010/main" val="11352552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200" dirty="0" smtClean="0">
                <a:solidFill>
                  <a:schemeClr val="bg1"/>
                </a:solidFill>
                <a:latin typeface="Times New Roman" panose="02020603050405020304" pitchFamily="18" charset="0"/>
                <a:cs typeface="Times New Roman" panose="02020603050405020304" pitchFamily="18" charset="0"/>
              </a:rPr>
              <a:t>6. Conclusion</a:t>
            </a:r>
            <a:endParaRPr lang="en-US" dirty="0">
              <a:solidFill>
                <a:schemeClr val="bg1"/>
              </a:solidFill>
            </a:endParaRPr>
          </a:p>
        </p:txBody>
      </p:sp>
      <p:sp>
        <p:nvSpPr>
          <p:cNvPr id="3" name="Content Placeholder 2"/>
          <p:cNvSpPr>
            <a:spLocks noGrp="1"/>
          </p:cNvSpPr>
          <p:nvPr>
            <p:ph idx="1"/>
          </p:nvPr>
        </p:nvSpPr>
        <p:spPr>
          <a:xfrm>
            <a:off x="689758" y="2069887"/>
            <a:ext cx="10554574" cy="3636511"/>
          </a:xfrm>
        </p:spPr>
        <p:txBody>
          <a:bodyPr>
            <a:normAutofit/>
          </a:bodyPr>
          <a:lstStyle/>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From the above graph, we concluded that total revenue generated in each year gradually increases but some deflection(up and down) happens in items in each year.</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In category graph, there will be  new category added in each respective years. Therefore it will impact the revenue generated in each year. Sales of Lighting is not up to mark. Company needs to identify the root cause for low Demand of the category.</a:t>
            </a:r>
          </a:p>
          <a:p>
            <a:pPr marL="0" indent="0">
              <a:buNone/>
            </a:pPr>
            <a:endParaRPr lang="en-US" dirty="0"/>
          </a:p>
        </p:txBody>
      </p:sp>
    </p:spTree>
    <p:extLst>
      <p:ext uri="{BB962C8B-B14F-4D97-AF65-F5344CB8AC3E}">
        <p14:creationId xmlns:p14="http://schemas.microsoft.com/office/powerpoint/2010/main" val="29489217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200" dirty="0" smtClean="0">
                <a:solidFill>
                  <a:schemeClr val="bg1"/>
                </a:solidFill>
                <a:latin typeface="Times New Roman" panose="02020603050405020304" pitchFamily="18" charset="0"/>
                <a:cs typeface="Times New Roman" panose="02020603050405020304" pitchFamily="18" charset="0"/>
              </a:rPr>
              <a:t>7. Recommendations</a:t>
            </a:r>
            <a:r>
              <a:rPr lang="en-US" dirty="0" smtClean="0">
                <a:latin typeface="Times New Roman" panose="02020603050405020304" pitchFamily="18" charset="0"/>
                <a:cs typeface="Times New Roman" panose="02020603050405020304" pitchFamily="18" charset="0"/>
              </a:rPr>
              <a:t> </a:t>
            </a:r>
            <a:endParaRPr lang="en-US" dirty="0"/>
          </a:p>
        </p:txBody>
      </p:sp>
      <p:sp>
        <p:nvSpPr>
          <p:cNvPr id="3" name="Content Placeholder 2"/>
          <p:cNvSpPr>
            <a:spLocks noGrp="1"/>
          </p:cNvSpPr>
          <p:nvPr>
            <p:ph idx="1"/>
          </p:nvPr>
        </p:nvSpPr>
        <p:spPr/>
        <p:txBody>
          <a:bodyPr>
            <a:normAutofit fontScale="92500"/>
          </a:bodyPr>
          <a:lstStyle/>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Percentage of revenue is considerably rising since last four years But growth percentage of item is not up to the marks most probably  because of some </a:t>
            </a:r>
            <a:r>
              <a:rPr lang="en-US" dirty="0" err="1">
                <a:latin typeface="Times New Roman" panose="02020603050405020304" pitchFamily="18" charset="0"/>
                <a:cs typeface="Times New Roman" panose="02020603050405020304" pitchFamily="18" charset="0"/>
              </a:rPr>
              <a:t>covid</a:t>
            </a:r>
            <a:r>
              <a:rPr lang="en-US" dirty="0">
                <a:latin typeface="Times New Roman" panose="02020603050405020304" pitchFamily="18" charset="0"/>
                <a:cs typeface="Times New Roman" panose="02020603050405020304" pitchFamily="18" charset="0"/>
              </a:rPr>
              <a:t> criteria and less demand of the  particular items in the market or some big competitors (on the same items in the market) so that demand of  that particular item gradually varies .</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overcome this problem to study the market what exact product or item are captured right now in the market and a customer can used in their life on  day to day basis, lower cost that a common customers can afford Therefore average order per customers on each year by giving them some coupon discounts or give any offers it will also impact our sales revenue.</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In the Current year percentage of  Growth rate is reduced to 7.17% from 39.65% which is 32.48% downfall compared to growth rate of previous Year. Company needs to be more focuses on the quality of Products to maintain its growth rate and its durability. From the graph the product seems to be in the maturity stage of Product Life Cycle. If Company doesn’t take desired  steps the profit may start falling and results in closure of Company.</a:t>
            </a:r>
          </a:p>
          <a:p>
            <a:pPr marL="0" indent="0">
              <a:buNone/>
            </a:pPr>
            <a:endParaRPr lang="en-US" dirty="0"/>
          </a:p>
        </p:txBody>
      </p:sp>
    </p:spTree>
    <p:extLst>
      <p:ext uri="{BB962C8B-B14F-4D97-AF65-F5344CB8AC3E}">
        <p14:creationId xmlns:p14="http://schemas.microsoft.com/office/powerpoint/2010/main" val="24597882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1819" y="3216146"/>
            <a:ext cx="10571998" cy="970450"/>
          </a:xfrm>
        </p:spPr>
        <p:txBody>
          <a:bodyPr/>
          <a:lstStyle/>
          <a:p>
            <a:pPr algn="ctr"/>
            <a:r>
              <a:rPr lang="en-US" sz="5400" i="1" dirty="0" smtClean="0">
                <a:solidFill>
                  <a:schemeClr val="accent1">
                    <a:lumMod val="40000"/>
                    <a:lumOff val="6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Thank You</a:t>
            </a:r>
            <a:endParaRPr lang="en-US" sz="5400" i="1" dirty="0">
              <a:solidFill>
                <a:schemeClr val="accent1">
                  <a:lumMod val="40000"/>
                  <a:lumOff val="6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65865924"/>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Quotable">
      <a:dk1>
        <a:sysClr val="windowText" lastClr="000000"/>
      </a:dk1>
      <a:lt1>
        <a:sysClr val="window" lastClr="FFFFFF"/>
      </a:lt1>
      <a:dk2>
        <a:srgbClr val="212121"/>
      </a:dk2>
      <a:lt2>
        <a:srgbClr val="636363"/>
      </a:lt2>
      <a:accent1>
        <a:srgbClr val="00C6BB"/>
      </a:accent1>
      <a:accent2>
        <a:srgbClr val="6FEBA0"/>
      </a:accent2>
      <a:accent3>
        <a:srgbClr val="B6DF5E"/>
      </a:accent3>
      <a:accent4>
        <a:srgbClr val="EFB251"/>
      </a:accent4>
      <a:accent5>
        <a:srgbClr val="EF755F"/>
      </a:accent5>
      <a:accent6>
        <a:srgbClr val="ED515C"/>
      </a:accent6>
      <a:hlink>
        <a:srgbClr val="8F8F8F"/>
      </a:hlink>
      <a:folHlink>
        <a:srgbClr val="A5A5A5"/>
      </a:folHlink>
    </a:clrScheme>
    <a:fontScheme name="Quo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 xmlns:thm15="http://schemas.microsoft.com/office/thememl/2012/main" name="Quotable" id="{39EC5628-30ED-4578-ACD8-9820EDB8E15A}" vid="{6F3559E9-1A4C-49D8-94D4-F41003531C4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{738D78D9-BC05-495A-941B-711D6F414505}tf03457503</Template>
  <TotalTime>2380</TotalTime>
  <Words>949</Words>
  <Application>Microsoft Office PowerPoint</Application>
  <PresentationFormat>Custom</PresentationFormat>
  <Paragraphs>263</Paragraphs>
  <Slides>26</Slides>
  <Notes>0</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Quotable</vt:lpstr>
      <vt:lpstr>Sales KPI Analysis </vt:lpstr>
      <vt:lpstr>Table of Contents</vt:lpstr>
      <vt:lpstr>1. Collection of Sales Data </vt:lpstr>
      <vt:lpstr>Total Revenue Data in Each Year</vt:lpstr>
      <vt:lpstr>Percentage of Total Revenue Year Wise Data</vt:lpstr>
      <vt:lpstr>Sum of sales by  Category  Data</vt:lpstr>
      <vt:lpstr>Data of Top 10 Average Revenue/Customers</vt:lpstr>
      <vt:lpstr>Top 10 Sale State</vt:lpstr>
      <vt:lpstr>Top 10 Count of Customers</vt:lpstr>
      <vt:lpstr>2. Aggregations and  visualization of Data  </vt:lpstr>
      <vt:lpstr> Maximum and Minimum Revenue</vt:lpstr>
      <vt:lpstr>Revenue Generate </vt:lpstr>
      <vt:lpstr>Profit %  of  Total Revenue</vt:lpstr>
      <vt:lpstr>Sum of Sales by Category</vt:lpstr>
      <vt:lpstr>Top 10 Average Revenue/Customers</vt:lpstr>
      <vt:lpstr>Top 10 State</vt:lpstr>
      <vt:lpstr>Top 10 Count of Customers</vt:lpstr>
      <vt:lpstr>3.Dashboard </vt:lpstr>
      <vt:lpstr>Sales KPI Analysis Dashboard</vt:lpstr>
      <vt:lpstr> 4. Overview of  Sales Data</vt:lpstr>
      <vt:lpstr> 5. Sales Performance or Some Insights </vt:lpstr>
      <vt:lpstr> Total Revenue vs Category</vt:lpstr>
      <vt:lpstr>Total Revenue vs State</vt:lpstr>
      <vt:lpstr>6. Conclusion</vt:lpstr>
      <vt:lpstr>7. Recommendations </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CASE STUDY PROJECT ON SUSTAINABILITY OF PharmEasy</dc:title>
  <dc:creator>Nitish Yadav</dc:creator>
  <cp:lastModifiedBy>Windows User</cp:lastModifiedBy>
  <cp:revision>33</cp:revision>
  <dcterms:created xsi:type="dcterms:W3CDTF">2023-03-05T18:32:47Z</dcterms:created>
  <dcterms:modified xsi:type="dcterms:W3CDTF">2023-04-23T08:02:20Z</dcterms:modified>
</cp:coreProperties>
</file>